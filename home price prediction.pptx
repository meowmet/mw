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2"/>
  </p:notesMasterIdLst>
  <p:handoutMasterIdLst>
    <p:handoutMasterId r:id="rId23"/>
  </p:handoutMasterIdLst>
  <p:sldIdLst>
    <p:sldId id="306" r:id="rId5"/>
    <p:sldId id="307" r:id="rId6"/>
    <p:sldId id="308" r:id="rId7"/>
    <p:sldId id="309" r:id="rId8"/>
    <p:sldId id="294" r:id="rId9"/>
    <p:sldId id="295" r:id="rId10"/>
    <p:sldId id="310" r:id="rId11"/>
    <p:sldId id="313" r:id="rId12"/>
    <p:sldId id="303" r:id="rId13"/>
    <p:sldId id="304" r:id="rId14"/>
    <p:sldId id="305" r:id="rId15"/>
    <p:sldId id="311" r:id="rId16"/>
    <p:sldId id="312" r:id="rId17"/>
    <p:sldId id="314" r:id="rId18"/>
    <p:sldId id="315" r:id="rId19"/>
    <p:sldId id="316" r:id="rId20"/>
    <p:sldId id="317" r:id="rId21"/>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25" autoAdjust="0"/>
  </p:normalViewPr>
  <p:slideViewPr>
    <p:cSldViewPr snapToGrid="0">
      <p:cViewPr>
        <p:scale>
          <a:sx n="80" d="100"/>
          <a:sy n="80" d="100"/>
        </p:scale>
        <p:origin x="82" y="158"/>
      </p:cViewPr>
      <p:guideLst>
        <p:guide orient="horz" pos="1392"/>
        <p:guide pos="7056"/>
        <p:guide orient="horz"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2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3D540216-9055-4C93-87A4-D0531F063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98AA5119-4B0E-448B-AC3C-D056BBBC97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536ADF-3EC2-4D6F-9F7F-1F88E3288139}" type="datetime1">
              <a:rPr lang="tr-TR" smtClean="0"/>
              <a:t>14.12.2025</a:t>
            </a:fld>
            <a:endParaRPr lang="tr-TR"/>
          </a:p>
        </p:txBody>
      </p:sp>
      <p:sp>
        <p:nvSpPr>
          <p:cNvPr id="4" name="Alt Bilgi Yer Tutucusu 3">
            <a:extLst>
              <a:ext uri="{FF2B5EF4-FFF2-40B4-BE49-F238E27FC236}">
                <a16:creationId xmlns:a16="http://schemas.microsoft.com/office/drawing/2014/main" id="{3487CF48-2790-4843-BDF8-2D1DCCB4B3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A8CE5D44-D9F9-426F-84AB-A62A927CA2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890FA1-7FBD-4C37-BCAF-01F3D049D1A2}" type="slidenum">
              <a:rPr lang="tr-TR" smtClean="0"/>
              <a:t>‹#›</a:t>
            </a:fld>
            <a:endParaRPr lang="tr-TR"/>
          </a:p>
        </p:txBody>
      </p:sp>
    </p:spTree>
    <p:extLst>
      <p:ext uri="{BB962C8B-B14F-4D97-AF65-F5344CB8AC3E}">
        <p14:creationId xmlns:p14="http://schemas.microsoft.com/office/powerpoint/2010/main" val="8356621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A214D3A-912A-4866-90B4-0232CEDB2416}" type="datetime1">
              <a:rPr lang="tr-TR" noProof="0" smtClean="0"/>
              <a:t>14.12.2025</a:t>
            </a:fld>
            <a:endParaRPr lang="tr-TR" noProof="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5939589-3E79-4C82-AA4A-FE78234FAA59}" type="slidenum">
              <a:rPr lang="tr-TR" noProof="0" smtClean="0"/>
              <a:t>‹#›</a:t>
            </a:fld>
            <a:endParaRPr lang="tr-TR" noProof="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1</a:t>
            </a:fld>
            <a:endParaRPr lang="tr-TR"/>
          </a:p>
        </p:txBody>
      </p:sp>
    </p:spTree>
    <p:extLst>
      <p:ext uri="{BB962C8B-B14F-4D97-AF65-F5344CB8AC3E}">
        <p14:creationId xmlns:p14="http://schemas.microsoft.com/office/powerpoint/2010/main" val="44326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2</a:t>
            </a:fld>
            <a:endParaRPr lang="tr-TR"/>
          </a:p>
        </p:txBody>
      </p:sp>
    </p:spTree>
    <p:extLst>
      <p:ext uri="{BB962C8B-B14F-4D97-AF65-F5344CB8AC3E}">
        <p14:creationId xmlns:p14="http://schemas.microsoft.com/office/powerpoint/2010/main" val="3708294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3</a:t>
            </a:fld>
            <a:endParaRPr lang="tr-TR"/>
          </a:p>
        </p:txBody>
      </p:sp>
    </p:spTree>
    <p:extLst>
      <p:ext uri="{BB962C8B-B14F-4D97-AF65-F5344CB8AC3E}">
        <p14:creationId xmlns:p14="http://schemas.microsoft.com/office/powerpoint/2010/main" val="1362956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4</a:t>
            </a:fld>
            <a:endParaRPr lang="tr-TR"/>
          </a:p>
        </p:txBody>
      </p:sp>
    </p:spTree>
    <p:extLst>
      <p:ext uri="{BB962C8B-B14F-4D97-AF65-F5344CB8AC3E}">
        <p14:creationId xmlns:p14="http://schemas.microsoft.com/office/powerpoint/2010/main" val="1515461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5</a:t>
            </a:fld>
            <a:endParaRPr lang="tr-TR"/>
          </a:p>
        </p:txBody>
      </p:sp>
    </p:spTree>
    <p:extLst>
      <p:ext uri="{BB962C8B-B14F-4D97-AF65-F5344CB8AC3E}">
        <p14:creationId xmlns:p14="http://schemas.microsoft.com/office/powerpoint/2010/main" val="826253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6</a:t>
            </a:fld>
            <a:endParaRPr lang="tr-TR"/>
          </a:p>
        </p:txBody>
      </p:sp>
    </p:spTree>
    <p:extLst>
      <p:ext uri="{BB962C8B-B14F-4D97-AF65-F5344CB8AC3E}">
        <p14:creationId xmlns:p14="http://schemas.microsoft.com/office/powerpoint/2010/main" val="2061403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7</a:t>
            </a:fld>
            <a:endParaRPr lang="tr-TR"/>
          </a:p>
        </p:txBody>
      </p:sp>
    </p:spTree>
    <p:extLst>
      <p:ext uri="{BB962C8B-B14F-4D97-AF65-F5344CB8AC3E}">
        <p14:creationId xmlns:p14="http://schemas.microsoft.com/office/powerpoint/2010/main" val="4256458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8</a:t>
            </a:fld>
            <a:endParaRPr lang="tr-TR"/>
          </a:p>
        </p:txBody>
      </p:sp>
    </p:spTree>
    <p:extLst>
      <p:ext uri="{BB962C8B-B14F-4D97-AF65-F5344CB8AC3E}">
        <p14:creationId xmlns:p14="http://schemas.microsoft.com/office/powerpoint/2010/main" val="4221550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9</a:t>
            </a:fld>
            <a:endParaRPr lang="tr-TR"/>
          </a:p>
        </p:txBody>
      </p:sp>
    </p:spTree>
    <p:extLst>
      <p:ext uri="{BB962C8B-B14F-4D97-AF65-F5344CB8AC3E}">
        <p14:creationId xmlns:p14="http://schemas.microsoft.com/office/powerpoint/2010/main" val="1656776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10</a:t>
            </a:fld>
            <a:endParaRPr lang="tr-TR"/>
          </a:p>
        </p:txBody>
      </p:sp>
    </p:spTree>
    <p:extLst>
      <p:ext uri="{BB962C8B-B14F-4D97-AF65-F5344CB8AC3E}">
        <p14:creationId xmlns:p14="http://schemas.microsoft.com/office/powerpoint/2010/main" val="2183276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11</a:t>
            </a:fld>
            <a:endParaRPr lang="tr-TR"/>
          </a:p>
        </p:txBody>
      </p:sp>
    </p:spTree>
    <p:extLst>
      <p:ext uri="{BB962C8B-B14F-4D97-AF65-F5344CB8AC3E}">
        <p14:creationId xmlns:p14="http://schemas.microsoft.com/office/powerpoint/2010/main" val="1127835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12</a:t>
            </a:fld>
            <a:endParaRPr lang="tr-TR"/>
          </a:p>
        </p:txBody>
      </p:sp>
    </p:spTree>
    <p:extLst>
      <p:ext uri="{BB962C8B-B14F-4D97-AF65-F5344CB8AC3E}">
        <p14:creationId xmlns:p14="http://schemas.microsoft.com/office/powerpoint/2010/main" val="3917401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pPr rtl="0"/>
            <a:fld id="{D5939589-3E79-4C82-AA4A-FE78234FAA59}" type="slidenum">
              <a:rPr lang="tr-TR" smtClean="0"/>
              <a:t>13</a:t>
            </a:fld>
            <a:endParaRPr lang="tr-TR"/>
          </a:p>
        </p:txBody>
      </p:sp>
    </p:spTree>
    <p:extLst>
      <p:ext uri="{BB962C8B-B14F-4D97-AF65-F5344CB8AC3E}">
        <p14:creationId xmlns:p14="http://schemas.microsoft.com/office/powerpoint/2010/main" val="4017186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rtlCol="0" anchor="b"/>
          <a:lstStyle>
            <a:lvl1pPr algn="l">
              <a:defRPr sz="6000" b="1" i="0" cap="all" baseline="0"/>
            </a:lvl1pPr>
          </a:lstStyle>
          <a:p>
            <a:pPr rtl="0"/>
            <a:r>
              <a:rPr lang="en-US" noProof="0"/>
              <a:t>Click to edit Master title style</a:t>
            </a:r>
            <a:endParaRPr lang="tr-TR" noProof="0"/>
          </a:p>
        </p:txBody>
      </p:sp>
      <p:sp>
        <p:nvSpPr>
          <p:cNvPr id="3" name="Alt Başlık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524000" y="3602038"/>
            <a:ext cx="9144000" cy="1655762"/>
          </a:xfrm>
        </p:spPr>
        <p:txBody>
          <a:bodyPr rtlCol="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cxnSp>
        <p:nvCxnSpPr>
          <p:cNvPr id="11" name="Düz Bağlayıcı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8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aşlık 2 Slayt">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640AAD-80AF-40E7-BE3F-43D32FC68ED4}"/>
              </a:ext>
            </a:extLst>
          </p:cNvPr>
          <p:cNvSpPr>
            <a:spLocks noGrp="1"/>
          </p:cNvSpPr>
          <p:nvPr>
            <p:ph type="ctrTitle"/>
          </p:nvPr>
        </p:nvSpPr>
        <p:spPr>
          <a:xfrm>
            <a:off x="1298448" y="594360"/>
            <a:ext cx="6272784" cy="2843784"/>
          </a:xfrm>
        </p:spPr>
        <p:txBody>
          <a:bodyPr rtlCol="0" anchor="b"/>
          <a:lstStyle>
            <a:lvl1pPr algn="l">
              <a:defRPr sz="5400" b="1" i="0" cap="all" baseline="0">
                <a:solidFill>
                  <a:schemeClr val="bg1"/>
                </a:solidFill>
              </a:defRPr>
            </a:lvl1pPr>
          </a:lstStyle>
          <a:p>
            <a:pPr rtl="0"/>
            <a:r>
              <a:rPr lang="en-US" noProof="0"/>
              <a:t>Click to edit Master title style</a:t>
            </a:r>
            <a:endParaRPr lang="tr-TR" noProof="0"/>
          </a:p>
        </p:txBody>
      </p:sp>
      <p:sp>
        <p:nvSpPr>
          <p:cNvPr id="3" name="Alt Başlık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5641848" y="4700016"/>
            <a:ext cx="5093208" cy="1197864"/>
          </a:xfrm>
        </p:spPr>
        <p:txBody>
          <a:bodyPr rtlCol="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cxnSp>
        <p:nvCxnSpPr>
          <p:cNvPr id="9" name="Düz Bağlayıcı 8">
            <a:extLst>
              <a:ext uri="{FF2B5EF4-FFF2-40B4-BE49-F238E27FC236}">
                <a16:creationId xmlns:a16="http://schemas.microsoft.com/office/drawing/2014/main" id="{8E825845-66DD-4B77-A729-CD97D156FE6C}"/>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9" name="Grafik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tr-TR" noProof="0"/>
          </a:p>
        </p:txBody>
      </p:sp>
      <p:sp>
        <p:nvSpPr>
          <p:cNvPr id="21" name="Grafik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pPr rtl="0"/>
            <a:endParaRPr lang="tr-TR" noProof="0"/>
          </a:p>
        </p:txBody>
      </p:sp>
      <p:sp>
        <p:nvSpPr>
          <p:cNvPr id="23" name="Grafik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213790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Yalnızca Başlık">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19" name="Resim Yer Tutucusu 18">
            <a:extLst>
              <a:ext uri="{FF2B5EF4-FFF2-40B4-BE49-F238E27FC236}">
                <a16:creationId xmlns:a16="http://schemas.microsoft.com/office/drawing/2014/main" id="{34120D15-E48C-4FBE-BB95-24DB36D9F458}"/>
              </a:ext>
            </a:extLst>
          </p:cNvPr>
          <p:cNvSpPr>
            <a:spLocks noGrp="1"/>
          </p:cNvSpPr>
          <p:nvPr>
            <p:ph type="pic" sz="quarter" idx="14"/>
          </p:nvPr>
        </p:nvSpPr>
        <p:spPr>
          <a:xfrm>
            <a:off x="1366432"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rtlCol="0" anchor="ctr">
            <a:noAutofit/>
          </a:bodyPr>
          <a:lstStyle>
            <a:lvl1pPr algn="ctr">
              <a:buNone/>
              <a:defRPr sz="1600" b="1">
                <a:solidFill>
                  <a:schemeClr val="bg1"/>
                </a:solidFill>
              </a:defRPr>
            </a:lvl1pPr>
          </a:lstStyle>
          <a:p>
            <a:pPr rtl="0"/>
            <a:r>
              <a:rPr lang="en-US" noProof="0"/>
              <a:t>Click icon to add picture</a:t>
            </a:r>
            <a:endParaRPr lang="tr-TR" noProof="0"/>
          </a:p>
        </p:txBody>
      </p:sp>
      <p:sp>
        <p:nvSpPr>
          <p:cNvPr id="2" name="Başlık 1">
            <a:extLst>
              <a:ext uri="{FF2B5EF4-FFF2-40B4-BE49-F238E27FC236}">
                <a16:creationId xmlns:a16="http://schemas.microsoft.com/office/drawing/2014/main" id="{E969F227-D21C-48B3-828A-6BFA9585E82F}"/>
              </a:ext>
            </a:extLst>
          </p:cNvPr>
          <p:cNvSpPr>
            <a:spLocks noGrp="1"/>
          </p:cNvSpPr>
          <p:nvPr>
            <p:ph type="title" hasCustomPrompt="1"/>
          </p:nvPr>
        </p:nvSpPr>
        <p:spPr>
          <a:xfrm>
            <a:off x="5202936" y="585216"/>
            <a:ext cx="5833872" cy="2276856"/>
          </a:xfrm>
        </p:spPr>
        <p:txBody>
          <a:bodyPr rtlCol="0" anchor="b"/>
          <a:lstStyle>
            <a:lvl1pPr algn="r">
              <a:defRPr sz="6000" b="1" cap="all" spc="400" baseline="0">
                <a:solidFill>
                  <a:schemeClr val="bg1"/>
                </a:solidFill>
              </a:defRPr>
            </a:lvl1pPr>
          </a:lstStyle>
          <a:p>
            <a:pPr rtl="0"/>
            <a:r>
              <a:rPr lang="tr-TR" noProof="0"/>
              <a:t>Başlık</a:t>
            </a:r>
          </a:p>
        </p:txBody>
      </p:sp>
      <p:sp>
        <p:nvSpPr>
          <p:cNvPr id="3" name="Tarih Yer Tutucusu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rtlCol="0"/>
          <a:lstStyle>
            <a:lvl1pPr>
              <a:defRPr>
                <a:solidFill>
                  <a:schemeClr val="bg1"/>
                </a:solidFill>
              </a:defRPr>
            </a:lvl1pPr>
          </a:lstStyle>
          <a:p>
            <a:pPr rtl="0"/>
            <a:r>
              <a:rPr lang="tr-TR" noProof="0"/>
              <a:t>03.09.20XX</a:t>
            </a:r>
          </a:p>
        </p:txBody>
      </p:sp>
      <p:sp>
        <p:nvSpPr>
          <p:cNvPr id="4" name="Alt Bilgi Yer Tutucusu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rtlCol="0"/>
          <a:lstStyle>
            <a:lvl1pPr>
              <a:defRPr>
                <a:solidFill>
                  <a:schemeClr val="bg1"/>
                </a:solidFill>
              </a:defRPr>
            </a:lvl1pPr>
          </a:lstStyle>
          <a:p>
            <a:pPr rtl="0"/>
            <a:r>
              <a:rPr lang="tr-TR" noProof="0"/>
              <a:t>Sunu Başlığı</a:t>
            </a:r>
          </a:p>
        </p:txBody>
      </p:sp>
      <p:sp>
        <p:nvSpPr>
          <p:cNvPr id="5" name="Slayt Numarası Yer Tutucusu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rtlCol="0"/>
          <a:lstStyle>
            <a:lvl1pPr>
              <a:defRPr>
                <a:solidFill>
                  <a:schemeClr val="bg1"/>
                </a:solidFill>
              </a:defRPr>
            </a:lvl1pPr>
          </a:lstStyle>
          <a:p>
            <a:pPr rtl="0"/>
            <a:fld id="{D8DA9DAA-006C-4F4B-980E-E3DF019B24E2}" type="slidenum">
              <a:rPr lang="tr-TR" noProof="0" smtClean="0"/>
              <a:pPr/>
              <a:t>‹#›</a:t>
            </a:fld>
            <a:endParaRPr lang="tr-TR" noProof="0"/>
          </a:p>
        </p:txBody>
      </p:sp>
      <p:cxnSp>
        <p:nvCxnSpPr>
          <p:cNvPr id="14" name="Düz Bağlayıcı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Metin Yer Tutucusu 15">
            <a:extLst>
              <a:ext uri="{FF2B5EF4-FFF2-40B4-BE49-F238E27FC236}">
                <a16:creationId xmlns:a16="http://schemas.microsoft.com/office/drawing/2014/main" id="{A928810C-E773-43AE-A2A1-4073955CC8DA}"/>
              </a:ext>
            </a:extLst>
          </p:cNvPr>
          <p:cNvSpPr>
            <a:spLocks noGrp="1"/>
          </p:cNvSpPr>
          <p:nvPr>
            <p:ph type="body" sz="quarter" idx="13"/>
          </p:nvPr>
        </p:nvSpPr>
        <p:spPr>
          <a:xfrm>
            <a:off x="5202936" y="3127248"/>
            <a:ext cx="5833872" cy="3118104"/>
          </a:xfrm>
        </p:spPr>
        <p:txBody>
          <a:bodyPr rtlCol="0"/>
          <a:lstStyle>
            <a:lvl1pPr marL="0" indent="0" algn="r">
              <a:buNone/>
              <a:defRPr sz="1800">
                <a:solidFill>
                  <a:schemeClr val="bg1"/>
                </a:solidFill>
              </a:defRPr>
            </a:lvl1pPr>
          </a:lstStyle>
          <a:p>
            <a:pPr lvl="0" rtl="0"/>
            <a:r>
              <a:rPr lang="en-US" noProof="0"/>
              <a:t>Click to edit Master text styles</a:t>
            </a:r>
          </a:p>
        </p:txBody>
      </p:sp>
      <p:sp>
        <p:nvSpPr>
          <p:cNvPr id="11" name="Grafik 12">
            <a:extLst>
              <a:ext uri="{FF2B5EF4-FFF2-40B4-BE49-F238E27FC236}">
                <a16:creationId xmlns:a16="http://schemas.microsoft.com/office/drawing/2014/main" id="{EA1B6985-3E5A-40F4-9268-D4AB3BBF8C9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tr-TR" noProof="0"/>
          </a:p>
        </p:txBody>
      </p:sp>
      <p:sp>
        <p:nvSpPr>
          <p:cNvPr id="13" name="Grafik 13">
            <a:extLst>
              <a:ext uri="{FF2B5EF4-FFF2-40B4-BE49-F238E27FC236}">
                <a16:creationId xmlns:a16="http://schemas.microsoft.com/office/drawing/2014/main" id="{338BC906-9D03-4280-85E8-21A81BC21D73}"/>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tr-TR" noProof="0"/>
          </a:p>
        </p:txBody>
      </p:sp>
      <p:sp>
        <p:nvSpPr>
          <p:cNvPr id="17" name="Grafik 15">
            <a:extLst>
              <a:ext uri="{FF2B5EF4-FFF2-40B4-BE49-F238E27FC236}">
                <a16:creationId xmlns:a16="http://schemas.microsoft.com/office/drawing/2014/main" id="{C5C06D53-C9F6-47E8-BFE1-B8193A1AED8B}"/>
              </a:ext>
            </a:extLst>
          </p:cNvPr>
          <p:cNvSpPr/>
          <p:nvPr userDrawn="1"/>
        </p:nvSpPr>
        <p:spPr>
          <a:xfrm>
            <a:off x="1669987"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249076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aşlık ve İçerik">
    <p:spTree>
      <p:nvGrpSpPr>
        <p:cNvPr id="1" name=""/>
        <p:cNvGrpSpPr/>
        <p:nvPr/>
      </p:nvGrpSpPr>
      <p:grpSpPr>
        <a:xfrm>
          <a:off x="0" y="0"/>
          <a:ext cx="0" cy="0"/>
          <a:chOff x="0" y="0"/>
          <a:chExt cx="0" cy="0"/>
        </a:xfrm>
      </p:grpSpPr>
      <p:sp>
        <p:nvSpPr>
          <p:cNvPr id="15" name="Resim Yer Tutucusu 14">
            <a:extLst>
              <a:ext uri="{FF2B5EF4-FFF2-40B4-BE49-F238E27FC236}">
                <a16:creationId xmlns:a16="http://schemas.microsoft.com/office/drawing/2014/main" id="{E62FC6D8-DD87-4B93-8491-43C84EE63FE2}"/>
              </a:ext>
            </a:extLst>
          </p:cNvPr>
          <p:cNvSpPr>
            <a:spLocks noGrp="1"/>
          </p:cNvSpPr>
          <p:nvPr>
            <p:ph type="pic" sz="quarter" idx="13"/>
          </p:nvPr>
        </p:nvSpPr>
        <p:spPr>
          <a:xfrm>
            <a:off x="7451965" y="1665520"/>
            <a:ext cx="4266960" cy="426696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rtlCol="0" anchor="ctr">
            <a:noAutofit/>
          </a:bodyPr>
          <a:lstStyle>
            <a:lvl1pPr algn="ctr">
              <a:buNone/>
              <a:defRPr/>
            </a:lvl1pPr>
          </a:lstStyle>
          <a:p>
            <a:pPr rtl="0"/>
            <a:r>
              <a:rPr lang="en-US" noProof="0"/>
              <a:t>Click icon to add picture</a:t>
            </a:r>
            <a:endParaRPr lang="tr-TR" noProof="0"/>
          </a:p>
        </p:txBody>
      </p:sp>
      <p:sp>
        <p:nvSpPr>
          <p:cNvPr id="2" name="Başlık 1">
            <a:extLst>
              <a:ext uri="{FF2B5EF4-FFF2-40B4-BE49-F238E27FC236}">
                <a16:creationId xmlns:a16="http://schemas.microsoft.com/office/drawing/2014/main" id="{9696CF8C-1EA0-4E47-AC60-CAC3B80A3C5D}"/>
              </a:ext>
            </a:extLst>
          </p:cNvPr>
          <p:cNvSpPr>
            <a:spLocks noGrp="1"/>
          </p:cNvSpPr>
          <p:nvPr>
            <p:ph type="title" hasCustomPrompt="1"/>
          </p:nvPr>
        </p:nvSpPr>
        <p:spPr>
          <a:xfrm>
            <a:off x="804672" y="1335024"/>
            <a:ext cx="6190488" cy="1179576"/>
          </a:xfrm>
        </p:spPr>
        <p:txBody>
          <a:bodyPr lIns="91440" tIns="45720" rIns="91440" bIns="45720" rtlCol="0" anchor="b"/>
          <a:lstStyle>
            <a:lvl1pPr>
              <a:defRPr sz="5400"/>
            </a:lvl1pPr>
          </a:lstStyle>
          <a:p>
            <a:pPr rtl="0"/>
            <a:r>
              <a:rPr lang="tr-TR" noProof="0"/>
              <a:t>Esas başlık stilini düzenlemek için tıklayın</a:t>
            </a:r>
          </a:p>
        </p:txBody>
      </p:sp>
      <p:sp>
        <p:nvSpPr>
          <p:cNvPr id="3" name="İçerik Yer Tutucusu 2">
            <a:extLst>
              <a:ext uri="{FF2B5EF4-FFF2-40B4-BE49-F238E27FC236}">
                <a16:creationId xmlns:a16="http://schemas.microsoft.com/office/drawing/2014/main" id="{628CABF8-19D8-4F3C-994F-4D35EC7A2C3E}"/>
              </a:ext>
            </a:extLst>
          </p:cNvPr>
          <p:cNvSpPr>
            <a:spLocks noGrp="1"/>
          </p:cNvSpPr>
          <p:nvPr>
            <p:ph idx="1"/>
          </p:nvPr>
        </p:nvSpPr>
        <p:spPr>
          <a:xfrm>
            <a:off x="850392" y="2825496"/>
            <a:ext cx="6190488" cy="3346704"/>
          </a:xfrm>
        </p:spPr>
        <p:txBody>
          <a:bodyPr rtlCol="0"/>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p:txBody>
      </p:sp>
      <p:sp>
        <p:nvSpPr>
          <p:cNvPr id="4" name="Tarih Yer Tutucusu 3">
            <a:extLst>
              <a:ext uri="{FF2B5EF4-FFF2-40B4-BE49-F238E27FC236}">
                <a16:creationId xmlns:a16="http://schemas.microsoft.com/office/drawing/2014/main" id="{D097BB2D-4E2C-4490-A2A3-4B68BCC5D2F9}"/>
              </a:ext>
            </a:extLst>
          </p:cNvPr>
          <p:cNvSpPr>
            <a:spLocks noGrp="1"/>
          </p:cNvSpPr>
          <p:nvPr>
            <p:ph type="dt" sz="half" idx="10"/>
          </p:nvPr>
        </p:nvSpPr>
        <p:spPr/>
        <p:txBody>
          <a:bodyPr rtlCol="0"/>
          <a:lstStyle>
            <a:lvl1pPr>
              <a:defRPr>
                <a:solidFill>
                  <a:schemeClr val="accent2"/>
                </a:solidFill>
              </a:defRPr>
            </a:lvl1pPr>
          </a:lstStyle>
          <a:p>
            <a:pPr rtl="0"/>
            <a:r>
              <a:rPr lang="tr-TR" noProof="0"/>
              <a:t>03.09.20XX</a:t>
            </a:r>
          </a:p>
        </p:txBody>
      </p:sp>
      <p:sp>
        <p:nvSpPr>
          <p:cNvPr id="5" name="Alt Bilgi Yer Tutucusu 4">
            <a:extLst>
              <a:ext uri="{FF2B5EF4-FFF2-40B4-BE49-F238E27FC236}">
                <a16:creationId xmlns:a16="http://schemas.microsoft.com/office/drawing/2014/main" id="{6140F15D-DD72-46D5-BF0F-F5064710700E}"/>
              </a:ext>
            </a:extLst>
          </p:cNvPr>
          <p:cNvSpPr>
            <a:spLocks noGrp="1"/>
          </p:cNvSpPr>
          <p:nvPr>
            <p:ph type="ftr" sz="quarter" idx="11"/>
          </p:nvPr>
        </p:nvSpPr>
        <p:spPr>
          <a:xfrm>
            <a:off x="7964424" y="621792"/>
            <a:ext cx="4114800" cy="365125"/>
          </a:xfrm>
        </p:spPr>
        <p:txBody>
          <a:bodyPr rtlCol="0"/>
          <a:lstStyle>
            <a:lvl1pPr>
              <a:defRPr baseline="0">
                <a:solidFill>
                  <a:schemeClr val="accent2"/>
                </a:solidFill>
              </a:defRPr>
            </a:lvl1pPr>
          </a:lstStyle>
          <a:p>
            <a:pPr rtl="0"/>
            <a:r>
              <a:rPr lang="tr-TR" noProof="0"/>
              <a:t>Sunu Başlığı</a:t>
            </a:r>
          </a:p>
        </p:txBody>
      </p:sp>
      <p:sp>
        <p:nvSpPr>
          <p:cNvPr id="6" name="Slayt Numarası Yer Tutucusu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rtlCol="0"/>
          <a:lstStyle>
            <a:lvl1pPr>
              <a:defRPr>
                <a:solidFill>
                  <a:schemeClr val="accent2"/>
                </a:solidFill>
              </a:defRPr>
            </a:lvl1pPr>
          </a:lstStyle>
          <a:p>
            <a:pPr rtl="0"/>
            <a:fld id="{D8DA9DAA-006C-4F4B-980E-E3DF019B24E2}" type="slidenum">
              <a:rPr lang="tr-TR" noProof="0" smtClean="0"/>
              <a:pPr/>
              <a:t>‹#›</a:t>
            </a:fld>
            <a:endParaRPr lang="tr-TR" noProof="0"/>
          </a:p>
        </p:txBody>
      </p:sp>
      <p:cxnSp>
        <p:nvCxnSpPr>
          <p:cNvPr id="9" name="Düz Bağlayıcı 8">
            <a:extLst>
              <a:ext uri="{FF2B5EF4-FFF2-40B4-BE49-F238E27FC236}">
                <a16:creationId xmlns:a16="http://schemas.microsoft.com/office/drawing/2014/main" id="{FA8B3D0E-ED3F-46FA-AE79-5FEFDE9168E3}"/>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7" name="Grafik 10">
            <a:extLst>
              <a:ext uri="{FF2B5EF4-FFF2-40B4-BE49-F238E27FC236}">
                <a16:creationId xmlns:a16="http://schemas.microsoft.com/office/drawing/2014/main" id="{AAD06B87-D9B2-4F94-B734-A8F039A2033F}"/>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tr-TR" noProof="0"/>
          </a:p>
        </p:txBody>
      </p:sp>
      <p:sp>
        <p:nvSpPr>
          <p:cNvPr id="19" name="Grafik 11">
            <a:extLst>
              <a:ext uri="{FF2B5EF4-FFF2-40B4-BE49-F238E27FC236}">
                <a16:creationId xmlns:a16="http://schemas.microsoft.com/office/drawing/2014/main" id="{BB13A13C-36EA-4B13-9175-C5FE95B34D33}"/>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189711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ölüm Üst Bilgisi">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640AAD-80AF-40E7-BE3F-43D32FC68ED4}"/>
              </a:ext>
            </a:extLst>
          </p:cNvPr>
          <p:cNvSpPr>
            <a:spLocks noGrp="1"/>
          </p:cNvSpPr>
          <p:nvPr>
            <p:ph type="ctrTitle"/>
          </p:nvPr>
        </p:nvSpPr>
        <p:spPr>
          <a:xfrm>
            <a:off x="1524000" y="1463040"/>
            <a:ext cx="9144000" cy="2340864"/>
          </a:xfrm>
        </p:spPr>
        <p:txBody>
          <a:bodyPr rtlCol="0" anchor="b">
            <a:normAutofit/>
          </a:bodyPr>
          <a:lstStyle>
            <a:lvl1pPr algn="ctr">
              <a:defRPr sz="6000" b="1" i="0" cap="all" baseline="0">
                <a:solidFill>
                  <a:schemeClr val="bg1"/>
                </a:solidFill>
              </a:defRPr>
            </a:lvl1pPr>
          </a:lstStyle>
          <a:p>
            <a:pPr rtl="0"/>
            <a:r>
              <a:rPr lang="en-US" noProof="0"/>
              <a:t>Click to edit Master title style</a:t>
            </a:r>
            <a:endParaRPr lang="tr-TR" noProof="0"/>
          </a:p>
        </p:txBody>
      </p:sp>
      <p:sp>
        <p:nvSpPr>
          <p:cNvPr id="3" name="Alt Başlık 2">
            <a:extLst>
              <a:ext uri="{FF2B5EF4-FFF2-40B4-BE49-F238E27FC236}">
                <a16:creationId xmlns:a16="http://schemas.microsoft.com/office/drawing/2014/main" id="{EC80FBD9-0977-4B2B-9318-30774BB0947C}"/>
              </a:ext>
            </a:extLst>
          </p:cNvPr>
          <p:cNvSpPr>
            <a:spLocks noGrp="1"/>
          </p:cNvSpPr>
          <p:nvPr>
            <p:ph type="subTitle" idx="1"/>
          </p:nvPr>
        </p:nvSpPr>
        <p:spPr>
          <a:xfrm>
            <a:off x="1527048" y="3858768"/>
            <a:ext cx="9144000" cy="1325880"/>
          </a:xfrm>
        </p:spPr>
        <p:txBody>
          <a:bodyPr rtlCol="0">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tr-TR" noProof="0"/>
          </a:p>
        </p:txBody>
      </p:sp>
      <p:sp>
        <p:nvSpPr>
          <p:cNvPr id="4" name="Grafik 12">
            <a:extLst>
              <a:ext uri="{FF2B5EF4-FFF2-40B4-BE49-F238E27FC236}">
                <a16:creationId xmlns:a16="http://schemas.microsoft.com/office/drawing/2014/main" id="{8A41917E-4B97-447C-98AB-970D625F1DE6}"/>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tr-TR" noProof="0"/>
          </a:p>
        </p:txBody>
      </p:sp>
      <p:sp>
        <p:nvSpPr>
          <p:cNvPr id="5" name="Grafik 13">
            <a:extLst>
              <a:ext uri="{FF2B5EF4-FFF2-40B4-BE49-F238E27FC236}">
                <a16:creationId xmlns:a16="http://schemas.microsoft.com/office/drawing/2014/main" id="{3B3FD238-4561-4AF8-A1F1-185B0CAFE2AC}"/>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tr-TR" noProof="0"/>
          </a:p>
        </p:txBody>
      </p:sp>
      <p:sp>
        <p:nvSpPr>
          <p:cNvPr id="6" name="Grafik 15">
            <a:extLst>
              <a:ext uri="{FF2B5EF4-FFF2-40B4-BE49-F238E27FC236}">
                <a16:creationId xmlns:a16="http://schemas.microsoft.com/office/drawing/2014/main" id="{BAB9414C-AE69-4648-873E-9CE6B2DF8A71}"/>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tr-TR" noProof="0"/>
          </a:p>
        </p:txBody>
      </p:sp>
      <p:sp>
        <p:nvSpPr>
          <p:cNvPr id="7" name="Grafik 22">
            <a:extLst>
              <a:ext uri="{FF2B5EF4-FFF2-40B4-BE49-F238E27FC236}">
                <a16:creationId xmlns:a16="http://schemas.microsoft.com/office/drawing/2014/main" id="{3BF75235-4E6E-4184-82A5-EE6FE7993BBC}"/>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pPr rtl="0"/>
            <a:endParaRPr lang="tr-TR" noProof="0"/>
          </a:p>
        </p:txBody>
      </p:sp>
      <p:sp>
        <p:nvSpPr>
          <p:cNvPr id="11" name="Grafik 21">
            <a:extLst>
              <a:ext uri="{FF2B5EF4-FFF2-40B4-BE49-F238E27FC236}">
                <a16:creationId xmlns:a16="http://schemas.microsoft.com/office/drawing/2014/main" id="{E66FE37C-2F4B-42DA-BFF6-92DD00BDC49B}"/>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pPr rtl="0"/>
            <a:endParaRPr lang="tr-TR" noProof="0"/>
          </a:p>
        </p:txBody>
      </p:sp>
      <p:sp>
        <p:nvSpPr>
          <p:cNvPr id="13" name="Grafik 23">
            <a:extLst>
              <a:ext uri="{FF2B5EF4-FFF2-40B4-BE49-F238E27FC236}">
                <a16:creationId xmlns:a16="http://schemas.microsoft.com/office/drawing/2014/main" id="{DDD38822-731A-48DA-A8A0-FBBAF7A6D65D}"/>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344248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696CF8C-1EA0-4E47-AC60-CAC3B80A3C5D}"/>
              </a:ext>
            </a:extLst>
          </p:cNvPr>
          <p:cNvSpPr>
            <a:spLocks noGrp="1"/>
          </p:cNvSpPr>
          <p:nvPr>
            <p:ph type="title"/>
          </p:nvPr>
        </p:nvSpPr>
        <p:spPr/>
        <p:txBody>
          <a:bodyPr rtlCol="0"/>
          <a:lstStyle>
            <a:lvl1pPr>
              <a:defRPr sz="5400"/>
            </a:lvl1pPr>
          </a:lstStyle>
          <a:p>
            <a:pPr rtl="0"/>
            <a:r>
              <a:rPr lang="en-US" noProof="0"/>
              <a:t>Click to edit Master title style</a:t>
            </a:r>
            <a:endParaRPr lang="tr-TR" noProof="0"/>
          </a:p>
        </p:txBody>
      </p:sp>
      <p:sp>
        <p:nvSpPr>
          <p:cNvPr id="3" name="İçerik Yer Tutucusu 2">
            <a:extLst>
              <a:ext uri="{FF2B5EF4-FFF2-40B4-BE49-F238E27FC236}">
                <a16:creationId xmlns:a16="http://schemas.microsoft.com/office/drawing/2014/main" id="{628CABF8-19D8-4F3C-994F-4D35EC7A2C3E}"/>
              </a:ext>
            </a:extLst>
          </p:cNvPr>
          <p:cNvSpPr>
            <a:spLocks noGrp="1"/>
          </p:cNvSpPr>
          <p:nvPr>
            <p:ph idx="1"/>
          </p:nvPr>
        </p:nvSpPr>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sp>
        <p:nvSpPr>
          <p:cNvPr id="6" name="Slayt Numarası Yer Tutucusu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rtlCol="0"/>
          <a:lstStyle/>
          <a:p>
            <a:pPr rtl="0"/>
            <a:fld id="{D8DA9DAA-006C-4F4B-980E-E3DF019B24E2}" type="slidenum">
              <a:rPr lang="tr-TR" noProof="0" smtClean="0"/>
              <a:t>‹#›</a:t>
            </a:fld>
            <a:endParaRPr lang="tr-TR" noProof="0"/>
          </a:p>
        </p:txBody>
      </p:sp>
      <p:cxnSp>
        <p:nvCxnSpPr>
          <p:cNvPr id="7" name="Düz Bağlayıcı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74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640AAD-80AF-40E7-BE3F-43D32FC68ED4}"/>
              </a:ext>
            </a:extLst>
          </p:cNvPr>
          <p:cNvSpPr>
            <a:spLocks noGrp="1"/>
          </p:cNvSpPr>
          <p:nvPr>
            <p:ph type="ctrTitle"/>
          </p:nvPr>
        </p:nvSpPr>
        <p:spPr>
          <a:xfrm>
            <a:off x="6391656" y="841248"/>
            <a:ext cx="4434840" cy="3236976"/>
          </a:xfrm>
        </p:spPr>
        <p:txBody>
          <a:bodyPr rtlCol="0" anchor="b"/>
          <a:lstStyle>
            <a:lvl1pPr algn="l">
              <a:lnSpc>
                <a:spcPct val="110000"/>
              </a:lnSpc>
              <a:spcBef>
                <a:spcPts val="1000"/>
              </a:spcBef>
              <a:defRPr sz="3600" b="0" i="0" cap="none" baseline="0"/>
            </a:lvl1pPr>
          </a:lstStyle>
          <a:p>
            <a:pPr rtl="0"/>
            <a:r>
              <a:rPr lang="en-US" noProof="0"/>
              <a:t>Click to edit Master title style</a:t>
            </a:r>
            <a:endParaRPr lang="tr-TR" noProof="0"/>
          </a:p>
        </p:txBody>
      </p:sp>
      <p:sp>
        <p:nvSpPr>
          <p:cNvPr id="3" name="Alt Başlık 2">
            <a:extLst>
              <a:ext uri="{FF2B5EF4-FFF2-40B4-BE49-F238E27FC236}">
                <a16:creationId xmlns:a16="http://schemas.microsoft.com/office/drawing/2014/main" id="{EC80FBD9-0977-4B2B-9318-30774BB0947C}"/>
              </a:ext>
            </a:extLst>
          </p:cNvPr>
          <p:cNvSpPr>
            <a:spLocks noGrp="1"/>
          </p:cNvSpPr>
          <p:nvPr>
            <p:ph type="subTitle" idx="1"/>
          </p:nvPr>
        </p:nvSpPr>
        <p:spPr>
          <a:xfrm>
            <a:off x="6391655" y="4498848"/>
            <a:ext cx="4434835" cy="510474"/>
          </a:xfrm>
        </p:spPr>
        <p:txBody>
          <a:bodyPr rtlCol="0"/>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tr-TR" noProof="0"/>
          </a:p>
        </p:txBody>
      </p:sp>
      <p:sp>
        <p:nvSpPr>
          <p:cNvPr id="5" name="Alt Bilgi Yer Tutucusu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rtlCol="0"/>
          <a:lstStyle>
            <a:lvl1pPr>
              <a:defRPr>
                <a:solidFill>
                  <a:schemeClr val="accent2"/>
                </a:solidFill>
              </a:defRPr>
            </a:lvl1pPr>
          </a:lstStyle>
          <a:p>
            <a:pPr rtl="0"/>
            <a:r>
              <a:rPr lang="tr-TR" noProof="0"/>
              <a:t>Sunu Başlığı</a:t>
            </a:r>
          </a:p>
        </p:txBody>
      </p:sp>
      <p:sp>
        <p:nvSpPr>
          <p:cNvPr id="6" name="Slayt Numarası Yer Tutucusu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rtlCol="0"/>
          <a:lstStyle>
            <a:lvl1pPr>
              <a:defRPr>
                <a:solidFill>
                  <a:schemeClr val="accent2"/>
                </a:solidFill>
              </a:defRPr>
            </a:lvl1pPr>
          </a:lstStyle>
          <a:p>
            <a:pPr rtl="0"/>
            <a:fld id="{D8DA9DAA-006C-4F4B-980E-E3DF019B24E2}" type="slidenum">
              <a:rPr lang="tr-TR" noProof="0" smtClean="0"/>
              <a:pPr/>
              <a:t>‹#›</a:t>
            </a:fld>
            <a:endParaRPr lang="tr-TR" noProof="0"/>
          </a:p>
        </p:txBody>
      </p:sp>
      <p:cxnSp>
        <p:nvCxnSpPr>
          <p:cNvPr id="7" name="Düz Bağlayıcı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Dikdörtgen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3" name="Resim Yer Tutucusu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01752"/>
            <a:ext cx="5221224" cy="6263640"/>
          </a:xfrm>
        </p:spPr>
        <p:txBody>
          <a:bodyPr rtlCol="0" anchor="ctr"/>
          <a:lstStyle>
            <a:lvl1pPr algn="ctr">
              <a:buNone/>
              <a:defRPr>
                <a:solidFill>
                  <a:schemeClr val="bg1"/>
                </a:solidFill>
              </a:defRPr>
            </a:lvl1pPr>
          </a:lstStyle>
          <a:p>
            <a:pPr rtl="0"/>
            <a:r>
              <a:rPr lang="en-US" noProof="0"/>
              <a:t>Click icon to add picture</a:t>
            </a:r>
            <a:endParaRPr lang="tr-TR" noProof="0"/>
          </a:p>
        </p:txBody>
      </p:sp>
    </p:spTree>
    <p:extLst>
      <p:ext uri="{BB962C8B-B14F-4D97-AF65-F5344CB8AC3E}">
        <p14:creationId xmlns:p14="http://schemas.microsoft.com/office/powerpoint/2010/main" val="1299048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3_Başlık ve İçerik">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696CF8C-1EA0-4E47-AC60-CAC3B80A3C5D}"/>
              </a:ext>
            </a:extLst>
          </p:cNvPr>
          <p:cNvSpPr>
            <a:spLocks noGrp="1"/>
          </p:cNvSpPr>
          <p:nvPr>
            <p:ph type="title" hasCustomPrompt="1"/>
          </p:nvPr>
        </p:nvSpPr>
        <p:spPr>
          <a:xfrm>
            <a:off x="576072" y="365125"/>
            <a:ext cx="10771632" cy="1325563"/>
          </a:xfrm>
        </p:spPr>
        <p:txBody>
          <a:bodyPr rtlCol="0"/>
          <a:lstStyle>
            <a:lvl1pPr>
              <a:defRPr sz="5400" b="1" cap="all" baseline="0">
                <a:solidFill>
                  <a:schemeClr val="bg1"/>
                </a:solidFill>
              </a:defRPr>
            </a:lvl1pPr>
          </a:lstStyle>
          <a:p>
            <a:pPr rtl="0"/>
            <a:r>
              <a:rPr lang="tr-TR" noProof="0"/>
              <a:t>Başlık</a:t>
            </a:r>
          </a:p>
        </p:txBody>
      </p:sp>
      <p:sp>
        <p:nvSpPr>
          <p:cNvPr id="3" name="İçerik Yer Tutucusu 2">
            <a:extLst>
              <a:ext uri="{FF2B5EF4-FFF2-40B4-BE49-F238E27FC236}">
                <a16:creationId xmlns:a16="http://schemas.microsoft.com/office/drawing/2014/main" id="{628CABF8-19D8-4F3C-994F-4D35EC7A2C3E}"/>
              </a:ext>
            </a:extLst>
          </p:cNvPr>
          <p:cNvSpPr>
            <a:spLocks noGrp="1"/>
          </p:cNvSpPr>
          <p:nvPr>
            <p:ph idx="1"/>
          </p:nvPr>
        </p:nvSpPr>
        <p:spPr>
          <a:xfrm>
            <a:off x="576072" y="1825625"/>
            <a:ext cx="10771632"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sp>
        <p:nvSpPr>
          <p:cNvPr id="4" name="Tarih Yer Tutucusu 3">
            <a:extLst>
              <a:ext uri="{FF2B5EF4-FFF2-40B4-BE49-F238E27FC236}">
                <a16:creationId xmlns:a16="http://schemas.microsoft.com/office/drawing/2014/main" id="{D097BB2D-4E2C-4490-A2A3-4B68BCC5D2F9}"/>
              </a:ext>
            </a:extLst>
          </p:cNvPr>
          <p:cNvSpPr>
            <a:spLocks noGrp="1"/>
          </p:cNvSpPr>
          <p:nvPr>
            <p:ph type="dt" sz="half" idx="10"/>
          </p:nvPr>
        </p:nvSpPr>
        <p:spPr>
          <a:xfrm>
            <a:off x="658368" y="6356350"/>
            <a:ext cx="2743200" cy="365125"/>
          </a:xfrm>
        </p:spPr>
        <p:txBody>
          <a:bodyPr rtlCol="0"/>
          <a:lstStyle>
            <a:lvl1pPr>
              <a:defRPr>
                <a:solidFill>
                  <a:schemeClr val="bg1"/>
                </a:solidFill>
              </a:defRPr>
            </a:lvl1pPr>
          </a:lstStyle>
          <a:p>
            <a:pPr rtl="0"/>
            <a:r>
              <a:rPr lang="tr-TR" noProof="0"/>
              <a:t>03.09.20XX</a:t>
            </a:r>
          </a:p>
        </p:txBody>
      </p:sp>
      <p:sp>
        <p:nvSpPr>
          <p:cNvPr id="5" name="Alt Bilgi Yer Tutucusu 4">
            <a:extLst>
              <a:ext uri="{FF2B5EF4-FFF2-40B4-BE49-F238E27FC236}">
                <a16:creationId xmlns:a16="http://schemas.microsoft.com/office/drawing/2014/main" id="{6140F15D-DD72-46D5-BF0F-F5064710700E}"/>
              </a:ext>
            </a:extLst>
          </p:cNvPr>
          <p:cNvSpPr>
            <a:spLocks noGrp="1"/>
          </p:cNvSpPr>
          <p:nvPr>
            <p:ph type="ftr" sz="quarter" idx="11"/>
          </p:nvPr>
        </p:nvSpPr>
        <p:spPr>
          <a:xfrm>
            <a:off x="8503920" y="841248"/>
            <a:ext cx="3630168" cy="365125"/>
          </a:xfrm>
        </p:spPr>
        <p:txBody>
          <a:bodyPr rtlCol="0"/>
          <a:lstStyle>
            <a:lvl1pPr>
              <a:defRPr>
                <a:solidFill>
                  <a:schemeClr val="bg1"/>
                </a:solidFill>
              </a:defRPr>
            </a:lvl1pPr>
          </a:lstStyle>
          <a:p>
            <a:pPr rtl="0"/>
            <a:r>
              <a:rPr lang="tr-TR" noProof="0"/>
              <a:t>Sunu Başlığı</a:t>
            </a:r>
          </a:p>
        </p:txBody>
      </p:sp>
      <p:sp>
        <p:nvSpPr>
          <p:cNvPr id="6" name="Slayt Numarası Yer Tutucusu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rtlCol="0"/>
          <a:lstStyle>
            <a:lvl1pPr>
              <a:defRPr>
                <a:solidFill>
                  <a:schemeClr val="bg1"/>
                </a:solidFill>
              </a:defRPr>
            </a:lvl1pPr>
          </a:lstStyle>
          <a:p>
            <a:pPr rtl="0"/>
            <a:fld id="{D8DA9DAA-006C-4F4B-980E-E3DF019B24E2}" type="slidenum">
              <a:rPr lang="tr-TR" noProof="0" smtClean="0"/>
              <a:pPr/>
              <a:t>‹#›</a:t>
            </a:fld>
            <a:endParaRPr lang="tr-TR" noProof="0"/>
          </a:p>
        </p:txBody>
      </p:sp>
      <p:sp>
        <p:nvSpPr>
          <p:cNvPr id="9" name="Grafik 22">
            <a:extLst>
              <a:ext uri="{FF2B5EF4-FFF2-40B4-BE49-F238E27FC236}">
                <a16:creationId xmlns:a16="http://schemas.microsoft.com/office/drawing/2014/main" id="{4EADA2ED-8A8C-4D17-8798-F26BF3B4CE25}"/>
              </a:ext>
            </a:extLst>
          </p:cNvPr>
          <p:cNvSpPr/>
          <p:nvPr userDrawn="1"/>
        </p:nvSpPr>
        <p:spPr>
          <a:xfrm>
            <a:off x="11202264" y="344083"/>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pPr rtl="0"/>
            <a:endParaRPr lang="tr-TR" noProof="0"/>
          </a:p>
        </p:txBody>
      </p:sp>
      <p:sp>
        <p:nvSpPr>
          <p:cNvPr id="11" name="Grafik 23">
            <a:extLst>
              <a:ext uri="{FF2B5EF4-FFF2-40B4-BE49-F238E27FC236}">
                <a16:creationId xmlns:a16="http://schemas.microsoft.com/office/drawing/2014/main" id="{54AB3A25-6605-4446-9E53-ACEECD25E27B}"/>
              </a:ext>
            </a:extLst>
          </p:cNvPr>
          <p:cNvSpPr/>
          <p:nvPr userDrawn="1"/>
        </p:nvSpPr>
        <p:spPr>
          <a:xfrm>
            <a:off x="11563141" y="59091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12226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9257166-6921-4546-BA2C-99E464681F40}"/>
              </a:ext>
            </a:extLst>
          </p:cNvPr>
          <p:cNvSpPr>
            <a:spLocks noGrp="1"/>
          </p:cNvSpPr>
          <p:nvPr>
            <p:ph type="title"/>
          </p:nvPr>
        </p:nvSpPr>
        <p:spPr/>
        <p:txBody>
          <a:bodyPr rtlCol="0"/>
          <a:lstStyle/>
          <a:p>
            <a:pPr rtl="0"/>
            <a:r>
              <a:rPr lang="en-US" noProof="0"/>
              <a:t>Click to edit Master title style</a:t>
            </a:r>
            <a:endParaRPr lang="tr-TR" noProof="0"/>
          </a:p>
        </p:txBody>
      </p:sp>
      <p:sp>
        <p:nvSpPr>
          <p:cNvPr id="3" name="İçerik Yer Tutucusu 2">
            <a:extLst>
              <a:ext uri="{FF2B5EF4-FFF2-40B4-BE49-F238E27FC236}">
                <a16:creationId xmlns:a16="http://schemas.microsoft.com/office/drawing/2014/main" id="{695B9122-6371-4049-B57A-33DED7DA2F76}"/>
              </a:ext>
            </a:extLst>
          </p:cNvPr>
          <p:cNvSpPr>
            <a:spLocks noGrp="1"/>
          </p:cNvSpPr>
          <p:nvPr>
            <p:ph sz="half" idx="1"/>
          </p:nvPr>
        </p:nvSpPr>
        <p:spPr>
          <a:xfrm>
            <a:off x="1444752" y="1825625"/>
            <a:ext cx="4553712" cy="4351338"/>
          </a:xfrm>
        </p:spPr>
        <p:txBody>
          <a:bodyPr rtlCol="0">
            <a:normAutofit/>
          </a:bodyPr>
          <a:lstStyle>
            <a:lvl1pPr>
              <a:defRPr sz="2400"/>
            </a:lvl1pPr>
            <a:lvl2pPr>
              <a:defRPr sz="2000"/>
            </a:lvl2pPr>
            <a:lvl3pPr>
              <a:defRPr sz="1800"/>
            </a:lvl3pPr>
            <a:lvl4pPr>
              <a:defRPr sz="1600"/>
            </a:lvl4pPr>
            <a:lvl5pPr>
              <a:defRPr sz="16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sp>
        <p:nvSpPr>
          <p:cNvPr id="4" name="İçerik Yer Tutucusu 3">
            <a:extLst>
              <a:ext uri="{FF2B5EF4-FFF2-40B4-BE49-F238E27FC236}">
                <a16:creationId xmlns:a16="http://schemas.microsoft.com/office/drawing/2014/main" id="{BA14555D-0753-4312-A26B-2338813F9BB1}"/>
              </a:ext>
            </a:extLst>
          </p:cNvPr>
          <p:cNvSpPr>
            <a:spLocks noGrp="1"/>
          </p:cNvSpPr>
          <p:nvPr>
            <p:ph sz="half" idx="2"/>
          </p:nvPr>
        </p:nvSpPr>
        <p:spPr>
          <a:xfrm>
            <a:off x="6784848" y="1825625"/>
            <a:ext cx="4553712" cy="4351338"/>
          </a:xfrm>
        </p:spPr>
        <p:txBody>
          <a:bodyPr rtlCol="0">
            <a:normAutofit/>
          </a:bodyPr>
          <a:lstStyle>
            <a:lvl1pPr>
              <a:defRPr sz="2400"/>
            </a:lvl1pPr>
            <a:lvl2pPr>
              <a:defRPr sz="2000"/>
            </a:lvl2pPr>
            <a:lvl3pPr>
              <a:defRPr sz="1800"/>
            </a:lvl3pPr>
            <a:lvl4pPr>
              <a:defRPr sz="1600"/>
            </a:lvl4pPr>
            <a:lvl5pPr>
              <a:defRPr sz="16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cxnSp>
        <p:nvCxnSpPr>
          <p:cNvPr id="8" name="Düz Bağlayıcı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Grafik 15">
            <a:extLst>
              <a:ext uri="{FF2B5EF4-FFF2-40B4-BE49-F238E27FC236}">
                <a16:creationId xmlns:a16="http://schemas.microsoft.com/office/drawing/2014/main" id="{D8685329-C6A1-4CB4-8AAE-150D0341F6A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tr-TR" noProof="0"/>
          </a:p>
        </p:txBody>
      </p:sp>
      <p:sp>
        <p:nvSpPr>
          <p:cNvPr id="12" name="Grafik 16">
            <a:extLst>
              <a:ext uri="{FF2B5EF4-FFF2-40B4-BE49-F238E27FC236}">
                <a16:creationId xmlns:a16="http://schemas.microsoft.com/office/drawing/2014/main" id="{83CE1DAA-30A3-41AE-8AE1-A7EE5C48A6F3}"/>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tr-TR" noProof="0"/>
          </a:p>
        </p:txBody>
      </p:sp>
      <p:sp>
        <p:nvSpPr>
          <p:cNvPr id="14" name="Grafik 14">
            <a:extLst>
              <a:ext uri="{FF2B5EF4-FFF2-40B4-BE49-F238E27FC236}">
                <a16:creationId xmlns:a16="http://schemas.microsoft.com/office/drawing/2014/main" id="{065162DD-7ACB-4F9C-90DD-24C743035892}"/>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120528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tr-TR" noProof="0"/>
          </a:p>
        </p:txBody>
      </p:sp>
      <p:sp>
        <p:nvSpPr>
          <p:cNvPr id="3" name="Metin Yer Tutucusu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4553712"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İçerik Yer Tutucusu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4553712"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sp>
        <p:nvSpPr>
          <p:cNvPr id="5" name="Metin Yer Tutucusu 4">
            <a:extLst>
              <a:ext uri="{FF2B5EF4-FFF2-40B4-BE49-F238E27FC236}">
                <a16:creationId xmlns:a16="http://schemas.microsoft.com/office/drawing/2014/main" id="{F3D53357-616B-47F4-944B-F979FE96635D}"/>
              </a:ext>
            </a:extLst>
          </p:cNvPr>
          <p:cNvSpPr>
            <a:spLocks noGrp="1"/>
          </p:cNvSpPr>
          <p:nvPr>
            <p:ph type="body" sz="quarter" idx="3"/>
          </p:nvPr>
        </p:nvSpPr>
        <p:spPr>
          <a:xfrm>
            <a:off x="6784848" y="1681163"/>
            <a:ext cx="4553712"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İçerik Yer Tutucusu 5">
            <a:extLst>
              <a:ext uri="{FF2B5EF4-FFF2-40B4-BE49-F238E27FC236}">
                <a16:creationId xmlns:a16="http://schemas.microsoft.com/office/drawing/2014/main" id="{BD7EA593-3036-4FB5-94B4-D9431DF04871}"/>
              </a:ext>
            </a:extLst>
          </p:cNvPr>
          <p:cNvSpPr>
            <a:spLocks noGrp="1"/>
          </p:cNvSpPr>
          <p:nvPr>
            <p:ph sz="quarter" idx="4"/>
          </p:nvPr>
        </p:nvSpPr>
        <p:spPr>
          <a:xfrm>
            <a:off x="6784848" y="2505075"/>
            <a:ext cx="4553712"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cxnSp>
        <p:nvCxnSpPr>
          <p:cNvPr id="10" name="Düz Bağlayıcı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fik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tr-TR" noProof="0"/>
          </a:p>
        </p:txBody>
      </p:sp>
      <p:sp>
        <p:nvSpPr>
          <p:cNvPr id="14" name="Grafik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tr-TR" noProof="0"/>
          </a:p>
        </p:txBody>
      </p:sp>
      <p:sp>
        <p:nvSpPr>
          <p:cNvPr id="16" name="Grafik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tr-TR" noProof="0"/>
          </a:p>
        </p:txBody>
      </p:sp>
    </p:spTree>
    <p:extLst>
      <p:ext uri="{BB962C8B-B14F-4D97-AF65-F5344CB8AC3E}">
        <p14:creationId xmlns:p14="http://schemas.microsoft.com/office/powerpoint/2010/main" val="93759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1_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tr-TR" noProof="0"/>
          </a:p>
        </p:txBody>
      </p:sp>
      <p:sp>
        <p:nvSpPr>
          <p:cNvPr id="3" name="Metin Yer Tutucusu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28346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İçerik Yer Tutucusu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28346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p:txBody>
      </p:sp>
      <p:sp>
        <p:nvSpPr>
          <p:cNvPr id="5" name="Metin Yer Tutucusu 4">
            <a:extLst>
              <a:ext uri="{FF2B5EF4-FFF2-40B4-BE49-F238E27FC236}">
                <a16:creationId xmlns:a16="http://schemas.microsoft.com/office/drawing/2014/main" id="{F3D53357-616B-47F4-944B-F979FE96635D}"/>
              </a:ext>
            </a:extLst>
          </p:cNvPr>
          <p:cNvSpPr>
            <a:spLocks noGrp="1"/>
          </p:cNvSpPr>
          <p:nvPr>
            <p:ph type="body" sz="quarter" idx="3"/>
          </p:nvPr>
        </p:nvSpPr>
        <p:spPr>
          <a:xfrm>
            <a:off x="4983480" y="1681163"/>
            <a:ext cx="28346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İçerik Yer Tutucusu 5">
            <a:extLst>
              <a:ext uri="{FF2B5EF4-FFF2-40B4-BE49-F238E27FC236}">
                <a16:creationId xmlns:a16="http://schemas.microsoft.com/office/drawing/2014/main" id="{BD7EA593-3036-4FB5-94B4-D9431DF04871}"/>
              </a:ext>
            </a:extLst>
          </p:cNvPr>
          <p:cNvSpPr>
            <a:spLocks noGrp="1"/>
          </p:cNvSpPr>
          <p:nvPr>
            <p:ph sz="quarter" idx="4"/>
          </p:nvPr>
        </p:nvSpPr>
        <p:spPr>
          <a:xfrm>
            <a:off x="4983480" y="2505075"/>
            <a:ext cx="28346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p:txBody>
      </p:sp>
      <p:cxnSp>
        <p:nvCxnSpPr>
          <p:cNvPr id="10" name="Düz Bağlayıcı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fik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tr-TR" noProof="0"/>
          </a:p>
        </p:txBody>
      </p:sp>
      <p:sp>
        <p:nvSpPr>
          <p:cNvPr id="14" name="Grafik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tr-TR" noProof="0"/>
          </a:p>
        </p:txBody>
      </p:sp>
      <p:sp>
        <p:nvSpPr>
          <p:cNvPr id="16" name="Grafik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tr-TR" noProof="0"/>
          </a:p>
        </p:txBody>
      </p:sp>
      <p:sp>
        <p:nvSpPr>
          <p:cNvPr id="15" name="Metin Yer Tutucusu 4">
            <a:extLst>
              <a:ext uri="{FF2B5EF4-FFF2-40B4-BE49-F238E27FC236}">
                <a16:creationId xmlns:a16="http://schemas.microsoft.com/office/drawing/2014/main" id="{2D693B15-7265-4478-9579-62FCD5222D04}"/>
              </a:ext>
            </a:extLst>
          </p:cNvPr>
          <p:cNvSpPr>
            <a:spLocks noGrp="1"/>
          </p:cNvSpPr>
          <p:nvPr>
            <p:ph type="body" sz="quarter" idx="13"/>
          </p:nvPr>
        </p:nvSpPr>
        <p:spPr>
          <a:xfrm>
            <a:off x="8531352" y="1769269"/>
            <a:ext cx="28346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17" name="İçerik Yer Tutucusu 5">
            <a:extLst>
              <a:ext uri="{FF2B5EF4-FFF2-40B4-BE49-F238E27FC236}">
                <a16:creationId xmlns:a16="http://schemas.microsoft.com/office/drawing/2014/main" id="{48F9E92F-BB16-4896-A47F-6497C3D705B9}"/>
              </a:ext>
            </a:extLst>
          </p:cNvPr>
          <p:cNvSpPr>
            <a:spLocks noGrp="1"/>
          </p:cNvSpPr>
          <p:nvPr>
            <p:ph sz="quarter" idx="14"/>
          </p:nvPr>
        </p:nvSpPr>
        <p:spPr>
          <a:xfrm>
            <a:off x="8531352" y="2593181"/>
            <a:ext cx="28346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p:txBody>
      </p:sp>
    </p:spTree>
    <p:extLst>
      <p:ext uri="{BB962C8B-B14F-4D97-AF65-F5344CB8AC3E}">
        <p14:creationId xmlns:p14="http://schemas.microsoft.com/office/powerpoint/2010/main" val="2373079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04672"/>
            <a:ext cx="4434840" cy="886968"/>
          </a:xfrm>
        </p:spPr>
        <p:txBody>
          <a:bodyPr rtlCol="0" anchor="b"/>
          <a:lstStyle>
            <a:lvl1pPr algn="l">
              <a:defRPr sz="5400" b="0" i="0" cap="none" baseline="0"/>
            </a:lvl1pPr>
          </a:lstStyle>
          <a:p>
            <a:pPr rtl="0"/>
            <a:r>
              <a:rPr lang="tr-TR" noProof="0"/>
              <a:t>Başlık</a:t>
            </a:r>
          </a:p>
        </p:txBody>
      </p:sp>
      <p:sp>
        <p:nvSpPr>
          <p:cNvPr id="3" name="Alt Başlık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6391654" y="1801368"/>
            <a:ext cx="4434840" cy="4754880"/>
          </a:xfrm>
        </p:spPr>
        <p:txBody>
          <a:bodyPr rtlCol="0">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sp>
        <p:nvSpPr>
          <p:cNvPr id="5" name="Alt Bilgi Yer Tutucusu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rtlCol="0"/>
          <a:lstStyle>
            <a:lvl1pPr>
              <a:defRPr>
                <a:solidFill>
                  <a:schemeClr val="accent2"/>
                </a:solidFill>
              </a:defRPr>
            </a:lvl1pPr>
          </a:lstStyle>
          <a:p>
            <a:pPr rtl="0"/>
            <a:r>
              <a:rPr lang="tr-TR" noProof="0"/>
              <a:t>Sunu Başlığı</a:t>
            </a:r>
          </a:p>
        </p:txBody>
      </p:sp>
      <p:sp>
        <p:nvSpPr>
          <p:cNvPr id="6" name="Slayt Numarası Yer Tutucusu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rtlCol="0"/>
          <a:lstStyle>
            <a:lvl1pPr>
              <a:defRPr>
                <a:solidFill>
                  <a:schemeClr val="accent2"/>
                </a:solidFill>
              </a:defRPr>
            </a:lvl1pPr>
          </a:lstStyle>
          <a:p>
            <a:pPr rtl="0"/>
            <a:fld id="{D8DA9DAA-006C-4F4B-980E-E3DF019B24E2}" type="slidenum">
              <a:rPr lang="tr-TR" noProof="0" smtClean="0"/>
              <a:pPr/>
              <a:t>‹#›</a:t>
            </a:fld>
            <a:endParaRPr lang="tr-TR" noProof="0"/>
          </a:p>
        </p:txBody>
      </p:sp>
      <p:cxnSp>
        <p:nvCxnSpPr>
          <p:cNvPr id="7" name="Düz Bağlayıcı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Dikdörtgen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3" name="Resim Yer Tutucusu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108960"/>
            <a:ext cx="5221224" cy="3447288"/>
          </a:xfrm>
        </p:spPr>
        <p:txBody>
          <a:bodyPr rtlCol="0" anchor="ctr"/>
          <a:lstStyle>
            <a:lvl1pPr algn="ctr">
              <a:buNone/>
              <a:defRPr>
                <a:solidFill>
                  <a:schemeClr val="bg1"/>
                </a:solidFill>
              </a:defRPr>
            </a:lvl1pPr>
          </a:lstStyle>
          <a:p>
            <a:pPr rtl="0"/>
            <a:r>
              <a:rPr lang="en-US" noProof="0"/>
              <a:t>Click icon to add picture</a:t>
            </a:r>
            <a:endParaRPr lang="tr-TR" noProof="0"/>
          </a:p>
        </p:txBody>
      </p:sp>
      <p:sp>
        <p:nvSpPr>
          <p:cNvPr id="10" name="Resim Yer Tutucusu 12">
            <a:extLst>
              <a:ext uri="{FF2B5EF4-FFF2-40B4-BE49-F238E27FC236}">
                <a16:creationId xmlns:a16="http://schemas.microsoft.com/office/drawing/2014/main" id="{F146D6C1-343E-4F97-A565-55BBB15F4C77}"/>
              </a:ext>
            </a:extLst>
          </p:cNvPr>
          <p:cNvSpPr>
            <a:spLocks noGrp="1"/>
          </p:cNvSpPr>
          <p:nvPr>
            <p:ph type="pic" sz="quarter" idx="14"/>
          </p:nvPr>
        </p:nvSpPr>
        <p:spPr>
          <a:xfrm>
            <a:off x="283464" y="301752"/>
            <a:ext cx="2459736" cy="2505456"/>
          </a:xfrm>
        </p:spPr>
        <p:txBody>
          <a:bodyPr rtlCol="0" anchor="ctr"/>
          <a:lstStyle>
            <a:lvl1pPr algn="ctr">
              <a:buNone/>
              <a:defRPr>
                <a:solidFill>
                  <a:schemeClr val="bg1"/>
                </a:solidFill>
              </a:defRPr>
            </a:lvl1pPr>
          </a:lstStyle>
          <a:p>
            <a:pPr rtl="0"/>
            <a:r>
              <a:rPr lang="en-US" noProof="0"/>
              <a:t>Click icon to add picture</a:t>
            </a:r>
            <a:endParaRPr lang="tr-TR" noProof="0"/>
          </a:p>
        </p:txBody>
      </p:sp>
      <p:sp>
        <p:nvSpPr>
          <p:cNvPr id="11" name="Resim Yer Tutucusu 12">
            <a:extLst>
              <a:ext uri="{FF2B5EF4-FFF2-40B4-BE49-F238E27FC236}">
                <a16:creationId xmlns:a16="http://schemas.microsoft.com/office/drawing/2014/main" id="{BA123E2D-4554-47D5-B0EC-0C47EDB41626}"/>
              </a:ext>
            </a:extLst>
          </p:cNvPr>
          <p:cNvSpPr>
            <a:spLocks noGrp="1"/>
          </p:cNvSpPr>
          <p:nvPr>
            <p:ph type="pic" sz="quarter" idx="15"/>
          </p:nvPr>
        </p:nvSpPr>
        <p:spPr>
          <a:xfrm>
            <a:off x="3044952" y="301752"/>
            <a:ext cx="2459736" cy="2505456"/>
          </a:xfrm>
        </p:spPr>
        <p:txBody>
          <a:bodyPr rtlCol="0" anchor="ctr"/>
          <a:lstStyle>
            <a:lvl1pPr algn="ctr">
              <a:buNone/>
              <a:defRPr>
                <a:solidFill>
                  <a:schemeClr val="bg1"/>
                </a:solidFill>
              </a:defRPr>
            </a:lvl1pPr>
          </a:lstStyle>
          <a:p>
            <a:pPr rtl="0"/>
            <a:r>
              <a:rPr lang="en-US" noProof="0"/>
              <a:t>Click icon to add picture</a:t>
            </a:r>
            <a:endParaRPr lang="tr-TR" noProof="0"/>
          </a:p>
        </p:txBody>
      </p:sp>
    </p:spTree>
    <p:extLst>
      <p:ext uri="{BB962C8B-B14F-4D97-AF65-F5344CB8AC3E}">
        <p14:creationId xmlns:p14="http://schemas.microsoft.com/office/powerpoint/2010/main" val="125789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Yalnızca Başlık">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33" name="Resim Yer Tutucusu 32">
            <a:extLst>
              <a:ext uri="{FF2B5EF4-FFF2-40B4-BE49-F238E27FC236}">
                <a16:creationId xmlns:a16="http://schemas.microsoft.com/office/drawing/2014/main" id="{3186EA6A-5CD5-4DF7-9C8A-EDFAF28A80D9}"/>
              </a:ext>
            </a:extLst>
          </p:cNvPr>
          <p:cNvSpPr>
            <a:spLocks noGrp="1"/>
          </p:cNvSpPr>
          <p:nvPr>
            <p:ph type="pic" sz="quarter" idx="14"/>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tr-TR" noProof="0"/>
          </a:p>
        </p:txBody>
      </p:sp>
      <p:sp>
        <p:nvSpPr>
          <p:cNvPr id="32" name="Resim Yer Tutucusu 31">
            <a:extLst>
              <a:ext uri="{FF2B5EF4-FFF2-40B4-BE49-F238E27FC236}">
                <a16:creationId xmlns:a16="http://schemas.microsoft.com/office/drawing/2014/main" id="{83D5117F-F235-498D-99A5-9DE2D665576C}"/>
              </a:ext>
            </a:extLst>
          </p:cNvPr>
          <p:cNvSpPr>
            <a:spLocks noGrp="1"/>
          </p:cNvSpPr>
          <p:nvPr>
            <p:ph type="pic" sz="quarter" idx="15"/>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tr-TR" noProof="0"/>
          </a:p>
        </p:txBody>
      </p:sp>
      <p:sp>
        <p:nvSpPr>
          <p:cNvPr id="31" name="Resim Yer Tutucusu 30">
            <a:extLst>
              <a:ext uri="{FF2B5EF4-FFF2-40B4-BE49-F238E27FC236}">
                <a16:creationId xmlns:a16="http://schemas.microsoft.com/office/drawing/2014/main" id="{E1E0A794-F1D3-4628-B5B1-9D48AB34C3D4}"/>
              </a:ext>
            </a:extLst>
          </p:cNvPr>
          <p:cNvSpPr>
            <a:spLocks noGrp="1"/>
          </p:cNvSpPr>
          <p:nvPr>
            <p:ph type="pic" sz="quarter" idx="16"/>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tr-TR" noProof="0"/>
          </a:p>
        </p:txBody>
      </p:sp>
      <p:sp>
        <p:nvSpPr>
          <p:cNvPr id="30" name="Resim Yer Tutucusu 29">
            <a:extLst>
              <a:ext uri="{FF2B5EF4-FFF2-40B4-BE49-F238E27FC236}">
                <a16:creationId xmlns:a16="http://schemas.microsoft.com/office/drawing/2014/main" id="{B8D3F45B-B631-47D3-A33C-71CEC2B3602C}"/>
              </a:ext>
            </a:extLst>
          </p:cNvPr>
          <p:cNvSpPr>
            <a:spLocks noGrp="1"/>
          </p:cNvSpPr>
          <p:nvPr>
            <p:ph type="pic" sz="quarter" idx="17"/>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tr-TR" noProof="0"/>
          </a:p>
        </p:txBody>
      </p:sp>
      <p:sp>
        <p:nvSpPr>
          <p:cNvPr id="2" name="Başlık 1">
            <a:extLst>
              <a:ext uri="{FF2B5EF4-FFF2-40B4-BE49-F238E27FC236}">
                <a16:creationId xmlns:a16="http://schemas.microsoft.com/office/drawing/2014/main" id="{E969F227-D21C-48B3-828A-6BFA9585E82F}"/>
              </a:ext>
            </a:extLst>
          </p:cNvPr>
          <p:cNvSpPr>
            <a:spLocks noGrp="1"/>
          </p:cNvSpPr>
          <p:nvPr>
            <p:ph type="title"/>
          </p:nvPr>
        </p:nvSpPr>
        <p:spPr>
          <a:xfrm>
            <a:off x="5760720" y="585216"/>
            <a:ext cx="5276088" cy="2276856"/>
          </a:xfrm>
        </p:spPr>
        <p:txBody>
          <a:bodyPr rtlCol="0" anchor="b"/>
          <a:lstStyle>
            <a:lvl1pPr algn="r">
              <a:defRPr sz="4800" b="1" cap="all" spc="400" baseline="0">
                <a:solidFill>
                  <a:schemeClr val="bg1"/>
                </a:solidFill>
              </a:defRPr>
            </a:lvl1pPr>
          </a:lstStyle>
          <a:p>
            <a:pPr rtl="0"/>
            <a:r>
              <a:rPr lang="en-US" noProof="0"/>
              <a:t>Click to edit Master title style</a:t>
            </a:r>
            <a:endParaRPr lang="tr-TR" noProof="0"/>
          </a:p>
        </p:txBody>
      </p:sp>
      <p:sp>
        <p:nvSpPr>
          <p:cNvPr id="3" name="Tarih Yer Tutucusu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rtlCol="0"/>
          <a:lstStyle>
            <a:lvl1pPr>
              <a:defRPr>
                <a:solidFill>
                  <a:schemeClr val="bg1"/>
                </a:solidFill>
              </a:defRPr>
            </a:lvl1pPr>
          </a:lstStyle>
          <a:p>
            <a:pPr rtl="0"/>
            <a:r>
              <a:rPr lang="tr-TR" noProof="0"/>
              <a:t>03.09.20XX</a:t>
            </a:r>
          </a:p>
        </p:txBody>
      </p:sp>
      <p:sp>
        <p:nvSpPr>
          <p:cNvPr id="4" name="Alt Bilgi Yer Tutucusu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rtlCol="0"/>
          <a:lstStyle>
            <a:lvl1pPr>
              <a:defRPr>
                <a:solidFill>
                  <a:schemeClr val="bg1"/>
                </a:solidFill>
              </a:defRPr>
            </a:lvl1pPr>
          </a:lstStyle>
          <a:p>
            <a:pPr rtl="0"/>
            <a:r>
              <a:rPr lang="tr-TR" noProof="0"/>
              <a:t>Sunu Başlığı</a:t>
            </a:r>
          </a:p>
        </p:txBody>
      </p:sp>
      <p:sp>
        <p:nvSpPr>
          <p:cNvPr id="5" name="Slayt Numarası Yer Tutucusu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rtlCol="0"/>
          <a:lstStyle>
            <a:lvl1pPr>
              <a:defRPr>
                <a:solidFill>
                  <a:schemeClr val="bg1"/>
                </a:solidFill>
              </a:defRPr>
            </a:lvl1pPr>
          </a:lstStyle>
          <a:p>
            <a:pPr rtl="0"/>
            <a:fld id="{D8DA9DAA-006C-4F4B-980E-E3DF019B24E2}" type="slidenum">
              <a:rPr lang="tr-TR" noProof="0" smtClean="0"/>
              <a:pPr/>
              <a:t>‹#›</a:t>
            </a:fld>
            <a:endParaRPr lang="tr-TR" noProof="0"/>
          </a:p>
        </p:txBody>
      </p:sp>
      <p:sp>
        <p:nvSpPr>
          <p:cNvPr id="8" name="Grafik 32">
            <a:extLst>
              <a:ext uri="{FF2B5EF4-FFF2-40B4-BE49-F238E27FC236}">
                <a16:creationId xmlns:a16="http://schemas.microsoft.com/office/drawing/2014/main" id="{846CD0EA-B0AA-4845-81A5-4ADD7C58B12F}"/>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tr-TR" noProof="0"/>
          </a:p>
        </p:txBody>
      </p:sp>
      <p:sp>
        <p:nvSpPr>
          <p:cNvPr id="10" name="Grafik 33">
            <a:extLst>
              <a:ext uri="{FF2B5EF4-FFF2-40B4-BE49-F238E27FC236}">
                <a16:creationId xmlns:a16="http://schemas.microsoft.com/office/drawing/2014/main" id="{0E97A0CB-7CB1-47F0-BD48-EEECBAC39CD2}"/>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tr-TR" noProof="0"/>
          </a:p>
        </p:txBody>
      </p:sp>
      <p:sp>
        <p:nvSpPr>
          <p:cNvPr id="12" name="Grafik 31">
            <a:extLst>
              <a:ext uri="{FF2B5EF4-FFF2-40B4-BE49-F238E27FC236}">
                <a16:creationId xmlns:a16="http://schemas.microsoft.com/office/drawing/2014/main" id="{477816C9-06CB-4BC5-B26B-6A2877BD941A}"/>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tr-TR" noProof="0"/>
          </a:p>
        </p:txBody>
      </p:sp>
      <p:cxnSp>
        <p:nvCxnSpPr>
          <p:cNvPr id="14" name="Düz Bağlayıcı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Metin Yer Tutucusu 15">
            <a:extLst>
              <a:ext uri="{FF2B5EF4-FFF2-40B4-BE49-F238E27FC236}">
                <a16:creationId xmlns:a16="http://schemas.microsoft.com/office/drawing/2014/main" id="{A928810C-E773-43AE-A2A1-4073955CC8DA}"/>
              </a:ext>
            </a:extLst>
          </p:cNvPr>
          <p:cNvSpPr>
            <a:spLocks noGrp="1"/>
          </p:cNvSpPr>
          <p:nvPr>
            <p:ph type="body" sz="quarter" idx="13"/>
          </p:nvPr>
        </p:nvSpPr>
        <p:spPr>
          <a:xfrm>
            <a:off x="5760720" y="3127248"/>
            <a:ext cx="5276088" cy="1124712"/>
          </a:xfrm>
        </p:spPr>
        <p:txBody>
          <a:bodyPr rtlCol="0"/>
          <a:lstStyle>
            <a:lvl1pPr marL="0" indent="0" algn="r">
              <a:buNone/>
              <a:defRPr sz="1800">
                <a:solidFill>
                  <a:schemeClr val="bg1"/>
                </a:solidFill>
              </a:defRPr>
            </a:lvl1pPr>
          </a:lstStyle>
          <a:p>
            <a:pPr lvl="0" rtl="0"/>
            <a:r>
              <a:rPr lang="en-US" noProof="0"/>
              <a:t>Click to edit Master text styles</a:t>
            </a:r>
          </a:p>
        </p:txBody>
      </p:sp>
    </p:spTree>
    <p:extLst>
      <p:ext uri="{BB962C8B-B14F-4D97-AF65-F5344CB8AC3E}">
        <p14:creationId xmlns:p14="http://schemas.microsoft.com/office/powerpoint/2010/main" val="301045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969F227-D21C-48B3-828A-6BFA9585E82F}"/>
              </a:ext>
            </a:extLst>
          </p:cNvPr>
          <p:cNvSpPr>
            <a:spLocks noGrp="1"/>
          </p:cNvSpPr>
          <p:nvPr>
            <p:ph type="title"/>
          </p:nvPr>
        </p:nvSpPr>
        <p:spPr/>
        <p:txBody>
          <a:bodyPr rtlCol="0"/>
          <a:lstStyle/>
          <a:p>
            <a:pPr rtl="0"/>
            <a:r>
              <a:rPr lang="en-US" noProof="0"/>
              <a:t>Click to edit Master title style</a:t>
            </a:r>
            <a:endParaRPr lang="tr-TR" noProof="0"/>
          </a:p>
        </p:txBody>
      </p:sp>
      <p:sp>
        <p:nvSpPr>
          <p:cNvPr id="3" name="Tarih Yer Tutucusu 2">
            <a:extLst>
              <a:ext uri="{FF2B5EF4-FFF2-40B4-BE49-F238E27FC236}">
                <a16:creationId xmlns:a16="http://schemas.microsoft.com/office/drawing/2014/main" id="{8DF1DFFF-E5C5-43DF-B71C-7270DB97372C}"/>
              </a:ext>
            </a:extLst>
          </p:cNvPr>
          <p:cNvSpPr>
            <a:spLocks noGrp="1"/>
          </p:cNvSpPr>
          <p:nvPr>
            <p:ph type="dt" sz="half" idx="10"/>
          </p:nvPr>
        </p:nvSpPr>
        <p:spPr/>
        <p:txBody>
          <a:bodyPr rtlCol="0"/>
          <a:lstStyle/>
          <a:p>
            <a:pPr rtl="0"/>
            <a:r>
              <a:rPr lang="tr-TR" noProof="0"/>
              <a:t>03.09.20XX</a:t>
            </a:r>
          </a:p>
        </p:txBody>
      </p:sp>
      <p:sp>
        <p:nvSpPr>
          <p:cNvPr id="4" name="Alt Bilgi Yer Tutucusu 3">
            <a:extLst>
              <a:ext uri="{FF2B5EF4-FFF2-40B4-BE49-F238E27FC236}">
                <a16:creationId xmlns:a16="http://schemas.microsoft.com/office/drawing/2014/main" id="{7EBC03C0-6EB7-4633-967C-12C35768BB58}"/>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rtlCol="0"/>
          <a:lstStyle/>
          <a:p>
            <a:pPr rtl="0"/>
            <a:fld id="{D8DA9DAA-006C-4F4B-980E-E3DF019B24E2}" type="slidenum">
              <a:rPr lang="tr-TR" noProof="0" smtClean="0"/>
              <a:t>‹#›</a:t>
            </a:fld>
            <a:endParaRPr lang="tr-TR" noProof="0"/>
          </a:p>
        </p:txBody>
      </p:sp>
      <p:cxnSp>
        <p:nvCxnSpPr>
          <p:cNvPr id="6" name="Düz Bağlayıcı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Tarih Yer Tutucusu 1">
            <a:extLst>
              <a:ext uri="{FF2B5EF4-FFF2-40B4-BE49-F238E27FC236}">
                <a16:creationId xmlns:a16="http://schemas.microsoft.com/office/drawing/2014/main" id="{FDFF36D6-399B-43E3-84DD-9FC5119ECCE9}"/>
              </a:ext>
            </a:extLst>
          </p:cNvPr>
          <p:cNvSpPr>
            <a:spLocks noGrp="1"/>
          </p:cNvSpPr>
          <p:nvPr>
            <p:ph type="dt" sz="half" idx="10"/>
          </p:nvPr>
        </p:nvSpPr>
        <p:spPr/>
        <p:txBody>
          <a:bodyPr rtlCol="0"/>
          <a:lstStyle/>
          <a:p>
            <a:pPr rtl="0"/>
            <a:r>
              <a:rPr lang="tr-TR" noProof="0"/>
              <a:t>03.09.20XX</a:t>
            </a:r>
          </a:p>
        </p:txBody>
      </p:sp>
      <p:sp>
        <p:nvSpPr>
          <p:cNvPr id="3" name="Alt Bilgi Yer Tutucusu 2">
            <a:extLst>
              <a:ext uri="{FF2B5EF4-FFF2-40B4-BE49-F238E27FC236}">
                <a16:creationId xmlns:a16="http://schemas.microsoft.com/office/drawing/2014/main" id="{50234AB7-3B85-4028-A500-5A1BDBF45C56}"/>
              </a:ext>
            </a:extLst>
          </p:cNvPr>
          <p:cNvSpPr>
            <a:spLocks noGrp="1"/>
          </p:cNvSpPr>
          <p:nvPr>
            <p:ph type="ftr" sz="quarter" idx="11"/>
          </p:nvPr>
        </p:nvSpPr>
        <p:spPr/>
        <p:txBody>
          <a:bodyPr rtlCol="0"/>
          <a:lstStyle/>
          <a:p>
            <a:pPr rtl="0"/>
            <a:r>
              <a:rPr lang="tr-TR" noProof="0"/>
              <a:t>Sunu Başlığı</a:t>
            </a:r>
          </a:p>
        </p:txBody>
      </p:sp>
      <p:sp>
        <p:nvSpPr>
          <p:cNvPr id="4" name="Slayt Numarası Yer Tutucusu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rtlCol="0"/>
          <a:lstStyle/>
          <a:p>
            <a:pPr rtl="0"/>
            <a:fld id="{D8DA9DAA-006C-4F4B-980E-E3DF019B24E2}" type="slidenum">
              <a:rPr lang="tr-TR" noProof="0" smtClean="0"/>
              <a:t>‹#›</a:t>
            </a:fld>
            <a:endParaRPr lang="tr-TR" noProof="0"/>
          </a:p>
        </p:txBody>
      </p:sp>
      <p:cxnSp>
        <p:nvCxnSpPr>
          <p:cNvPr id="5" name="Düz Bağlayıcı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867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tr-TR" noProof="0"/>
          </a:p>
        </p:txBody>
      </p:sp>
      <p:sp>
        <p:nvSpPr>
          <p:cNvPr id="3" name="İçerik Yer Tutucusu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tr-TR" noProof="0"/>
          </a:p>
        </p:txBody>
      </p:sp>
      <p:sp>
        <p:nvSpPr>
          <p:cNvPr id="4" name="Metin Yer Tutucusu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Tarih Yer Tutucusu 4">
            <a:extLst>
              <a:ext uri="{FF2B5EF4-FFF2-40B4-BE49-F238E27FC236}">
                <a16:creationId xmlns:a16="http://schemas.microsoft.com/office/drawing/2014/main" id="{38E6AACE-FAFB-4934-8E3C-AB5B216353D8}"/>
              </a:ext>
            </a:extLst>
          </p:cNvPr>
          <p:cNvSpPr>
            <a:spLocks noGrp="1"/>
          </p:cNvSpPr>
          <p:nvPr>
            <p:ph type="dt" sz="half" idx="10"/>
          </p:nvPr>
        </p:nvSpPr>
        <p:spPr/>
        <p:txBody>
          <a:bodyPr rtlCol="0"/>
          <a:lstStyle/>
          <a:p>
            <a:pPr rtl="0"/>
            <a:r>
              <a:rPr lang="tr-TR" noProof="0"/>
              <a:t>03.09.20XX</a:t>
            </a:r>
          </a:p>
        </p:txBody>
      </p:sp>
      <p:sp>
        <p:nvSpPr>
          <p:cNvPr id="6" name="Alt Bilgi Yer Tutucusu 5">
            <a:extLst>
              <a:ext uri="{FF2B5EF4-FFF2-40B4-BE49-F238E27FC236}">
                <a16:creationId xmlns:a16="http://schemas.microsoft.com/office/drawing/2014/main" id="{181533EA-D0F8-4C79-8721-F190DE2D2DC0}"/>
              </a:ext>
            </a:extLst>
          </p:cNvPr>
          <p:cNvSpPr>
            <a:spLocks noGrp="1"/>
          </p:cNvSpPr>
          <p:nvPr>
            <p:ph type="ftr" sz="quarter" idx="11"/>
          </p:nvPr>
        </p:nvSpPr>
        <p:spPr/>
        <p:txBody>
          <a:bodyPr rtlCol="0"/>
          <a:lstStyle/>
          <a:p>
            <a:pPr rtl="0"/>
            <a:r>
              <a:rPr lang="tr-TR" noProof="0"/>
              <a:t>Sunu Başlığı</a:t>
            </a:r>
          </a:p>
        </p:txBody>
      </p:sp>
      <p:sp>
        <p:nvSpPr>
          <p:cNvPr id="7" name="Slayt Numarası Yer Tutucusu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rtlCol="0"/>
          <a:lstStyle/>
          <a:p>
            <a:pPr rtl="0"/>
            <a:fld id="{D8DA9DAA-006C-4F4B-980E-E3DF019B24E2}" type="slidenum">
              <a:rPr lang="tr-TR" noProof="0" smtClean="0"/>
              <a:t>‹#›</a:t>
            </a:fld>
            <a:endParaRPr lang="tr-TR" noProof="0"/>
          </a:p>
        </p:txBody>
      </p:sp>
      <p:cxnSp>
        <p:nvCxnSpPr>
          <p:cNvPr id="8" name="Düz Bağlayıcı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805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tr-TR" noProof="0"/>
          </a:p>
        </p:txBody>
      </p:sp>
      <p:sp>
        <p:nvSpPr>
          <p:cNvPr id="3" name="Resim Yer Tutucusu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tr-TR" noProof="0"/>
          </a:p>
        </p:txBody>
      </p:sp>
      <p:sp>
        <p:nvSpPr>
          <p:cNvPr id="4" name="Metin Yer Tutucusu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Tarih Yer Tutucusu 4">
            <a:extLst>
              <a:ext uri="{FF2B5EF4-FFF2-40B4-BE49-F238E27FC236}">
                <a16:creationId xmlns:a16="http://schemas.microsoft.com/office/drawing/2014/main" id="{100C4E9A-CA29-4CCD-ACFA-B29F80FBA163}"/>
              </a:ext>
            </a:extLst>
          </p:cNvPr>
          <p:cNvSpPr>
            <a:spLocks noGrp="1"/>
          </p:cNvSpPr>
          <p:nvPr>
            <p:ph type="dt" sz="half" idx="10"/>
          </p:nvPr>
        </p:nvSpPr>
        <p:spPr/>
        <p:txBody>
          <a:bodyPr rtlCol="0"/>
          <a:lstStyle/>
          <a:p>
            <a:pPr rtl="0"/>
            <a:r>
              <a:rPr lang="tr-TR" noProof="0"/>
              <a:t>03.09.20XX</a:t>
            </a:r>
          </a:p>
        </p:txBody>
      </p:sp>
      <p:sp>
        <p:nvSpPr>
          <p:cNvPr id="6" name="Alt Bilgi Yer Tutucusu 5">
            <a:extLst>
              <a:ext uri="{FF2B5EF4-FFF2-40B4-BE49-F238E27FC236}">
                <a16:creationId xmlns:a16="http://schemas.microsoft.com/office/drawing/2014/main" id="{71A5B7BE-3F1B-4FF3-B1D7-6E39B99D07BD}"/>
              </a:ext>
            </a:extLst>
          </p:cNvPr>
          <p:cNvSpPr>
            <a:spLocks noGrp="1"/>
          </p:cNvSpPr>
          <p:nvPr>
            <p:ph type="ftr" sz="quarter" idx="11"/>
          </p:nvPr>
        </p:nvSpPr>
        <p:spPr/>
        <p:txBody>
          <a:bodyPr rtlCol="0"/>
          <a:lstStyle/>
          <a:p>
            <a:pPr rtl="0"/>
            <a:r>
              <a:rPr lang="tr-TR" noProof="0"/>
              <a:t>Sunu Başlığı</a:t>
            </a:r>
          </a:p>
        </p:txBody>
      </p:sp>
      <p:sp>
        <p:nvSpPr>
          <p:cNvPr id="7" name="Slayt Numarası Yer Tutucusu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rtlCol="0"/>
          <a:lstStyle/>
          <a:p>
            <a:pPr rtl="0"/>
            <a:fld id="{D8DA9DAA-006C-4F4B-980E-E3DF019B24E2}" type="slidenum">
              <a:rPr lang="tr-TR" noProof="0" smtClean="0"/>
              <a:t>‹#›</a:t>
            </a:fld>
            <a:endParaRPr lang="tr-TR" noProof="0"/>
          </a:p>
        </p:txBody>
      </p:sp>
      <p:cxnSp>
        <p:nvCxnSpPr>
          <p:cNvPr id="8" name="Düz Bağlayıcı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77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tr-TR" noProof="0"/>
              <a:t>Asıl başlık stilini düzenlemek için tıklayın</a:t>
            </a:r>
          </a:p>
        </p:txBody>
      </p:sp>
      <p:sp>
        <p:nvSpPr>
          <p:cNvPr id="3" name="Metin Yer Tutucusu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pPr rtl="0"/>
            <a:r>
              <a:rPr lang="tr-TR" noProof="0"/>
              <a:t>03.09.20XX</a:t>
            </a:r>
          </a:p>
        </p:txBody>
      </p:sp>
      <p:sp>
        <p:nvSpPr>
          <p:cNvPr id="5" name="Alt Bilgi Yer Tutucusu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pPr rtl="0"/>
            <a:r>
              <a:rPr lang="tr-TR" noProof="0"/>
              <a:t>Sunu Başlığı</a:t>
            </a:r>
          </a:p>
        </p:txBody>
      </p:sp>
      <p:sp>
        <p:nvSpPr>
          <p:cNvPr id="6" name="Slayt Numarası Yer Tutucusu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pPr rtl="0"/>
            <a:fld id="{D8DA9DAA-006C-4F4B-980E-E3DF019B24E2}" type="slidenum">
              <a:rPr lang="tr-TR" noProof="0" smtClean="0"/>
              <a:t>‹#›</a:t>
            </a:fld>
            <a:endParaRPr lang="tr-TR" noProof="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717" r:id="rId3"/>
    <p:sldLayoutId id="2147483710" r:id="rId4"/>
    <p:sldLayoutId id="2147483709" r:id="rId5"/>
    <p:sldLayoutId id="2147483698" r:id="rId6"/>
    <p:sldLayoutId id="2147483713" r:id="rId7"/>
    <p:sldLayoutId id="2147483712" r:id="rId8"/>
    <p:sldLayoutId id="2147483700" r:id="rId9"/>
    <p:sldLayoutId id="2147483701" r:id="rId10"/>
    <p:sldLayoutId id="2147483716" r:id="rId11"/>
    <p:sldLayoutId id="2147483714" r:id="rId12"/>
    <p:sldLayoutId id="2147483715" r:id="rId13"/>
    <p:sldLayoutId id="2147483702" r:id="rId14"/>
    <p:sldLayoutId id="2147483703" r:id="rId15"/>
    <p:sldLayoutId id="2147483704" r:id="rId16"/>
    <p:sldLayoutId id="2147483705"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localhost:8501/"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A9968B-2619-4F71-AB00-4C493E120805}"/>
              </a:ext>
            </a:extLst>
          </p:cNvPr>
          <p:cNvSpPr>
            <a:spLocks noGrp="1"/>
          </p:cNvSpPr>
          <p:nvPr>
            <p:ph type="ctrTitle"/>
          </p:nvPr>
        </p:nvSpPr>
        <p:spPr>
          <a:xfrm>
            <a:off x="1298447" y="594360"/>
            <a:ext cx="9315123" cy="2843784"/>
          </a:xfrm>
        </p:spPr>
        <p:txBody>
          <a:bodyPr rtlCol="0">
            <a:normAutofit/>
          </a:bodyPr>
          <a:lstStyle/>
          <a:p>
            <a:r>
              <a:rPr lang="tr-TR" dirty="0"/>
              <a:t>İstanbul Emlak </a:t>
            </a:r>
            <a:br>
              <a:rPr lang="tr-TR" dirty="0"/>
            </a:br>
            <a:r>
              <a:rPr lang="tr-TR" dirty="0"/>
              <a:t>Yatırım Danışmanı (HACKATHON)</a:t>
            </a:r>
          </a:p>
        </p:txBody>
      </p:sp>
      <p:sp>
        <p:nvSpPr>
          <p:cNvPr id="3" name="Alt Başlık 2">
            <a:extLst>
              <a:ext uri="{FF2B5EF4-FFF2-40B4-BE49-F238E27FC236}">
                <a16:creationId xmlns:a16="http://schemas.microsoft.com/office/drawing/2014/main" id="{A5F14073-9F68-4B7E-A576-26899D58C7A9}"/>
              </a:ext>
            </a:extLst>
          </p:cNvPr>
          <p:cNvSpPr>
            <a:spLocks noGrp="1"/>
          </p:cNvSpPr>
          <p:nvPr>
            <p:ph type="subTitle" idx="1"/>
          </p:nvPr>
        </p:nvSpPr>
        <p:spPr/>
        <p:txBody>
          <a:bodyPr rtlCol="0"/>
          <a:lstStyle/>
          <a:p>
            <a:pPr rtl="0"/>
            <a:r>
              <a:rPr lang="tr-TR" sz="2000" dirty="0">
                <a:solidFill>
                  <a:schemeClr val="bg1"/>
                </a:solidFill>
              </a:rPr>
              <a:t>Takım adı :MW</a:t>
            </a:r>
          </a:p>
          <a:p>
            <a:pPr rtl="0"/>
            <a:r>
              <a:rPr lang="tr-TR" dirty="0"/>
              <a:t>Mehmet Nuri ERKAN</a:t>
            </a:r>
          </a:p>
          <a:p>
            <a:pPr rtl="0"/>
            <a:r>
              <a:rPr lang="tr-TR" dirty="0" err="1"/>
              <a:t>Abdulali</a:t>
            </a:r>
            <a:r>
              <a:rPr lang="tr-TR" dirty="0"/>
              <a:t> Muhammed</a:t>
            </a:r>
          </a:p>
        </p:txBody>
      </p:sp>
    </p:spTree>
    <p:extLst>
      <p:ext uri="{BB962C8B-B14F-4D97-AF65-F5344CB8AC3E}">
        <p14:creationId xmlns:p14="http://schemas.microsoft.com/office/powerpoint/2010/main" val="1147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1DDBBC93-70DF-4E4E-98E3-08124185AB18}"/>
              </a:ext>
            </a:extLst>
          </p:cNvPr>
          <p:cNvSpPr>
            <a:spLocks noGrp="1"/>
          </p:cNvSpPr>
          <p:nvPr>
            <p:ph type="title"/>
          </p:nvPr>
        </p:nvSpPr>
        <p:spPr>
          <a:xfrm>
            <a:off x="6096000" y="-937260"/>
            <a:ext cx="5833872" cy="2276856"/>
          </a:xfrm>
        </p:spPr>
        <p:txBody>
          <a:bodyPr rtlCol="0"/>
          <a:lstStyle/>
          <a:p>
            <a:pPr rtl="0"/>
            <a:r>
              <a:rPr lang="tr-TR" b="1" cap="all" spc="400" dirty="0">
                <a:solidFill>
                  <a:schemeClr val="bg1"/>
                </a:solidFill>
                <a:latin typeface="+mn-lt"/>
              </a:rPr>
              <a:t>Gündem</a:t>
            </a:r>
            <a:endParaRPr lang="tr-TR" dirty="0"/>
          </a:p>
        </p:txBody>
      </p:sp>
      <p:sp>
        <p:nvSpPr>
          <p:cNvPr id="4" name="Metin Yer Tutucusu 3">
            <a:extLst>
              <a:ext uri="{FF2B5EF4-FFF2-40B4-BE49-F238E27FC236}">
                <a16:creationId xmlns:a16="http://schemas.microsoft.com/office/drawing/2014/main" id="{65DE74E9-AA78-46C1-845A-0B72FA8AF35E}"/>
              </a:ext>
            </a:extLst>
          </p:cNvPr>
          <p:cNvSpPr>
            <a:spLocks noGrp="1"/>
          </p:cNvSpPr>
          <p:nvPr>
            <p:ph type="body" sz="quarter" idx="13"/>
          </p:nvPr>
        </p:nvSpPr>
        <p:spPr>
          <a:xfrm>
            <a:off x="6412610" y="1339596"/>
            <a:ext cx="5833872" cy="3118104"/>
          </a:xfrm>
        </p:spPr>
        <p:txBody>
          <a:bodyPr rtlCol="0"/>
          <a:lstStyle/>
          <a:p>
            <a:pPr algn="l"/>
            <a:r>
              <a:rPr lang="tr-TR" dirty="0" err="1">
                <a:solidFill>
                  <a:srgbClr val="C00000"/>
                </a:solidFill>
              </a:rPr>
              <a:t>Tanım</a:t>
            </a:r>
            <a:r>
              <a:rPr lang="tr-TR" dirty="0" err="1"/>
              <a:t>:İstanbul’daki</a:t>
            </a:r>
            <a:r>
              <a:rPr lang="tr-TR" dirty="0"/>
              <a:t> emlak piyasasında, yatırımcılar, ilanlardaki fiyatların doğru olup olmadığını hızlıca anlamakta zorluk çekiyorlar. Bu nedenle, doğru yatırım kararları almak için </a:t>
            </a:r>
            <a:r>
              <a:rPr lang="tr-TR" b="1" dirty="0"/>
              <a:t>Adil Değer</a:t>
            </a:r>
            <a:r>
              <a:rPr lang="tr-TR" dirty="0"/>
              <a:t> tahminine ihtiyaç vardır. Bu proje, yapay zeka kullanarak, ilanların özelliklerinden (m², oda sayısı, konum, bina yaşı vb.) adil değeri tahmin eder ve bu tahmin ile ilan fiyatı arasındaki farkı kullanıcıya sunar. Bu sayede, yatırımcılar, hızlı bir şekilde doğru kararlar alabilirler.</a:t>
            </a:r>
            <a:endParaRPr lang="tr-TR" sz="1800" dirty="0">
              <a:solidFill>
                <a:schemeClr val="bg1"/>
              </a:solidFill>
            </a:endParaRPr>
          </a:p>
        </p:txBody>
      </p:sp>
      <p:sp>
        <p:nvSpPr>
          <p:cNvPr id="8" name="Alt Bilgi Yer Tutucusu 7">
            <a:extLst>
              <a:ext uri="{FF2B5EF4-FFF2-40B4-BE49-F238E27FC236}">
                <a16:creationId xmlns:a16="http://schemas.microsoft.com/office/drawing/2014/main" id="{AEEDFC2F-FF0A-4EC9-A0BB-0AA2B1E6BA4A}"/>
              </a:ext>
            </a:extLst>
          </p:cNvPr>
          <p:cNvSpPr>
            <a:spLocks noGrp="1"/>
          </p:cNvSpPr>
          <p:nvPr>
            <p:ph type="ftr" sz="quarter" idx="11"/>
          </p:nvPr>
        </p:nvSpPr>
        <p:spPr/>
        <p:txBody>
          <a:bodyPr rtlCol="0"/>
          <a:lstStyle/>
          <a:p>
            <a:pPr rtl="0"/>
            <a:r>
              <a:rPr lang="tr-TR"/>
              <a:t>Sunu Başlığı</a:t>
            </a:r>
          </a:p>
        </p:txBody>
      </p:sp>
      <p:sp>
        <p:nvSpPr>
          <p:cNvPr id="9" name="Slayt Numarası Yer Tutucusu 8">
            <a:extLst>
              <a:ext uri="{FF2B5EF4-FFF2-40B4-BE49-F238E27FC236}">
                <a16:creationId xmlns:a16="http://schemas.microsoft.com/office/drawing/2014/main" id="{6DCF8D89-56D9-4E2B-9838-07DFB6E9D2BB}"/>
              </a:ext>
            </a:extLst>
          </p:cNvPr>
          <p:cNvSpPr>
            <a:spLocks noGrp="1"/>
          </p:cNvSpPr>
          <p:nvPr>
            <p:ph type="sldNum" sz="quarter" idx="12"/>
          </p:nvPr>
        </p:nvSpPr>
        <p:spPr/>
        <p:txBody>
          <a:bodyPr rtlCol="0"/>
          <a:lstStyle/>
          <a:p>
            <a:pPr rtl="0"/>
            <a:fld id="{D8DA9DAA-006C-4F4B-980E-E3DF019B24E2}" type="slidenum">
              <a:rPr lang="tr-TR" smtClean="0"/>
              <a:pPr/>
              <a:t>2</a:t>
            </a:fld>
            <a:endParaRPr lang="tr-TR"/>
          </a:p>
        </p:txBody>
      </p:sp>
      <p:pic>
        <p:nvPicPr>
          <p:cNvPr id="5" name="Picture 4">
            <a:extLst>
              <a:ext uri="{FF2B5EF4-FFF2-40B4-BE49-F238E27FC236}">
                <a16:creationId xmlns:a16="http://schemas.microsoft.com/office/drawing/2014/main" id="{FBD2B401-E925-55B2-86AD-1E76A8F694E2}"/>
              </a:ext>
            </a:extLst>
          </p:cNvPr>
          <p:cNvPicPr>
            <a:picLocks noChangeAspect="1"/>
          </p:cNvPicPr>
          <p:nvPr/>
        </p:nvPicPr>
        <p:blipFill>
          <a:blip r:embed="rId3"/>
          <a:stretch>
            <a:fillRect/>
          </a:stretch>
        </p:blipFill>
        <p:spPr>
          <a:xfrm>
            <a:off x="1197407" y="917448"/>
            <a:ext cx="5046179" cy="2699656"/>
          </a:xfrm>
          <a:prstGeom prst="rect">
            <a:avLst/>
          </a:prstGeom>
        </p:spPr>
      </p:pic>
      <p:sp>
        <p:nvSpPr>
          <p:cNvPr id="15" name="Picture Placeholder 14">
            <a:extLst>
              <a:ext uri="{FF2B5EF4-FFF2-40B4-BE49-F238E27FC236}">
                <a16:creationId xmlns:a16="http://schemas.microsoft.com/office/drawing/2014/main" id="{CCBA4514-95A2-CD45-842D-1B7999476EDC}"/>
              </a:ext>
            </a:extLst>
          </p:cNvPr>
          <p:cNvSpPr>
            <a:spLocks noGrp="1"/>
          </p:cNvSpPr>
          <p:nvPr>
            <p:ph type="pic" sz="quarter" idx="14"/>
          </p:nvPr>
        </p:nvSpPr>
        <p:spPr/>
        <p:txBody>
          <a:bodyPr/>
          <a:lstStyle/>
          <a:p>
            <a:endParaRPr lang="tr-TR"/>
          </a:p>
        </p:txBody>
      </p:sp>
      <p:sp>
        <p:nvSpPr>
          <p:cNvPr id="22" name="TextBox 21">
            <a:extLst>
              <a:ext uri="{FF2B5EF4-FFF2-40B4-BE49-F238E27FC236}">
                <a16:creationId xmlns:a16="http://schemas.microsoft.com/office/drawing/2014/main" id="{625B7363-C8D7-B0AC-C48E-3FBDD006AFF1}"/>
              </a:ext>
            </a:extLst>
          </p:cNvPr>
          <p:cNvSpPr txBox="1"/>
          <p:nvPr/>
        </p:nvSpPr>
        <p:spPr>
          <a:xfrm>
            <a:off x="5074404" y="4125685"/>
            <a:ext cx="7117596"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rgbClr val="C00000"/>
                </a:solidFill>
                <a:effectLst/>
                <a:latin typeface="Arial" panose="020B0604020202020204" pitchFamily="34" charset="0"/>
              </a:rPr>
              <a:t>Adil Değer ve Karar Etiketleri</a:t>
            </a:r>
            <a:r>
              <a:rPr kumimoji="0" lang="tr-TR" altLang="tr-TR" sz="1800" b="1" i="0" u="none" strike="noStrike" cap="none" normalizeH="0" baseline="0" dirty="0">
                <a:ln>
                  <a:noFill/>
                </a:ln>
                <a:solidFill>
                  <a:schemeClr val="bg1"/>
                </a:solidFill>
                <a:effectLst/>
                <a:latin typeface="Arial" panose="020B0604020202020204" pitchFamily="34" charset="0"/>
              </a:rPr>
              <a:t>:</a:t>
            </a:r>
            <a:endParaRPr kumimoji="0" lang="tr-TR" altLang="tr-TR"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bg1"/>
                </a:solidFill>
                <a:effectLst/>
                <a:latin typeface="Arial" panose="020B0604020202020204" pitchFamily="34" charset="0"/>
              </a:rPr>
              <a:t>Fırsat:</a:t>
            </a:r>
            <a:r>
              <a:rPr kumimoji="0" lang="tr-TR" altLang="tr-TR" sz="1800" b="0" i="0" u="none" strike="noStrike" cap="none" normalizeH="0" baseline="0" dirty="0">
                <a:ln>
                  <a:noFill/>
                </a:ln>
                <a:solidFill>
                  <a:schemeClr val="bg1"/>
                </a:solidFill>
                <a:effectLst/>
                <a:latin typeface="Arial" panose="020B0604020202020204" pitchFamily="34" charset="0"/>
              </a:rPr>
              <a:t> Eğer ilan fiyatı adil değerin %10 daha düşükse, ilan fırsat olarak etiketlenir.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bg1"/>
                </a:solidFill>
                <a:effectLst/>
                <a:latin typeface="Arial" panose="020B0604020202020204" pitchFamily="34" charset="0"/>
              </a:rPr>
              <a:t>Normal:</a:t>
            </a:r>
            <a:r>
              <a:rPr kumimoji="0" lang="tr-TR" altLang="tr-TR" sz="1800" b="0" i="0" u="none" strike="noStrike" cap="none" normalizeH="0" baseline="0" dirty="0">
                <a:ln>
                  <a:noFill/>
                </a:ln>
                <a:solidFill>
                  <a:schemeClr val="bg1"/>
                </a:solidFill>
                <a:effectLst/>
                <a:latin typeface="Arial" panose="020B0604020202020204" pitchFamily="34" charset="0"/>
              </a:rPr>
              <a:t> Eğer ilan fiyatı adil değere yakınsa (yaklaşık %10 fark), ilan normal olarak etiketlenir.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bg1"/>
                </a:solidFill>
                <a:effectLst/>
                <a:latin typeface="Arial" panose="020B0604020202020204" pitchFamily="34" charset="0"/>
              </a:rPr>
              <a:t>Pahalı:</a:t>
            </a:r>
            <a:r>
              <a:rPr kumimoji="0" lang="tr-TR" altLang="tr-TR" sz="1800" b="0" i="0" u="none" strike="noStrike" cap="none" normalizeH="0" baseline="0" dirty="0">
                <a:ln>
                  <a:noFill/>
                </a:ln>
                <a:solidFill>
                  <a:schemeClr val="bg1"/>
                </a:solidFill>
                <a:effectLst/>
                <a:latin typeface="Arial" panose="020B0604020202020204" pitchFamily="34" charset="0"/>
              </a:rPr>
              <a:t> Eğer ilan fiyatı adil değerin %10 daha yüksekse, ilan pahalı olarak etiketlenir.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bg1"/>
                </a:solidFill>
                <a:effectLst/>
                <a:latin typeface="Arial" panose="020B0604020202020204" pitchFamily="34" charset="0"/>
              </a:rPr>
              <a:t>Hedef:</a:t>
            </a:r>
            <a:r>
              <a:rPr kumimoji="0" lang="tr-TR" altLang="tr-TR" sz="1800" b="0" i="0" u="none" strike="noStrike" cap="none" normalizeH="0" baseline="0" dirty="0">
                <a:ln>
                  <a:noFill/>
                </a:ln>
                <a:solidFill>
                  <a:schemeClr val="bg1"/>
                </a:solidFill>
                <a:effectLst/>
                <a:latin typeface="Arial" panose="020B0604020202020204" pitchFamily="34" charset="0"/>
              </a:rPr>
              <a:t> Kullanıcılar, fırsatları hızlıca tespit edebilecek ve pahalı ilanlardan kaçınabilecek şekilde doğru kararlar alabilirler.</a:t>
            </a:r>
          </a:p>
        </p:txBody>
      </p:sp>
    </p:spTree>
    <p:extLst>
      <p:ext uri="{BB962C8B-B14F-4D97-AF65-F5344CB8AC3E}">
        <p14:creationId xmlns:p14="http://schemas.microsoft.com/office/powerpoint/2010/main" val="1613598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0115FF41-AFA4-4D25-AB42-AB034F4B4FEC}"/>
              </a:ext>
            </a:extLst>
          </p:cNvPr>
          <p:cNvSpPr>
            <a:spLocks noGrp="1"/>
          </p:cNvSpPr>
          <p:nvPr>
            <p:ph type="title"/>
          </p:nvPr>
        </p:nvSpPr>
        <p:spPr/>
        <p:txBody>
          <a:bodyPr rtlCol="0">
            <a:normAutofit fontScale="90000"/>
          </a:bodyPr>
          <a:lstStyle/>
          <a:p>
            <a:r>
              <a:rPr lang="tr-TR" dirty="0"/>
              <a:t>Kullanıcı Arayüzü ve Canlı Demo</a:t>
            </a:r>
          </a:p>
        </p:txBody>
      </p:sp>
      <p:sp>
        <p:nvSpPr>
          <p:cNvPr id="4" name="İçerik Yer Tutucusu 3">
            <a:extLst>
              <a:ext uri="{FF2B5EF4-FFF2-40B4-BE49-F238E27FC236}">
                <a16:creationId xmlns:a16="http://schemas.microsoft.com/office/drawing/2014/main" id="{B0881FA9-F3B0-4912-B0E1-352094195C30}"/>
              </a:ext>
            </a:extLst>
          </p:cNvPr>
          <p:cNvSpPr>
            <a:spLocks noGrp="1"/>
          </p:cNvSpPr>
          <p:nvPr>
            <p:ph idx="1"/>
          </p:nvPr>
        </p:nvSpPr>
        <p:spPr/>
        <p:txBody>
          <a:bodyPr rtlCol="0">
            <a:normAutofit fontScale="77500" lnSpcReduction="20000"/>
          </a:bodyPr>
          <a:lstStyle/>
          <a:p>
            <a:pPr rtl="0"/>
            <a:r>
              <a:rPr lang="tr-TR" dirty="0" err="1">
                <a:solidFill>
                  <a:srgbClr val="C00000"/>
                </a:solidFill>
              </a:rPr>
              <a:t>Streamlit</a:t>
            </a:r>
            <a:r>
              <a:rPr lang="tr-TR" dirty="0">
                <a:solidFill>
                  <a:srgbClr val="C00000"/>
                </a:solidFill>
              </a:rPr>
              <a:t> </a:t>
            </a:r>
            <a:r>
              <a:rPr lang="tr-TR" dirty="0" err="1">
                <a:solidFill>
                  <a:srgbClr val="C00000"/>
                </a:solidFill>
              </a:rPr>
              <a:t>Arayüzü</a:t>
            </a:r>
            <a:r>
              <a:rPr lang="tr-TR" dirty="0" err="1"/>
              <a:t>:Streamlit</a:t>
            </a:r>
            <a:r>
              <a:rPr lang="tr-TR" dirty="0"/>
              <a:t> kullanılarak geliştirilen bu web arayüzü, kullanıcıların verileri anlık olarak girmesini ve sonuçları anında görmesini </a:t>
            </a:r>
            <a:r>
              <a:rPr lang="tr-TR" dirty="0" err="1"/>
              <a:t>sağlar.Canlı</a:t>
            </a:r>
            <a:r>
              <a:rPr lang="tr-TR" dirty="0"/>
              <a:t> Analiz: Kullanıcılar, bir emlak ilanının fiyatını girdiklerinde, sistem hemen adil değeri tahmin eder ve bu tahmin ile ilan fiyatı arasındaki farkı gösterir. Ayrıca, Fırsat, Normal ya da Pahalı şeklinde bir karar etiketi sunar.CSV </a:t>
            </a:r>
            <a:r>
              <a:rPr lang="tr-TR" dirty="0" err="1"/>
              <a:t>Batch</a:t>
            </a:r>
            <a:r>
              <a:rPr lang="tr-TR" dirty="0"/>
              <a:t> Analizi: Kullanıcılar, toplu analiz yapmak istediklerinde CSV dosyalarını yükleyebilir ve birden fazla ilan için adil değer tahminini anında </a:t>
            </a:r>
            <a:r>
              <a:rPr lang="tr-TR" dirty="0" err="1"/>
              <a:t>alabilirler.Kullanıcı</a:t>
            </a:r>
            <a:r>
              <a:rPr lang="tr-TR" dirty="0"/>
              <a:t> Girişi ve </a:t>
            </a:r>
            <a:r>
              <a:rPr lang="tr-TR" dirty="0" err="1"/>
              <a:t>Sonuçlar:Kullanıcılar</a:t>
            </a:r>
            <a:r>
              <a:rPr lang="tr-TR" dirty="0"/>
              <a:t>, ilanların fiyatını, m²’sini, oda sayısını, konumunu vb. girdiklerinde, sistem anında Adil </a:t>
            </a:r>
            <a:r>
              <a:rPr lang="tr-TR" dirty="0" err="1"/>
              <a:t>Değeryi</a:t>
            </a:r>
            <a:r>
              <a:rPr lang="tr-TR" dirty="0"/>
              <a:t> tahmin eder ve hangi karar etiketini alacaklarına dair bilgi sunar.</a:t>
            </a:r>
          </a:p>
        </p:txBody>
      </p:sp>
      <p:sp>
        <p:nvSpPr>
          <p:cNvPr id="10" name="Alt Bilgi Yer Tutucusu 9">
            <a:extLst>
              <a:ext uri="{FF2B5EF4-FFF2-40B4-BE49-F238E27FC236}">
                <a16:creationId xmlns:a16="http://schemas.microsoft.com/office/drawing/2014/main" id="{A8C7C3A0-5E78-49C8-B8D4-F3DF62B2BC93}"/>
              </a:ext>
            </a:extLst>
          </p:cNvPr>
          <p:cNvSpPr>
            <a:spLocks noGrp="1"/>
          </p:cNvSpPr>
          <p:nvPr>
            <p:ph type="ftr" sz="quarter" idx="11"/>
          </p:nvPr>
        </p:nvSpPr>
        <p:spPr/>
        <p:txBody>
          <a:bodyPr rtlCol="0"/>
          <a:lstStyle/>
          <a:p>
            <a:pPr rtl="0"/>
            <a:r>
              <a:rPr lang="tr-TR"/>
              <a:t>Sunu Başlığı</a:t>
            </a:r>
          </a:p>
        </p:txBody>
      </p:sp>
      <p:sp>
        <p:nvSpPr>
          <p:cNvPr id="11" name="Slayt Numarası Yer Tutucusu 10">
            <a:extLst>
              <a:ext uri="{FF2B5EF4-FFF2-40B4-BE49-F238E27FC236}">
                <a16:creationId xmlns:a16="http://schemas.microsoft.com/office/drawing/2014/main" id="{56AE2454-CE9A-4A6B-AB5A-349E0D967654}"/>
              </a:ext>
            </a:extLst>
          </p:cNvPr>
          <p:cNvSpPr>
            <a:spLocks noGrp="1"/>
          </p:cNvSpPr>
          <p:nvPr>
            <p:ph type="sldNum" sz="quarter" idx="12"/>
          </p:nvPr>
        </p:nvSpPr>
        <p:spPr/>
        <p:txBody>
          <a:bodyPr rtlCol="0"/>
          <a:lstStyle/>
          <a:p>
            <a:pPr rtl="0"/>
            <a:fld id="{D8DA9DAA-006C-4F4B-980E-E3DF019B24E2}" type="slidenum">
              <a:rPr lang="tr-TR" smtClean="0"/>
              <a:pPr/>
              <a:t>3</a:t>
            </a:fld>
            <a:endParaRPr lang="tr-TR"/>
          </a:p>
        </p:txBody>
      </p:sp>
      <p:pic>
        <p:nvPicPr>
          <p:cNvPr id="16" name="Picture 15" descr="A screenshot of a computer&#10;&#10;AI-generated content may be incorrect.">
            <a:extLst>
              <a:ext uri="{FF2B5EF4-FFF2-40B4-BE49-F238E27FC236}">
                <a16:creationId xmlns:a16="http://schemas.microsoft.com/office/drawing/2014/main" id="{C970E18E-7AA2-1C00-952E-EFC92CAEEDDD}"/>
              </a:ext>
            </a:extLst>
          </p:cNvPr>
          <p:cNvPicPr>
            <a:picLocks noChangeAspect="1"/>
          </p:cNvPicPr>
          <p:nvPr/>
        </p:nvPicPr>
        <p:blipFill>
          <a:blip r:embed="rId3"/>
          <a:stretch>
            <a:fillRect/>
          </a:stretch>
        </p:blipFill>
        <p:spPr>
          <a:xfrm>
            <a:off x="7175735" y="2590800"/>
            <a:ext cx="4733235" cy="2533196"/>
          </a:xfrm>
          <a:prstGeom prst="rect">
            <a:avLst/>
          </a:prstGeom>
        </p:spPr>
      </p:pic>
    </p:spTree>
    <p:extLst>
      <p:ext uri="{BB962C8B-B14F-4D97-AF65-F5344CB8AC3E}">
        <p14:creationId xmlns:p14="http://schemas.microsoft.com/office/powerpoint/2010/main" val="365334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5F2FB0B-15EC-453B-BC9B-69AD35DDCEA3}"/>
              </a:ext>
            </a:extLst>
          </p:cNvPr>
          <p:cNvSpPr>
            <a:spLocks noGrp="1"/>
          </p:cNvSpPr>
          <p:nvPr>
            <p:ph type="ctrTitle"/>
          </p:nvPr>
        </p:nvSpPr>
        <p:spPr>
          <a:xfrm>
            <a:off x="1328057" y="0"/>
            <a:ext cx="9144000" cy="2340864"/>
          </a:xfrm>
        </p:spPr>
        <p:txBody>
          <a:bodyPr rtlCol="0">
            <a:normAutofit/>
          </a:bodyPr>
          <a:lstStyle/>
          <a:p>
            <a:r>
              <a:rPr lang="en-US" dirty="0" err="1"/>
              <a:t>Kurulum</a:t>
            </a:r>
            <a:r>
              <a:rPr lang="en-US" dirty="0"/>
              <a:t> </a:t>
            </a:r>
            <a:r>
              <a:rPr lang="en-US" dirty="0" err="1"/>
              <a:t>ve</a:t>
            </a:r>
            <a:r>
              <a:rPr lang="en-US" dirty="0"/>
              <a:t> </a:t>
            </a:r>
            <a:r>
              <a:rPr lang="en-US" dirty="0" err="1"/>
              <a:t>Çalıştırma</a:t>
            </a:r>
            <a:endParaRPr lang="tr-TR" dirty="0"/>
          </a:p>
        </p:txBody>
      </p:sp>
      <p:sp>
        <p:nvSpPr>
          <p:cNvPr id="3" name="Alt Başlık 2">
            <a:extLst>
              <a:ext uri="{FF2B5EF4-FFF2-40B4-BE49-F238E27FC236}">
                <a16:creationId xmlns:a16="http://schemas.microsoft.com/office/drawing/2014/main" id="{05408798-0DB3-46BF-880E-7BB904D700F6}"/>
              </a:ext>
            </a:extLst>
          </p:cNvPr>
          <p:cNvSpPr>
            <a:spLocks noGrp="1"/>
          </p:cNvSpPr>
          <p:nvPr>
            <p:ph type="subTitle" idx="1"/>
          </p:nvPr>
        </p:nvSpPr>
        <p:spPr>
          <a:xfrm>
            <a:off x="598714" y="2590800"/>
            <a:ext cx="11299372" cy="2819400"/>
          </a:xfrm>
        </p:spPr>
        <p:txBody>
          <a:bodyPr rtlCol="0">
            <a:noAutofit/>
          </a:bodyPr>
          <a:lstStyle/>
          <a:p>
            <a:pPr lvl="0" algn="l" eaLnBrk="0" fontAlgn="base" hangingPunct="0">
              <a:lnSpc>
                <a:spcPct val="100000"/>
              </a:lnSpc>
              <a:spcBef>
                <a:spcPct val="0"/>
              </a:spcBef>
              <a:spcAft>
                <a:spcPct val="0"/>
              </a:spcAft>
              <a:buFontTx/>
              <a:buChar char="•"/>
            </a:pPr>
            <a:r>
              <a:rPr lang="tr-TR" altLang="tr-TR" sz="1600" b="1" dirty="0">
                <a:solidFill>
                  <a:srgbClr val="FF0000"/>
                </a:solidFill>
                <a:latin typeface="Arial" panose="020B0604020202020204" pitchFamily="34" charset="0"/>
              </a:rPr>
              <a:t>Proje Klasörüne Geçiş ve Sanal Ortam Kurulumu:</a:t>
            </a:r>
            <a:endParaRPr lang="tr-TR" altLang="tr-TR" sz="1600" dirty="0">
              <a:solidFill>
                <a:srgbClr val="FF0000"/>
              </a:solidFill>
              <a:latin typeface="Arial" panose="020B0604020202020204" pitchFamily="34" charset="0"/>
            </a:endParaRPr>
          </a:p>
          <a:p>
            <a:pPr lvl="0" algn="l" eaLnBrk="0" fontAlgn="base" hangingPunct="0">
              <a:lnSpc>
                <a:spcPct val="100000"/>
              </a:lnSpc>
              <a:spcBef>
                <a:spcPct val="0"/>
              </a:spcBef>
              <a:spcAft>
                <a:spcPct val="0"/>
              </a:spcAft>
              <a:buFontTx/>
              <a:buChar char="•"/>
            </a:pPr>
            <a:r>
              <a:rPr lang="tr-TR" altLang="tr-TR" sz="1600" dirty="0">
                <a:latin typeface="Arial" panose="020B0604020202020204" pitchFamily="34" charset="0"/>
              </a:rPr>
              <a:t>Öncelikle, proje klasörüne gidilir ve sanal ortam oluşturulur. Bu sanal ortam, projede kullanılan tüm bağımlılıkların izole edilmesini sağlar.</a:t>
            </a:r>
          </a:p>
          <a:p>
            <a:pPr lvl="0" algn="l" eaLnBrk="0" fontAlgn="base" hangingPunct="0">
              <a:lnSpc>
                <a:spcPct val="100000"/>
              </a:lnSpc>
              <a:spcBef>
                <a:spcPct val="0"/>
              </a:spcBef>
              <a:spcAft>
                <a:spcPct val="0"/>
              </a:spcAft>
            </a:pPr>
            <a:r>
              <a:rPr lang="tr-TR" altLang="tr-TR" sz="1600" dirty="0">
                <a:latin typeface="Arial Unicode MS" panose="020B0604020202020204" pitchFamily="34" charset="-128"/>
              </a:rPr>
              <a:t>cd &lt;</a:t>
            </a:r>
            <a:r>
              <a:rPr lang="tr-TR" altLang="tr-TR" sz="1600" dirty="0" err="1">
                <a:latin typeface="Arial Unicode MS" panose="020B0604020202020204" pitchFamily="34" charset="-128"/>
              </a:rPr>
              <a:t>proje_klasoru</a:t>
            </a:r>
            <a:r>
              <a:rPr lang="tr-TR" altLang="tr-TR" sz="1600" dirty="0">
                <a:latin typeface="Arial Unicode MS" panose="020B0604020202020204" pitchFamily="34" charset="-128"/>
              </a:rPr>
              <a:t>&gt; </a:t>
            </a:r>
            <a:r>
              <a:rPr lang="tr-TR" altLang="tr-TR" sz="1600" dirty="0" err="1">
                <a:latin typeface="Arial Unicode MS" panose="020B0604020202020204" pitchFamily="34" charset="-128"/>
              </a:rPr>
              <a:t>python</a:t>
            </a:r>
            <a:r>
              <a:rPr lang="tr-TR" altLang="tr-TR" sz="1600" dirty="0">
                <a:latin typeface="Arial Unicode MS" panose="020B0604020202020204" pitchFamily="34" charset="-128"/>
              </a:rPr>
              <a:t> -m </a:t>
            </a:r>
            <a:r>
              <a:rPr lang="tr-TR" altLang="tr-TR" sz="1600" dirty="0" err="1">
                <a:latin typeface="Arial Unicode MS" panose="020B0604020202020204" pitchFamily="34" charset="-128"/>
              </a:rPr>
              <a:t>venv</a:t>
            </a:r>
            <a:r>
              <a:rPr lang="tr-TR" altLang="tr-TR" sz="1600" dirty="0">
                <a:latin typeface="Arial Unicode MS" panose="020B0604020202020204" pitchFamily="34" charset="-128"/>
              </a:rPr>
              <a:t> .</a:t>
            </a:r>
            <a:r>
              <a:rPr lang="tr-TR" altLang="tr-TR" sz="1600" dirty="0" err="1">
                <a:latin typeface="Arial Unicode MS" panose="020B0604020202020204" pitchFamily="34" charset="-128"/>
              </a:rPr>
              <a:t>venv</a:t>
            </a:r>
            <a:r>
              <a:rPr lang="tr-TR" altLang="tr-TR" sz="1600" dirty="0">
                <a:latin typeface="Arial Unicode MS" panose="020B0604020202020204" pitchFamily="34" charset="-128"/>
              </a:rPr>
              <a:t> </a:t>
            </a:r>
            <a:endParaRPr lang="tr-TR" altLang="tr-TR" sz="1600" dirty="0"/>
          </a:p>
          <a:p>
            <a:pPr lvl="0" algn="l" eaLnBrk="0" fontAlgn="base" hangingPunct="0">
              <a:lnSpc>
                <a:spcPct val="100000"/>
              </a:lnSpc>
              <a:spcBef>
                <a:spcPct val="0"/>
              </a:spcBef>
              <a:spcAft>
                <a:spcPct val="0"/>
              </a:spcAft>
              <a:buFontTx/>
              <a:buChar char="•"/>
            </a:pPr>
            <a:r>
              <a:rPr lang="tr-TR" altLang="tr-TR" sz="1600" b="1" dirty="0">
                <a:latin typeface="Arial" panose="020B0604020202020204" pitchFamily="34" charset="0"/>
              </a:rPr>
              <a:t>Sanal Ortamın Aktif Edilmesi:</a:t>
            </a:r>
            <a:endParaRPr lang="tr-TR" altLang="tr-TR" sz="16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tr-TR" altLang="tr-TR" sz="1600" b="1" dirty="0">
                <a:latin typeface="Arial" panose="020B0604020202020204" pitchFamily="34" charset="0"/>
              </a:rPr>
              <a:t>Windows:</a:t>
            </a:r>
            <a:r>
              <a:rPr lang="tr-TR" altLang="tr-TR" sz="1600" dirty="0">
                <a:latin typeface="Arial" panose="020B0604020202020204" pitchFamily="34" charset="0"/>
              </a:rPr>
              <a:t> </a:t>
            </a:r>
            <a:r>
              <a:rPr lang="tr-TR" altLang="tr-TR" sz="1600" dirty="0">
                <a:latin typeface="Arial Unicode MS" panose="020B0604020202020204" pitchFamily="34" charset="-128"/>
              </a:rPr>
              <a:t>.</a:t>
            </a:r>
            <a:r>
              <a:rPr lang="tr-TR" altLang="tr-TR" sz="1600" dirty="0" err="1">
                <a:latin typeface="Arial Unicode MS" panose="020B0604020202020204" pitchFamily="34" charset="-128"/>
              </a:rPr>
              <a:t>venv</a:t>
            </a:r>
            <a:r>
              <a:rPr lang="tr-TR" altLang="tr-TR" sz="1600" dirty="0">
                <a:latin typeface="Arial Unicode MS" panose="020B0604020202020204" pitchFamily="34" charset="-128"/>
              </a:rPr>
              <a:t>\</a:t>
            </a:r>
            <a:r>
              <a:rPr lang="tr-TR" altLang="tr-TR" sz="1600" dirty="0" err="1">
                <a:latin typeface="Arial Unicode MS" panose="020B0604020202020204" pitchFamily="34" charset="-128"/>
              </a:rPr>
              <a:t>Scripts</a:t>
            </a:r>
            <a:r>
              <a:rPr lang="tr-TR" altLang="tr-TR" sz="1600" dirty="0">
                <a:latin typeface="Arial Unicode MS" panose="020B0604020202020204" pitchFamily="34" charset="-128"/>
              </a:rPr>
              <a:t>\</a:t>
            </a:r>
            <a:r>
              <a:rPr lang="tr-TR" altLang="tr-TR" sz="1600" dirty="0" err="1">
                <a:latin typeface="Arial Unicode MS" panose="020B0604020202020204" pitchFamily="34" charset="-128"/>
              </a:rPr>
              <a:t>activate</a:t>
            </a:r>
            <a:endParaRPr lang="tr-TR" altLang="tr-TR" sz="1600" dirty="0"/>
          </a:p>
          <a:p>
            <a:pPr lvl="0" algn="l" eaLnBrk="0" fontAlgn="base" hangingPunct="0">
              <a:lnSpc>
                <a:spcPct val="100000"/>
              </a:lnSpc>
              <a:spcBef>
                <a:spcPct val="0"/>
              </a:spcBef>
              <a:spcAft>
                <a:spcPct val="0"/>
              </a:spcAft>
              <a:buFontTx/>
              <a:buChar char="•"/>
            </a:pPr>
            <a:r>
              <a:rPr lang="tr-TR" altLang="tr-TR" sz="1600" b="1" dirty="0">
                <a:latin typeface="Arial" panose="020B0604020202020204" pitchFamily="34" charset="0"/>
              </a:rPr>
              <a:t>Mac/Linux:</a:t>
            </a:r>
            <a:r>
              <a:rPr lang="tr-TR" altLang="tr-TR" sz="1600" dirty="0">
                <a:latin typeface="Arial" panose="020B0604020202020204" pitchFamily="34" charset="0"/>
              </a:rPr>
              <a:t> </a:t>
            </a:r>
            <a:r>
              <a:rPr lang="tr-TR" altLang="tr-TR" sz="1600" dirty="0" err="1">
                <a:latin typeface="Arial Unicode MS" panose="020B0604020202020204" pitchFamily="34" charset="-128"/>
              </a:rPr>
              <a:t>source</a:t>
            </a:r>
            <a:r>
              <a:rPr lang="tr-TR" altLang="tr-TR" sz="1600" dirty="0">
                <a:latin typeface="Arial Unicode MS" panose="020B0604020202020204" pitchFamily="34" charset="-128"/>
              </a:rPr>
              <a:t> .</a:t>
            </a:r>
            <a:r>
              <a:rPr lang="tr-TR" altLang="tr-TR" sz="1600" dirty="0" err="1">
                <a:latin typeface="Arial Unicode MS" panose="020B0604020202020204" pitchFamily="34" charset="-128"/>
              </a:rPr>
              <a:t>venv</a:t>
            </a:r>
            <a:r>
              <a:rPr lang="tr-TR" altLang="tr-TR" sz="1600" dirty="0">
                <a:latin typeface="Arial Unicode MS" panose="020B0604020202020204" pitchFamily="34" charset="-128"/>
              </a:rPr>
              <a:t>/bin/</a:t>
            </a:r>
            <a:r>
              <a:rPr lang="tr-TR" altLang="tr-TR" sz="1600" dirty="0" err="1">
                <a:latin typeface="Arial Unicode MS" panose="020B0604020202020204" pitchFamily="34" charset="-128"/>
              </a:rPr>
              <a:t>activate</a:t>
            </a:r>
            <a:endParaRPr lang="tr-TR" altLang="tr-TR" sz="1600" dirty="0"/>
          </a:p>
          <a:p>
            <a:pPr lvl="0" algn="l" eaLnBrk="0" fontAlgn="base" hangingPunct="0">
              <a:lnSpc>
                <a:spcPct val="100000"/>
              </a:lnSpc>
              <a:spcBef>
                <a:spcPct val="0"/>
              </a:spcBef>
              <a:spcAft>
                <a:spcPct val="0"/>
              </a:spcAft>
              <a:buFontTx/>
              <a:buChar char="•"/>
            </a:pPr>
            <a:r>
              <a:rPr lang="tr-TR" altLang="tr-TR" sz="1600" b="1" dirty="0">
                <a:latin typeface="Arial" panose="020B0604020202020204" pitchFamily="34" charset="0"/>
              </a:rPr>
              <a:t>Gerekli Paketlerin Yüklenmesi:</a:t>
            </a:r>
            <a:endParaRPr lang="tr-TR" altLang="tr-TR" sz="16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tr-TR" altLang="tr-TR" sz="1600" dirty="0">
                <a:latin typeface="Arial" panose="020B0604020202020204" pitchFamily="34" charset="0"/>
              </a:rPr>
              <a:t>Gerekli tüm Python paketleri </a:t>
            </a:r>
            <a:r>
              <a:rPr lang="tr-TR" altLang="tr-TR" sz="1600" dirty="0">
                <a:latin typeface="Arial Unicode MS" panose="020B0604020202020204" pitchFamily="34" charset="-128"/>
              </a:rPr>
              <a:t>requirements.txt</a:t>
            </a:r>
            <a:r>
              <a:rPr lang="tr-TR" altLang="tr-TR" sz="1600" dirty="0"/>
              <a:t> dosyasından yüklenir.</a:t>
            </a:r>
            <a:endParaRPr lang="tr-TR" altLang="tr-TR" sz="1600" dirty="0">
              <a:latin typeface="Arial" panose="020B0604020202020204" pitchFamily="34" charset="0"/>
            </a:endParaRPr>
          </a:p>
          <a:p>
            <a:pPr lvl="0" algn="l" eaLnBrk="0" fontAlgn="base" hangingPunct="0">
              <a:lnSpc>
                <a:spcPct val="100000"/>
              </a:lnSpc>
              <a:spcBef>
                <a:spcPct val="0"/>
              </a:spcBef>
              <a:spcAft>
                <a:spcPct val="0"/>
              </a:spcAft>
            </a:pPr>
            <a:r>
              <a:rPr lang="tr-TR" altLang="tr-TR" sz="1600" dirty="0" err="1">
                <a:latin typeface="Arial Unicode MS" panose="020B0604020202020204" pitchFamily="34" charset="-128"/>
              </a:rPr>
              <a:t>pip</a:t>
            </a:r>
            <a:r>
              <a:rPr lang="tr-TR" altLang="tr-TR" sz="1600" dirty="0">
                <a:latin typeface="Arial Unicode MS" panose="020B0604020202020204" pitchFamily="34" charset="-128"/>
              </a:rPr>
              <a:t> </a:t>
            </a:r>
            <a:r>
              <a:rPr lang="tr-TR" altLang="tr-TR" sz="1600" dirty="0" err="1">
                <a:latin typeface="Arial Unicode MS" panose="020B0604020202020204" pitchFamily="34" charset="-128"/>
              </a:rPr>
              <a:t>install</a:t>
            </a:r>
            <a:r>
              <a:rPr lang="tr-TR" altLang="tr-TR" sz="1600" dirty="0">
                <a:latin typeface="Arial Unicode MS" panose="020B0604020202020204" pitchFamily="34" charset="-128"/>
              </a:rPr>
              <a:t> -r requirements.txt </a:t>
            </a:r>
            <a:endParaRPr lang="tr-TR" altLang="tr-TR" sz="1600" dirty="0"/>
          </a:p>
          <a:p>
            <a:pPr lvl="0" algn="l" eaLnBrk="0" fontAlgn="base" hangingPunct="0">
              <a:lnSpc>
                <a:spcPct val="100000"/>
              </a:lnSpc>
              <a:spcBef>
                <a:spcPct val="0"/>
              </a:spcBef>
              <a:spcAft>
                <a:spcPct val="0"/>
              </a:spcAft>
              <a:buFontTx/>
              <a:buChar char="•"/>
            </a:pPr>
            <a:r>
              <a:rPr lang="tr-TR" altLang="tr-TR" sz="1600" b="1" dirty="0">
                <a:latin typeface="Arial" panose="020B0604020202020204" pitchFamily="34" charset="0"/>
              </a:rPr>
              <a:t>Uygulamanın Çalıştırılması:</a:t>
            </a:r>
            <a:endParaRPr lang="tr-TR" altLang="tr-TR" sz="16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tr-TR" altLang="tr-TR" sz="1600" dirty="0">
                <a:latin typeface="Arial" panose="020B0604020202020204" pitchFamily="34" charset="0"/>
              </a:rPr>
              <a:t>Kullanıcılar, uygulamayı başlatmak için aşağıdaki komutu kullanarak projeyi çalıştırabilirler.</a:t>
            </a:r>
          </a:p>
          <a:p>
            <a:pPr lvl="0" algn="l" eaLnBrk="0" fontAlgn="base" hangingPunct="0">
              <a:lnSpc>
                <a:spcPct val="100000"/>
              </a:lnSpc>
              <a:spcBef>
                <a:spcPct val="0"/>
              </a:spcBef>
              <a:spcAft>
                <a:spcPct val="0"/>
              </a:spcAft>
            </a:pPr>
            <a:r>
              <a:rPr lang="tr-TR" altLang="tr-TR" sz="1600" dirty="0" err="1">
                <a:latin typeface="Arial Unicode MS" panose="020B0604020202020204" pitchFamily="34" charset="-128"/>
              </a:rPr>
              <a:t>streamlit</a:t>
            </a:r>
            <a:r>
              <a:rPr lang="tr-TR" altLang="tr-TR" sz="1600" dirty="0">
                <a:latin typeface="Arial Unicode MS" panose="020B0604020202020204" pitchFamily="34" charset="-128"/>
              </a:rPr>
              <a:t> </a:t>
            </a:r>
            <a:r>
              <a:rPr lang="tr-TR" altLang="tr-TR" sz="1600" dirty="0" err="1">
                <a:latin typeface="Arial Unicode MS" panose="020B0604020202020204" pitchFamily="34" charset="-128"/>
              </a:rPr>
              <a:t>run</a:t>
            </a:r>
            <a:r>
              <a:rPr lang="tr-TR" altLang="tr-TR" sz="1600" dirty="0">
                <a:latin typeface="Arial Unicode MS" panose="020B0604020202020204" pitchFamily="34" charset="-128"/>
              </a:rPr>
              <a:t> Streamlit/app.py </a:t>
            </a:r>
            <a:endParaRPr lang="tr-TR" altLang="tr-TR" sz="1600" dirty="0"/>
          </a:p>
          <a:p>
            <a:pPr lvl="0" algn="l" eaLnBrk="0" fontAlgn="base" hangingPunct="0">
              <a:lnSpc>
                <a:spcPct val="100000"/>
              </a:lnSpc>
              <a:spcBef>
                <a:spcPct val="0"/>
              </a:spcBef>
              <a:spcAft>
                <a:spcPct val="0"/>
              </a:spcAft>
              <a:buFontTx/>
              <a:buChar char="•"/>
            </a:pPr>
            <a:r>
              <a:rPr lang="tr-TR" altLang="tr-TR" sz="1600" b="1" dirty="0">
                <a:latin typeface="Arial" panose="020B0604020202020204" pitchFamily="34" charset="0"/>
              </a:rPr>
              <a:t>Erişim:</a:t>
            </a:r>
            <a:endParaRPr lang="tr-TR" altLang="tr-TR" sz="16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tr-TR" altLang="tr-TR" sz="1600" dirty="0">
                <a:latin typeface="Arial" panose="020B0604020202020204" pitchFamily="34" charset="0"/>
              </a:rPr>
              <a:t>Proje, </a:t>
            </a:r>
            <a:r>
              <a:rPr lang="tr-TR" altLang="tr-TR" sz="1600" b="1" dirty="0">
                <a:latin typeface="Arial" panose="020B0604020202020204" pitchFamily="34" charset="0"/>
                <a:hlinkClick r:id="rId3">
                  <a:extLst>
                    <a:ext uri="{A12FA001-AC4F-418D-AE19-62706E023703}">
                      <ahyp:hlinkClr xmlns:ahyp="http://schemas.microsoft.com/office/drawing/2018/hyperlinkcolor" val="tx"/>
                    </a:ext>
                  </a:extLst>
                </a:hlinkClick>
              </a:rPr>
              <a:t>http://localhost:8501</a:t>
            </a:r>
            <a:r>
              <a:rPr lang="tr-TR" altLang="tr-TR" sz="1600" dirty="0">
                <a:latin typeface="Arial" panose="020B0604020202020204" pitchFamily="34" charset="0"/>
              </a:rPr>
              <a:t> adresi üzerinden tarayıcıda açılacaktır.</a:t>
            </a:r>
          </a:p>
          <a:p>
            <a:pPr lvl="0" algn="l" eaLnBrk="0" fontAlgn="base" hangingPunct="0">
              <a:lnSpc>
                <a:spcPct val="100000"/>
              </a:lnSpc>
              <a:spcBef>
                <a:spcPct val="0"/>
              </a:spcBef>
              <a:spcAft>
                <a:spcPct val="0"/>
              </a:spcAft>
            </a:pPr>
            <a:endParaRPr lang="tr-TR" altLang="tr-TR" sz="1600" dirty="0">
              <a:latin typeface="Arial" panose="020B0604020202020204" pitchFamily="34" charset="0"/>
            </a:endParaRPr>
          </a:p>
          <a:p>
            <a:pPr lvl="1"/>
            <a:endParaRPr lang="tr-TR" sz="1600" dirty="0">
              <a:solidFill>
                <a:schemeClr val="bg1"/>
              </a:solidFill>
            </a:endParaRPr>
          </a:p>
        </p:txBody>
      </p:sp>
      <p:sp>
        <p:nvSpPr>
          <p:cNvPr id="5" name="Rectangle 2">
            <a:extLst>
              <a:ext uri="{FF2B5EF4-FFF2-40B4-BE49-F238E27FC236}">
                <a16:creationId xmlns:a16="http://schemas.microsoft.com/office/drawing/2014/main" id="{7BBACA35-FDDB-34E0-E4E9-A40C958C4C9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7882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55E27C7C-4B68-4BBC-BF36-8959D8493E4A}"/>
              </a:ext>
            </a:extLst>
          </p:cNvPr>
          <p:cNvSpPr>
            <a:spLocks noGrp="1"/>
          </p:cNvSpPr>
          <p:nvPr>
            <p:ph type="title"/>
          </p:nvPr>
        </p:nvSpPr>
        <p:spPr>
          <a:xfrm>
            <a:off x="838200" y="136525"/>
            <a:ext cx="10515600" cy="1325563"/>
          </a:xfrm>
        </p:spPr>
        <p:txBody>
          <a:bodyPr rtlCol="0">
            <a:normAutofit/>
          </a:bodyPr>
          <a:lstStyle/>
          <a:p>
            <a:r>
              <a:rPr lang="tr-TR" dirty="0"/>
              <a:t>Veri Ön İşleme Yöntemleri</a:t>
            </a:r>
            <a:endParaRPr lang="tr-TR" sz="5400" dirty="0"/>
          </a:p>
        </p:txBody>
      </p:sp>
      <p:sp>
        <p:nvSpPr>
          <p:cNvPr id="9" name="Slayt Numarası Yer Tutucusu 5">
            <a:extLst>
              <a:ext uri="{FF2B5EF4-FFF2-40B4-BE49-F238E27FC236}">
                <a16:creationId xmlns:a16="http://schemas.microsoft.com/office/drawing/2014/main" id="{4FC290B8-BF94-4636-BFAB-9FD67F4AAC6D}"/>
              </a:ext>
            </a:extLst>
          </p:cNvPr>
          <p:cNvSpPr>
            <a:spLocks noGrp="1"/>
          </p:cNvSpPr>
          <p:nvPr>
            <p:ph type="sldNum" sz="quarter" idx="12"/>
          </p:nvPr>
        </p:nvSpPr>
        <p:spPr>
          <a:xfrm>
            <a:off x="8610600" y="6356350"/>
            <a:ext cx="2743200" cy="365125"/>
          </a:xfrm>
        </p:spPr>
        <p:txBody>
          <a:bodyPr rtlCol="0"/>
          <a:lstStyle/>
          <a:p>
            <a:pPr rtl="0"/>
            <a:fld id="{D8DA9DAA-006C-4F4B-980E-E3DF019B24E2}" type="slidenum">
              <a:rPr lang="tr-TR" b="1" cap="all" spc="100" smtClean="0">
                <a:solidFill>
                  <a:schemeClr val="accent2"/>
                </a:solidFill>
              </a:rPr>
              <a:t>5</a:t>
            </a:fld>
            <a:endParaRPr lang="tr-TR" b="1" cap="all" spc="100" dirty="0">
              <a:solidFill>
                <a:schemeClr val="accent2"/>
              </a:solidFill>
            </a:endParaRPr>
          </a:p>
        </p:txBody>
      </p:sp>
      <p:sp>
        <p:nvSpPr>
          <p:cNvPr id="5" name="Rectangle 1">
            <a:extLst>
              <a:ext uri="{FF2B5EF4-FFF2-40B4-BE49-F238E27FC236}">
                <a16:creationId xmlns:a16="http://schemas.microsoft.com/office/drawing/2014/main" id="{D6FA606A-EBE4-5307-5172-5B5767FD25E1}"/>
              </a:ext>
            </a:extLst>
          </p:cNvPr>
          <p:cNvSpPr>
            <a:spLocks noGrp="1" noChangeArrowheads="1"/>
          </p:cNvSpPr>
          <p:nvPr>
            <p:ph idx="1"/>
          </p:nvPr>
        </p:nvSpPr>
        <p:spPr bwMode="auto">
          <a:xfrm>
            <a:off x="903514" y="1460599"/>
            <a:ext cx="613954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Veri Temizleme:</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Krediye Uygun İlanlar:</a:t>
            </a:r>
            <a:r>
              <a:rPr kumimoji="0" lang="tr-TR" altLang="tr-TR" sz="1800" b="0" i="0" u="none" strike="noStrike" cap="none" normalizeH="0" baseline="0" dirty="0">
                <a:ln>
                  <a:noFill/>
                </a:ln>
                <a:solidFill>
                  <a:schemeClr val="tx1"/>
                </a:solidFill>
                <a:effectLst/>
                <a:latin typeface="Arial" panose="020B0604020202020204" pitchFamily="34" charset="0"/>
              </a:rPr>
              <a:t> Yalnızca krediye uygun ilanlar, sistemde işleme alınır.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Eksik Veri Yönetimi:</a:t>
            </a:r>
            <a:r>
              <a:rPr kumimoji="0" lang="tr-TR" altLang="tr-TR" sz="1800" b="0" i="0" u="none" strike="noStrike" cap="none" normalizeH="0" baseline="0" dirty="0">
                <a:ln>
                  <a:noFill/>
                </a:ln>
                <a:solidFill>
                  <a:schemeClr val="tx1"/>
                </a:solidFill>
                <a:effectLst/>
                <a:latin typeface="Arial" panose="020B0604020202020204" pitchFamily="34" charset="0"/>
              </a:rPr>
              <a:t> Eksik veriler, </a:t>
            </a:r>
            <a:r>
              <a:rPr kumimoji="0" lang="tr-TR" altLang="tr-TR" sz="1800" b="1" i="0" u="none" strike="noStrike" cap="none" normalizeH="0" baseline="0" dirty="0" err="1">
                <a:ln>
                  <a:noFill/>
                </a:ln>
                <a:solidFill>
                  <a:schemeClr val="tx1"/>
                </a:solidFill>
                <a:effectLst/>
                <a:latin typeface="Arial" panose="020B0604020202020204" pitchFamily="34" charset="0"/>
              </a:rPr>
              <a:t>median</a:t>
            </a:r>
            <a:r>
              <a:rPr kumimoji="0" lang="tr-TR" altLang="tr-TR" sz="1800" b="0" i="0" u="none" strike="noStrike" cap="none" normalizeH="0" baseline="0" dirty="0">
                <a:ln>
                  <a:noFill/>
                </a:ln>
                <a:solidFill>
                  <a:schemeClr val="tx1"/>
                </a:solidFill>
                <a:effectLst/>
                <a:latin typeface="Arial" panose="020B0604020202020204" pitchFamily="34" charset="0"/>
              </a:rPr>
              <a:t> (ortalama) ya da </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1" i="0" u="none" strike="noStrike" cap="none" normalizeH="0" baseline="0" dirty="0" err="1">
                <a:ln>
                  <a:noFill/>
                </a:ln>
                <a:solidFill>
                  <a:schemeClr val="tx1"/>
                </a:solidFill>
                <a:effectLst/>
                <a:latin typeface="Arial" panose="020B0604020202020204" pitchFamily="34" charset="0"/>
              </a:rPr>
              <a:t>Unknown</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ile doldurulmuştur.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Yeni Özellikler (</a:t>
            </a:r>
            <a:r>
              <a:rPr kumimoji="0" lang="tr-TR" altLang="tr-TR" sz="1800" b="1" i="0" u="none" strike="noStrike" cap="none" normalizeH="0" baseline="0" dirty="0" err="1">
                <a:ln>
                  <a:noFill/>
                </a:ln>
                <a:solidFill>
                  <a:schemeClr val="tx1"/>
                </a:solidFill>
                <a:effectLst/>
                <a:latin typeface="Arial" panose="020B0604020202020204" pitchFamily="34" charset="0"/>
              </a:rPr>
              <a:t>Feature</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Engineering</a:t>
            </a:r>
            <a:r>
              <a:rPr kumimoji="0" lang="tr-TR" altLang="tr-TR" sz="1800" b="1" i="0" u="none" strike="noStrike" cap="none" normalizeH="0" baseline="0" dirty="0">
                <a:ln>
                  <a:noFill/>
                </a:ln>
                <a:solidFill>
                  <a:schemeClr val="tx1"/>
                </a:solidFill>
                <a:effectLst/>
                <a:latin typeface="Arial" panose="020B0604020202020204" pitchFamily="34" charset="0"/>
              </a:rPr>
              <a:t>):</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Bina Yaşı:</a:t>
            </a:r>
            <a:r>
              <a:rPr kumimoji="0" lang="tr-TR" altLang="tr-TR" sz="1800" b="0" i="0" u="none" strike="noStrike" cap="none" normalizeH="0" baseline="0" dirty="0">
                <a:ln>
                  <a:noFill/>
                </a:ln>
                <a:solidFill>
                  <a:schemeClr val="tx1"/>
                </a:solidFill>
                <a:effectLst/>
                <a:latin typeface="Arial" panose="020B0604020202020204" pitchFamily="34" charset="0"/>
              </a:rPr>
              <a:t> Binanın yaşı, fiyata etki eden önemli bir faktör olduğu için hesaplanıp sisteme dahil edilmiştir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BuildingAge</a:t>
            </a:r>
            <a:r>
              <a:rPr kumimoji="0" lang="tr-TR" altLang="tr-TR" sz="1800" b="0" i="0" u="none" strike="noStrike" cap="none" normalizeH="0" baseline="0" dirty="0">
                <a:ln>
                  <a:noFill/>
                </a:ln>
                <a:solidFill>
                  <a:schemeClr val="tx1"/>
                </a:solidFill>
                <a:effectLst/>
                <a:latin typeface="Arial" panose="020B0604020202020204" pitchFamily="34" charset="0"/>
              </a:rPr>
              <a:t> = 2020 - </a:t>
            </a:r>
            <a:r>
              <a:rPr kumimoji="0" lang="tr-TR" altLang="tr-TR" sz="1800" b="0" i="0" u="none" strike="noStrike" cap="none" normalizeH="0" baseline="0" dirty="0" err="1">
                <a:ln>
                  <a:noFill/>
                </a:ln>
                <a:solidFill>
                  <a:schemeClr val="tx1"/>
                </a:solidFill>
                <a:effectLst/>
                <a:latin typeface="Arial" panose="020B0604020202020204" pitchFamily="34" charset="0"/>
              </a:rPr>
              <a:t>BuildYear</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Net ve Brüt m²:</a:t>
            </a:r>
            <a:r>
              <a:rPr kumimoji="0" lang="tr-TR" altLang="tr-TR" sz="1800" b="0" i="0" u="none" strike="noStrike" cap="none" normalizeH="0" baseline="0" dirty="0">
                <a:ln>
                  <a:noFill/>
                </a:ln>
                <a:solidFill>
                  <a:schemeClr val="tx1"/>
                </a:solidFill>
                <a:effectLst/>
                <a:latin typeface="Arial" panose="020B0604020202020204" pitchFamily="34" charset="0"/>
              </a:rPr>
              <a:t> Gayrimenkulün net ve brüt m² değerleri arasındaki farklar hesaplanarak, verimlilik gibi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yeni özellikler türetilmiştir.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Oda Planı:</a:t>
            </a:r>
            <a:r>
              <a:rPr kumimoji="0" lang="tr-TR" altLang="tr-TR" sz="1800" b="0" i="0" u="none" strike="noStrike" cap="none" normalizeH="0" baseline="0" dirty="0">
                <a:ln>
                  <a:noFill/>
                </a:ln>
                <a:solidFill>
                  <a:schemeClr val="tx1"/>
                </a:solidFill>
                <a:effectLst/>
                <a:latin typeface="Arial" panose="020B0604020202020204" pitchFamily="34" charset="0"/>
              </a:rPr>
              <a:t> Oda ve salon sayısı, daha anlamlı hale getirilmiştir (örneğin, "2+1" planları).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Aykırı Değer Yönetimi: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Gerçekçi olmayan değerler, </a:t>
            </a:r>
            <a:r>
              <a:rPr kumimoji="0" lang="tr-TR" altLang="tr-TR" sz="1800" b="1" i="0" u="none" strike="noStrike" cap="none" normalizeH="0" baseline="0" dirty="0" err="1">
                <a:ln>
                  <a:noFill/>
                </a:ln>
                <a:solidFill>
                  <a:schemeClr val="tx1"/>
                </a:solidFill>
                <a:effectLst/>
                <a:latin typeface="Arial" panose="020B0604020202020204" pitchFamily="34" charset="0"/>
              </a:rPr>
              <a:t>clip</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1" i="0" u="none" strike="noStrike" cap="none" normalizeH="0" baseline="0" dirty="0" err="1">
                <a:ln>
                  <a:noFill/>
                </a:ln>
                <a:solidFill>
                  <a:schemeClr val="tx1"/>
                </a:solidFill>
                <a:effectLst/>
                <a:latin typeface="Arial" panose="020B0604020202020204" pitchFamily="34" charset="0"/>
              </a:rPr>
              <a:t>winsor</a:t>
            </a:r>
            <a:r>
              <a:rPr kumimoji="0" lang="tr-TR" altLang="tr-TR" sz="1800" b="0" i="0" u="none" strike="noStrike" cap="none" normalizeH="0" baseline="0" dirty="0">
                <a:ln>
                  <a:noFill/>
                </a:ln>
                <a:solidFill>
                  <a:schemeClr val="tx1"/>
                </a:solidFill>
                <a:effectLst/>
                <a:latin typeface="Arial" panose="020B0604020202020204" pitchFamily="34" charset="0"/>
              </a:rPr>
              <a:t> gibi yöntemlerle sınırlandırılmıştır.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7" name="Picture 6" descr="A blue broom sweeping a white paper with black numbers&#10;&#10;AI-generated content may be incorrect.">
            <a:extLst>
              <a:ext uri="{FF2B5EF4-FFF2-40B4-BE49-F238E27FC236}">
                <a16:creationId xmlns:a16="http://schemas.microsoft.com/office/drawing/2014/main" id="{98A27003-C8A3-C6B5-1BE4-5B8EAAC91C94}"/>
              </a:ext>
            </a:extLst>
          </p:cNvPr>
          <p:cNvPicPr>
            <a:picLocks noChangeAspect="1"/>
          </p:cNvPicPr>
          <p:nvPr/>
        </p:nvPicPr>
        <p:blipFill>
          <a:blip r:embed="rId3"/>
          <a:stretch>
            <a:fillRect/>
          </a:stretch>
        </p:blipFill>
        <p:spPr>
          <a:xfrm>
            <a:off x="7108371" y="1669426"/>
            <a:ext cx="4801783" cy="3316231"/>
          </a:xfrm>
          <a:prstGeom prst="rect">
            <a:avLst/>
          </a:prstGeom>
        </p:spPr>
      </p:pic>
    </p:spTree>
    <p:extLst>
      <p:ext uri="{BB962C8B-B14F-4D97-AF65-F5344CB8AC3E}">
        <p14:creationId xmlns:p14="http://schemas.microsoft.com/office/powerpoint/2010/main" val="78391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55E27C7C-4B68-4BBC-BF36-8959D8493E4A}"/>
              </a:ext>
            </a:extLst>
          </p:cNvPr>
          <p:cNvSpPr>
            <a:spLocks noGrp="1"/>
          </p:cNvSpPr>
          <p:nvPr>
            <p:ph type="title"/>
          </p:nvPr>
        </p:nvSpPr>
        <p:spPr>
          <a:xfrm>
            <a:off x="838200" y="0"/>
            <a:ext cx="10515600" cy="1325563"/>
          </a:xfrm>
        </p:spPr>
        <p:txBody>
          <a:bodyPr rtlCol="0">
            <a:normAutofit/>
          </a:bodyPr>
          <a:lstStyle/>
          <a:p>
            <a:r>
              <a:rPr lang="tr-TR" dirty="0"/>
              <a:t>Model Mimarisi ve Algoritmalar</a:t>
            </a:r>
            <a:endParaRPr lang="tr-TR" sz="5400" dirty="0"/>
          </a:p>
        </p:txBody>
      </p:sp>
      <p:sp>
        <p:nvSpPr>
          <p:cNvPr id="7" name="Slayt Numarası Yer Tutucusu 5">
            <a:extLst>
              <a:ext uri="{FF2B5EF4-FFF2-40B4-BE49-F238E27FC236}">
                <a16:creationId xmlns:a16="http://schemas.microsoft.com/office/drawing/2014/main" id="{4ECDE54D-4BD2-4764-A36A-8487DB61E7A6}"/>
              </a:ext>
            </a:extLst>
          </p:cNvPr>
          <p:cNvSpPr>
            <a:spLocks noGrp="1"/>
          </p:cNvSpPr>
          <p:nvPr>
            <p:ph type="sldNum" sz="quarter" idx="12"/>
          </p:nvPr>
        </p:nvSpPr>
        <p:spPr>
          <a:xfrm>
            <a:off x="8610600" y="6356350"/>
            <a:ext cx="2743200" cy="365125"/>
          </a:xfrm>
        </p:spPr>
        <p:txBody>
          <a:bodyPr rtlCol="0"/>
          <a:lstStyle/>
          <a:p>
            <a:pPr rtl="0"/>
            <a:fld id="{D8DA9DAA-006C-4F4B-980E-E3DF019B24E2}" type="slidenum">
              <a:rPr lang="tr-TR" b="1" cap="all" spc="100" smtClean="0">
                <a:solidFill>
                  <a:schemeClr val="accent2"/>
                </a:solidFill>
              </a:rPr>
              <a:t>6</a:t>
            </a:fld>
            <a:endParaRPr lang="tr-TR" b="1" cap="all" spc="100">
              <a:solidFill>
                <a:schemeClr val="accent2"/>
              </a:solidFill>
            </a:endParaRPr>
          </a:p>
        </p:txBody>
      </p:sp>
      <p:sp>
        <p:nvSpPr>
          <p:cNvPr id="3" name="Content Placeholder 2">
            <a:extLst>
              <a:ext uri="{FF2B5EF4-FFF2-40B4-BE49-F238E27FC236}">
                <a16:creationId xmlns:a16="http://schemas.microsoft.com/office/drawing/2014/main" id="{3B64B5CE-2F64-1DCD-3C42-1FD41E95061F}"/>
              </a:ext>
            </a:extLst>
          </p:cNvPr>
          <p:cNvSpPr>
            <a:spLocks noGrp="1"/>
          </p:cNvSpPr>
          <p:nvPr>
            <p:ph idx="1"/>
          </p:nvPr>
        </p:nvSpPr>
        <p:spPr/>
        <p:txBody>
          <a:bodyPr>
            <a:normAutofit fontScale="62500" lnSpcReduction="20000"/>
          </a:bodyPr>
          <a:lstStyle/>
          <a:p>
            <a:r>
              <a:rPr lang="tr-TR" b="1" dirty="0"/>
              <a:t>Model Seçimi:</a:t>
            </a:r>
            <a:endParaRPr lang="tr-TR" dirty="0"/>
          </a:p>
          <a:p>
            <a:pPr lvl="1"/>
            <a:r>
              <a:rPr lang="tr-TR" b="1" dirty="0" err="1"/>
              <a:t>LightGBM</a:t>
            </a:r>
            <a:r>
              <a:rPr lang="tr-TR" b="1" dirty="0"/>
              <a:t> (</a:t>
            </a:r>
            <a:r>
              <a:rPr lang="tr-TR" b="1" dirty="0" err="1"/>
              <a:t>Light</a:t>
            </a:r>
            <a:r>
              <a:rPr lang="tr-TR" b="1" dirty="0"/>
              <a:t> </a:t>
            </a:r>
            <a:r>
              <a:rPr lang="tr-TR" b="1" dirty="0" err="1"/>
              <a:t>Gradient</a:t>
            </a:r>
            <a:r>
              <a:rPr lang="tr-TR" b="1" dirty="0"/>
              <a:t> </a:t>
            </a:r>
            <a:r>
              <a:rPr lang="tr-TR" b="1" dirty="0" err="1"/>
              <a:t>Boosting</a:t>
            </a:r>
            <a:r>
              <a:rPr lang="tr-TR" b="1" dirty="0"/>
              <a:t> Machine):</a:t>
            </a:r>
            <a:endParaRPr lang="tr-TR" dirty="0"/>
          </a:p>
          <a:p>
            <a:pPr lvl="2"/>
            <a:r>
              <a:rPr lang="tr-TR" b="1" dirty="0"/>
              <a:t>Ağaç tabanlı bir algoritmadır</a:t>
            </a:r>
            <a:r>
              <a:rPr lang="tr-TR" dirty="0"/>
              <a:t> ve büyük veri setlerinde hızlı sonuçlar elde etmenin yanı sıra </a:t>
            </a:r>
            <a:r>
              <a:rPr lang="tr-TR" b="1" dirty="0"/>
              <a:t>yüksek doğruluk</a:t>
            </a:r>
            <a:r>
              <a:rPr lang="tr-TR" dirty="0"/>
              <a:t> sağlar.</a:t>
            </a:r>
          </a:p>
          <a:p>
            <a:pPr lvl="2"/>
            <a:r>
              <a:rPr lang="tr-TR" b="1" dirty="0"/>
              <a:t>Avantajları:</a:t>
            </a:r>
            <a:endParaRPr lang="tr-TR" dirty="0"/>
          </a:p>
          <a:p>
            <a:pPr lvl="3"/>
            <a:r>
              <a:rPr lang="tr-TR" dirty="0"/>
              <a:t>Hızlı eğitim süresi.</a:t>
            </a:r>
          </a:p>
          <a:p>
            <a:pPr lvl="3"/>
            <a:r>
              <a:rPr lang="tr-TR" dirty="0"/>
              <a:t>Düşük bellek kullanımı.</a:t>
            </a:r>
          </a:p>
          <a:p>
            <a:pPr lvl="3"/>
            <a:r>
              <a:rPr lang="tr-TR" dirty="0"/>
              <a:t>Büyük veri kümeleriyle daha verimli çalışması.</a:t>
            </a:r>
          </a:p>
          <a:p>
            <a:pPr lvl="2"/>
            <a:r>
              <a:rPr lang="tr-TR" b="1" dirty="0"/>
              <a:t>Kullanım Amacı:</a:t>
            </a:r>
            <a:r>
              <a:rPr lang="tr-TR" dirty="0"/>
              <a:t> Bu proje, </a:t>
            </a:r>
            <a:r>
              <a:rPr lang="tr-TR" dirty="0" err="1"/>
              <a:t>LightGBM</a:t>
            </a:r>
            <a:r>
              <a:rPr lang="tr-TR" dirty="0"/>
              <a:t> modelini </a:t>
            </a:r>
            <a:r>
              <a:rPr lang="tr-TR" b="1" dirty="0"/>
              <a:t>fiyat tahminleri</a:t>
            </a:r>
            <a:r>
              <a:rPr lang="tr-TR" dirty="0"/>
              <a:t> için tercih etmiştir.</a:t>
            </a:r>
          </a:p>
          <a:p>
            <a:pPr lvl="1"/>
            <a:r>
              <a:rPr lang="tr-TR" b="1" dirty="0" err="1"/>
              <a:t>XGBoost</a:t>
            </a:r>
            <a:r>
              <a:rPr lang="tr-TR" b="1" dirty="0"/>
              <a:t>:</a:t>
            </a:r>
            <a:endParaRPr lang="tr-TR" dirty="0"/>
          </a:p>
          <a:p>
            <a:pPr lvl="2"/>
            <a:r>
              <a:rPr lang="tr-TR" dirty="0"/>
              <a:t>Yüksek doğruluk ve stabilite sunar, ancak daha fazla </a:t>
            </a:r>
            <a:r>
              <a:rPr lang="tr-TR" b="1" dirty="0"/>
              <a:t>hesaplama kaynağı</a:t>
            </a:r>
            <a:r>
              <a:rPr lang="tr-TR" dirty="0"/>
              <a:t> gerektirir.</a:t>
            </a:r>
          </a:p>
          <a:p>
            <a:pPr lvl="2"/>
            <a:r>
              <a:rPr lang="tr-TR" dirty="0"/>
              <a:t>Bu model, daha </a:t>
            </a:r>
            <a:r>
              <a:rPr lang="tr-TR" b="1" dirty="0"/>
              <a:t>geniş veri kümeleri</a:t>
            </a:r>
            <a:r>
              <a:rPr lang="tr-TR" dirty="0"/>
              <a:t> üzerinde test edilmiştir ve projeye dahil </a:t>
            </a:r>
            <a:r>
              <a:rPr lang="tr-TR" dirty="0" err="1"/>
              <a:t>edilmiştir.Az</a:t>
            </a:r>
            <a:r>
              <a:rPr lang="tr-TR" dirty="0"/>
              <a:t> </a:t>
            </a:r>
            <a:r>
              <a:rPr lang="tr-TR" dirty="0" err="1"/>
              <a:t>veriseti</a:t>
            </a:r>
            <a:r>
              <a:rPr lang="tr-TR" dirty="0"/>
              <a:t> yüzünden düşük performans sağladığı için 1.modelden sonra çıkarılmıştır</a:t>
            </a:r>
          </a:p>
          <a:p>
            <a:r>
              <a:rPr lang="tr-TR" b="1" dirty="0"/>
              <a:t>Model Parametreleri ve Düzenleme (</a:t>
            </a:r>
            <a:r>
              <a:rPr lang="tr-TR" b="1" dirty="0" err="1"/>
              <a:t>Hyperparameter</a:t>
            </a:r>
            <a:r>
              <a:rPr lang="tr-TR" b="1" dirty="0"/>
              <a:t> </a:t>
            </a:r>
            <a:r>
              <a:rPr lang="tr-TR" b="1" dirty="0" err="1"/>
              <a:t>Tuning</a:t>
            </a:r>
            <a:r>
              <a:rPr lang="tr-TR" b="1" dirty="0"/>
              <a:t>):</a:t>
            </a:r>
            <a:endParaRPr lang="tr-TR" dirty="0"/>
          </a:p>
          <a:p>
            <a:pPr lvl="1"/>
            <a:r>
              <a:rPr lang="tr-TR" b="1" dirty="0" err="1"/>
              <a:t>Hiperparametre</a:t>
            </a:r>
            <a:r>
              <a:rPr lang="tr-TR" b="1" dirty="0"/>
              <a:t> optimizasyonu</a:t>
            </a:r>
            <a:r>
              <a:rPr lang="tr-TR" dirty="0"/>
              <a:t> (grid </a:t>
            </a:r>
            <a:r>
              <a:rPr lang="tr-TR" dirty="0" err="1"/>
              <a:t>search</a:t>
            </a:r>
            <a:r>
              <a:rPr lang="tr-TR" dirty="0"/>
              <a:t>, </a:t>
            </a:r>
            <a:r>
              <a:rPr lang="tr-TR" dirty="0" err="1"/>
              <a:t>random</a:t>
            </a:r>
            <a:r>
              <a:rPr lang="tr-TR" dirty="0"/>
              <a:t> </a:t>
            </a:r>
            <a:r>
              <a:rPr lang="tr-TR" dirty="0" err="1"/>
              <a:t>search</a:t>
            </a:r>
            <a:r>
              <a:rPr lang="tr-TR" dirty="0"/>
              <a:t> vb.) ile en iyi sonuçlar elde edilmiştir.</a:t>
            </a:r>
          </a:p>
          <a:p>
            <a:pPr lvl="1"/>
            <a:r>
              <a:rPr lang="tr-TR" dirty="0"/>
              <a:t>Modellerde, </a:t>
            </a:r>
            <a:r>
              <a:rPr lang="tr-TR" b="1" dirty="0" err="1"/>
              <a:t>overfitting</a:t>
            </a:r>
            <a:r>
              <a:rPr lang="tr-TR" dirty="0"/>
              <a:t> riskini kontrol etmek amacıyla </a:t>
            </a:r>
            <a:r>
              <a:rPr lang="tr-TR" b="1" dirty="0"/>
              <a:t>erken durdurma</a:t>
            </a:r>
            <a:r>
              <a:rPr lang="tr-TR" dirty="0"/>
              <a:t> ve </a:t>
            </a:r>
            <a:r>
              <a:rPr lang="tr-TR" b="1" dirty="0"/>
              <a:t>genelleme</a:t>
            </a:r>
            <a:r>
              <a:rPr lang="tr-TR" dirty="0"/>
              <a:t> teknikleri kullanılmıştır.</a:t>
            </a:r>
          </a:p>
          <a:p>
            <a:r>
              <a:rPr lang="tr-TR" b="1" dirty="0"/>
              <a:t>Model Değerlendirme:</a:t>
            </a:r>
            <a:endParaRPr lang="tr-TR" dirty="0"/>
          </a:p>
          <a:p>
            <a:pPr lvl="1"/>
            <a:r>
              <a:rPr lang="tr-TR" dirty="0"/>
              <a:t>Modelin doğruluğu, eğitim ve doğrulama setleri arasındaki farklar sürekli izlenmiştir. Bu süreçte, </a:t>
            </a:r>
            <a:r>
              <a:rPr lang="tr-TR" dirty="0" err="1"/>
              <a:t>overfitting</a:t>
            </a:r>
            <a:r>
              <a:rPr lang="tr-TR" dirty="0"/>
              <a:t> (aşırı öğrenme) riski azaltılmıştır.</a:t>
            </a:r>
          </a:p>
          <a:p>
            <a:endParaRPr lang="tr-TR" dirty="0"/>
          </a:p>
        </p:txBody>
      </p:sp>
    </p:spTree>
    <p:extLst>
      <p:ext uri="{BB962C8B-B14F-4D97-AF65-F5344CB8AC3E}">
        <p14:creationId xmlns:p14="http://schemas.microsoft.com/office/powerpoint/2010/main" val="277827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FDFB95-2803-4882-8DE6-333A75D37240}"/>
              </a:ext>
            </a:extLst>
          </p:cNvPr>
          <p:cNvSpPr>
            <a:spLocks noGrp="1"/>
          </p:cNvSpPr>
          <p:nvPr>
            <p:ph type="ctrTitle"/>
          </p:nvPr>
        </p:nvSpPr>
        <p:spPr>
          <a:xfrm>
            <a:off x="6236366" y="-2021695"/>
            <a:ext cx="4434840" cy="3236976"/>
          </a:xfrm>
        </p:spPr>
        <p:txBody>
          <a:bodyPr rtlCol="0"/>
          <a:lstStyle/>
          <a:p>
            <a:r>
              <a:rPr lang="tr-TR" dirty="0"/>
              <a:t>Yatırım Karar Mantığı</a:t>
            </a:r>
          </a:p>
        </p:txBody>
      </p:sp>
      <p:sp>
        <p:nvSpPr>
          <p:cNvPr id="10" name="Slayt Numarası Yer Tutucusu 9">
            <a:extLst>
              <a:ext uri="{FF2B5EF4-FFF2-40B4-BE49-F238E27FC236}">
                <a16:creationId xmlns:a16="http://schemas.microsoft.com/office/drawing/2014/main" id="{FE0D311A-C366-4A86-9404-C0F5CBF9C811}"/>
              </a:ext>
            </a:extLst>
          </p:cNvPr>
          <p:cNvSpPr>
            <a:spLocks noGrp="1"/>
          </p:cNvSpPr>
          <p:nvPr>
            <p:ph type="sldNum" sz="quarter" idx="12"/>
          </p:nvPr>
        </p:nvSpPr>
        <p:spPr/>
        <p:txBody>
          <a:bodyPr rtlCol="0"/>
          <a:lstStyle/>
          <a:p>
            <a:pPr rtl="0"/>
            <a:fld id="{D8DA9DAA-006C-4F4B-980E-E3DF019B24E2}" type="slidenum">
              <a:rPr lang="tr-TR" smtClean="0"/>
              <a:pPr/>
              <a:t>7</a:t>
            </a:fld>
            <a:endParaRPr lang="tr-TR"/>
          </a:p>
        </p:txBody>
      </p:sp>
      <p:sp>
        <p:nvSpPr>
          <p:cNvPr id="4" name="Rectangle 1">
            <a:extLst>
              <a:ext uri="{FF2B5EF4-FFF2-40B4-BE49-F238E27FC236}">
                <a16:creationId xmlns:a16="http://schemas.microsoft.com/office/drawing/2014/main" id="{D376921F-A0C9-90C4-2226-B29871ABE493}"/>
              </a:ext>
            </a:extLst>
          </p:cNvPr>
          <p:cNvSpPr>
            <a:spLocks noGrp="1" noChangeArrowheads="1"/>
          </p:cNvSpPr>
          <p:nvPr>
            <p:ph type="subTitle" idx="1"/>
          </p:nvPr>
        </p:nvSpPr>
        <p:spPr bwMode="auto">
          <a:xfrm>
            <a:off x="6047014" y="1733275"/>
            <a:ext cx="512717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Arial" panose="020B0604020202020204" pitchFamily="34" charset="0"/>
              </a:rPr>
              <a:t>Adil Değer Hesaplama:</a:t>
            </a:r>
            <a:endParaRPr kumimoji="0" lang="tr-TR" altLang="tr-T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latin typeface="Arial" panose="020B0604020202020204" pitchFamily="34" charset="0"/>
              </a:rPr>
              <a:t>Model, her ilan için </a:t>
            </a:r>
            <a:r>
              <a:rPr kumimoji="0" lang="tr-TR" altLang="tr-TR" sz="1600" b="1" i="0" u="none" strike="noStrike" cap="none" normalizeH="0" baseline="0" dirty="0">
                <a:ln>
                  <a:noFill/>
                </a:ln>
                <a:solidFill>
                  <a:schemeClr val="tx1"/>
                </a:solidFill>
                <a:effectLst/>
                <a:latin typeface="Arial" panose="020B0604020202020204" pitchFamily="34" charset="0"/>
              </a:rPr>
              <a:t>Adil </a:t>
            </a:r>
            <a:r>
              <a:rPr kumimoji="0" lang="tr-TR" altLang="tr-TR" sz="1600" b="1" i="0" u="none" strike="noStrike" cap="none" normalizeH="0" baseline="0" dirty="0" err="1">
                <a:ln>
                  <a:noFill/>
                </a:ln>
                <a:solidFill>
                  <a:schemeClr val="tx1"/>
                </a:solidFill>
                <a:effectLst/>
                <a:latin typeface="Arial" panose="020B0604020202020204" pitchFamily="34" charset="0"/>
              </a:rPr>
              <a:t>Değer</a:t>
            </a:r>
            <a:r>
              <a:rPr kumimoji="0" lang="tr-TR" altLang="tr-TR" sz="1600" b="0" i="0" u="none" strike="noStrike" cap="none" normalizeH="0" baseline="0" dirty="0" err="1">
                <a:ln>
                  <a:noFill/>
                </a:ln>
                <a:solidFill>
                  <a:schemeClr val="tx1"/>
                </a:solidFill>
                <a:effectLst/>
                <a:latin typeface="Arial" panose="020B0604020202020204" pitchFamily="34" charset="0"/>
              </a:rPr>
              <a:t>yi</a:t>
            </a:r>
            <a:r>
              <a:rPr kumimoji="0" lang="tr-TR" altLang="tr-TR" sz="1600" b="0" i="0" u="none" strike="noStrike" cap="none" normalizeH="0" baseline="0" dirty="0">
                <a:ln>
                  <a:noFill/>
                </a:ln>
                <a:solidFill>
                  <a:schemeClr val="tx1"/>
                </a:solidFill>
                <a:effectLst/>
                <a:latin typeface="Arial" panose="020B0604020202020204" pitchFamily="34" charset="0"/>
              </a:rPr>
              <a:t> tahmin eder. Bu değer, bir gayrimenkulün gerçek piyasa değerini temsil eder.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Arial" panose="020B0604020202020204" pitchFamily="34" charset="0"/>
              </a:rPr>
              <a:t>Karar Etiketleri (</a:t>
            </a:r>
            <a:r>
              <a:rPr kumimoji="0" lang="tr-TR" altLang="tr-TR" sz="1600" b="1" i="0" u="none" strike="noStrike" cap="none" normalizeH="0" baseline="0" dirty="0" err="1">
                <a:ln>
                  <a:noFill/>
                </a:ln>
                <a:solidFill>
                  <a:schemeClr val="tx1"/>
                </a:solidFill>
                <a:effectLst/>
                <a:latin typeface="Arial" panose="020B0604020202020204" pitchFamily="34" charset="0"/>
              </a:rPr>
              <a:t>Opportunity</a:t>
            </a:r>
            <a:r>
              <a:rPr kumimoji="0" lang="tr-TR" altLang="tr-TR" sz="1600" b="1" i="0" u="none" strike="noStrike" cap="none" normalizeH="0" baseline="0" dirty="0">
                <a:ln>
                  <a:noFill/>
                </a:ln>
                <a:solidFill>
                  <a:schemeClr val="tx1"/>
                </a:solidFill>
                <a:effectLst/>
                <a:latin typeface="Arial" panose="020B0604020202020204" pitchFamily="34" charset="0"/>
              </a:rPr>
              <a:t>, Normal, </a:t>
            </a:r>
            <a:r>
              <a:rPr kumimoji="0" lang="tr-TR" altLang="tr-TR" sz="1600" b="1" i="0" u="none" strike="noStrike" cap="none" normalizeH="0" baseline="0" dirty="0" err="1">
                <a:ln>
                  <a:noFill/>
                </a:ln>
                <a:solidFill>
                  <a:schemeClr val="tx1"/>
                </a:solidFill>
                <a:effectLst/>
                <a:latin typeface="Arial" panose="020B0604020202020204" pitchFamily="34" charset="0"/>
              </a:rPr>
              <a:t>Expensive</a:t>
            </a:r>
            <a:r>
              <a:rPr kumimoji="0" lang="tr-TR" altLang="tr-TR" sz="1600" b="1" i="0" u="none" strike="noStrike" cap="none" normalizeH="0" baseline="0" dirty="0">
                <a:ln>
                  <a:noFill/>
                </a:ln>
                <a:solidFill>
                  <a:schemeClr val="tx1"/>
                </a:solidFill>
                <a:effectLst/>
                <a:latin typeface="Arial" panose="020B0604020202020204" pitchFamily="34" charset="0"/>
              </a:rPr>
              <a:t>):</a:t>
            </a:r>
            <a:endParaRPr kumimoji="0" lang="tr-TR" altLang="tr-T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Arial" panose="020B0604020202020204" pitchFamily="34" charset="0"/>
              </a:rPr>
              <a:t>Fırsat Eşiği:</a:t>
            </a:r>
            <a:r>
              <a:rPr kumimoji="0" lang="tr-TR" altLang="tr-TR" sz="1600" b="0" i="0" u="none" strike="noStrike" cap="none" normalizeH="0" baseline="0" dirty="0">
                <a:ln>
                  <a:noFill/>
                </a:ln>
                <a:solidFill>
                  <a:schemeClr val="tx1"/>
                </a:solidFill>
                <a:effectLst/>
                <a:latin typeface="Arial" panose="020B0604020202020204" pitchFamily="34" charset="0"/>
              </a:rPr>
              <a:t> Eğer </a:t>
            </a:r>
            <a:r>
              <a:rPr kumimoji="0" lang="tr-TR" altLang="tr-TR" sz="1600" b="1" i="0" u="none" strike="noStrike" cap="none" normalizeH="0" baseline="0" dirty="0" err="1">
                <a:ln>
                  <a:noFill/>
                </a:ln>
                <a:solidFill>
                  <a:schemeClr val="tx1"/>
                </a:solidFill>
                <a:effectLst/>
                <a:latin typeface="Arial" panose="020B0604020202020204" pitchFamily="34" charset="0"/>
              </a:rPr>
              <a:t>Price</a:t>
            </a:r>
            <a:r>
              <a:rPr kumimoji="0" lang="tr-TR" altLang="tr-TR" sz="1600" b="0" i="0" u="none" strike="noStrike" cap="none" normalizeH="0" baseline="0" dirty="0">
                <a:ln>
                  <a:noFill/>
                </a:ln>
                <a:solidFill>
                  <a:schemeClr val="tx1"/>
                </a:solidFill>
                <a:effectLst/>
                <a:latin typeface="Arial" panose="020B0604020202020204" pitchFamily="34" charset="0"/>
              </a:rPr>
              <a:t> (ilan fiyatı), </a:t>
            </a:r>
            <a:r>
              <a:rPr kumimoji="0" lang="tr-TR" altLang="tr-TR" sz="1600" b="1" i="0" u="none" strike="noStrike" cap="none" normalizeH="0" baseline="0" dirty="0" err="1">
                <a:ln>
                  <a:noFill/>
                </a:ln>
                <a:solidFill>
                  <a:schemeClr val="tx1"/>
                </a:solidFill>
                <a:effectLst/>
                <a:latin typeface="Arial" panose="020B0604020202020204" pitchFamily="34" charset="0"/>
              </a:rPr>
              <a:t>Fair</a:t>
            </a:r>
            <a:r>
              <a:rPr kumimoji="0" lang="tr-TR" altLang="tr-TR" sz="1600" b="1" i="0" u="none" strike="noStrike" cap="none" normalizeH="0" baseline="0" dirty="0">
                <a:ln>
                  <a:noFill/>
                </a:ln>
                <a:solidFill>
                  <a:schemeClr val="tx1"/>
                </a:solidFill>
                <a:effectLst/>
                <a:latin typeface="Arial" panose="020B0604020202020204" pitchFamily="34" charset="0"/>
              </a:rPr>
              <a:t> Value</a:t>
            </a:r>
            <a:r>
              <a:rPr kumimoji="0" lang="tr-TR" altLang="tr-TR" sz="1600" b="0" i="0" u="none" strike="noStrike" cap="none" normalizeH="0" baseline="0" dirty="0">
                <a:ln>
                  <a:noFill/>
                </a:ln>
                <a:solidFill>
                  <a:schemeClr val="tx1"/>
                </a:solidFill>
                <a:effectLst/>
                <a:latin typeface="Arial" panose="020B0604020202020204" pitchFamily="34" charset="0"/>
              </a:rPr>
              <a:t> değerinin %10 daha altındaysa, bu ilan </a:t>
            </a:r>
            <a:r>
              <a:rPr kumimoji="0" lang="tr-TR" altLang="tr-TR" sz="1600" b="1" i="0" u="none" strike="noStrike" cap="none" normalizeH="0" baseline="0" dirty="0">
                <a:ln>
                  <a:noFill/>
                </a:ln>
                <a:solidFill>
                  <a:schemeClr val="tx1"/>
                </a:solidFill>
                <a:effectLst/>
                <a:latin typeface="Arial" panose="020B0604020202020204" pitchFamily="34" charset="0"/>
              </a:rPr>
              <a:t>Fırsat</a:t>
            </a:r>
            <a:r>
              <a:rPr kumimoji="0" lang="tr-TR" altLang="tr-TR" sz="1600" b="0" i="0" u="none" strike="noStrike" cap="none" normalizeH="0" baseline="0" dirty="0">
                <a:ln>
                  <a:noFill/>
                </a:ln>
                <a:solidFill>
                  <a:schemeClr val="tx1"/>
                </a:solidFill>
                <a:effectLst/>
                <a:latin typeface="Arial" panose="020B0604020202020204" pitchFamily="34" charset="0"/>
              </a:rPr>
              <a:t> olarak işaretlenir. Yatırımcılar bu ilanları daha cazip bulur.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Arial" panose="020B0604020202020204" pitchFamily="34" charset="0"/>
              </a:rPr>
              <a:t>Pahalı Eşiği:</a:t>
            </a:r>
            <a:r>
              <a:rPr kumimoji="0" lang="tr-TR" altLang="tr-TR" sz="1600" b="0" i="0" u="none" strike="noStrike" cap="none" normalizeH="0" baseline="0" dirty="0">
                <a:ln>
                  <a:noFill/>
                </a:ln>
                <a:solidFill>
                  <a:schemeClr val="tx1"/>
                </a:solidFill>
                <a:effectLst/>
                <a:latin typeface="Arial" panose="020B0604020202020204" pitchFamily="34" charset="0"/>
              </a:rPr>
              <a:t> Eğer ilan fiyatı, </a:t>
            </a:r>
            <a:r>
              <a:rPr kumimoji="0" lang="tr-TR" altLang="tr-TR" sz="1600" b="1" i="0" u="none" strike="noStrike" cap="none" normalizeH="0" baseline="0" dirty="0" err="1">
                <a:ln>
                  <a:noFill/>
                </a:ln>
                <a:solidFill>
                  <a:schemeClr val="tx1"/>
                </a:solidFill>
                <a:effectLst/>
                <a:latin typeface="Arial" panose="020B0604020202020204" pitchFamily="34" charset="0"/>
              </a:rPr>
              <a:t>Fair</a:t>
            </a:r>
            <a:r>
              <a:rPr kumimoji="0" lang="tr-TR" altLang="tr-TR" sz="1600" b="1" i="0" u="none" strike="noStrike" cap="none" normalizeH="0" baseline="0" dirty="0">
                <a:ln>
                  <a:noFill/>
                </a:ln>
                <a:solidFill>
                  <a:schemeClr val="tx1"/>
                </a:solidFill>
                <a:effectLst/>
                <a:latin typeface="Arial" panose="020B0604020202020204" pitchFamily="34" charset="0"/>
              </a:rPr>
              <a:t> Value</a:t>
            </a:r>
            <a:r>
              <a:rPr kumimoji="0" lang="tr-TR" altLang="tr-TR" sz="1600" b="0" i="0" u="none" strike="noStrike" cap="none" normalizeH="0" baseline="0" dirty="0">
                <a:ln>
                  <a:noFill/>
                </a:ln>
                <a:solidFill>
                  <a:schemeClr val="tx1"/>
                </a:solidFill>
                <a:effectLst/>
                <a:latin typeface="Arial" panose="020B0604020202020204" pitchFamily="34" charset="0"/>
              </a:rPr>
              <a:t> değerinin %10 daha üstündeyse, ilan </a:t>
            </a:r>
            <a:r>
              <a:rPr kumimoji="0" lang="tr-TR" altLang="tr-TR" sz="1600" b="1" i="0" u="none" strike="noStrike" cap="none" normalizeH="0" baseline="0" dirty="0">
                <a:ln>
                  <a:noFill/>
                </a:ln>
                <a:solidFill>
                  <a:schemeClr val="tx1"/>
                </a:solidFill>
                <a:effectLst/>
                <a:latin typeface="Arial" panose="020B0604020202020204" pitchFamily="34" charset="0"/>
              </a:rPr>
              <a:t>Pahalı</a:t>
            </a:r>
            <a:r>
              <a:rPr kumimoji="0" lang="tr-TR" altLang="tr-TR" sz="1600" b="0" i="0" u="none" strike="noStrike" cap="none" normalizeH="0" baseline="0" dirty="0">
                <a:ln>
                  <a:noFill/>
                </a:ln>
                <a:solidFill>
                  <a:schemeClr val="tx1"/>
                </a:solidFill>
                <a:effectLst/>
                <a:latin typeface="Arial" panose="020B0604020202020204" pitchFamily="34" charset="0"/>
              </a:rPr>
              <a:t> olarak işaretlenir.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Arial" panose="020B0604020202020204" pitchFamily="34" charset="0"/>
              </a:rPr>
              <a:t>Normal Durum:</a:t>
            </a:r>
            <a:r>
              <a:rPr kumimoji="0" lang="tr-TR" altLang="tr-TR" sz="1600" b="0" i="0" u="none" strike="noStrike" cap="none" normalizeH="0" baseline="0" dirty="0">
                <a:ln>
                  <a:noFill/>
                </a:ln>
                <a:solidFill>
                  <a:schemeClr val="tx1"/>
                </a:solidFill>
                <a:effectLst/>
                <a:latin typeface="Arial" panose="020B0604020202020204" pitchFamily="34" charset="0"/>
              </a:rPr>
              <a:t> Fiyat ile adil değer arasındaki fark, belirli bir eşik değerinin içinde kalıyorsa, ilan </a:t>
            </a:r>
            <a:r>
              <a:rPr kumimoji="0" lang="tr-TR" altLang="tr-TR" sz="1600" b="1" i="0" u="none" strike="noStrike" cap="none" normalizeH="0" baseline="0" dirty="0">
                <a:ln>
                  <a:noFill/>
                </a:ln>
                <a:solidFill>
                  <a:schemeClr val="tx1"/>
                </a:solidFill>
                <a:effectLst/>
                <a:latin typeface="Arial" panose="020B0604020202020204" pitchFamily="34" charset="0"/>
              </a:rPr>
              <a:t>Normal</a:t>
            </a:r>
            <a:r>
              <a:rPr kumimoji="0" lang="tr-TR" altLang="tr-TR" sz="1600" b="0" i="0" u="none" strike="noStrike" cap="none" normalizeH="0" baseline="0" dirty="0">
                <a:ln>
                  <a:noFill/>
                </a:ln>
                <a:solidFill>
                  <a:schemeClr val="tx1"/>
                </a:solidFill>
                <a:effectLst/>
                <a:latin typeface="Arial" panose="020B0604020202020204" pitchFamily="34" charset="0"/>
              </a:rPr>
              <a:t> olarak işaretlenir.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Arial" panose="020B0604020202020204" pitchFamily="34" charset="0"/>
              </a:rPr>
              <a:t>Matematiksel Eşikler:</a:t>
            </a:r>
            <a:endParaRPr kumimoji="0" lang="tr-TR" altLang="tr-T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tx1"/>
                </a:solidFill>
                <a:effectLst/>
                <a:latin typeface="Arial" panose="020B0604020202020204" pitchFamily="34" charset="0"/>
              </a:rPr>
              <a:t>Eşik değerleri modelin tahminlerinin doğruluğunu artırmak için </a:t>
            </a:r>
            <a:r>
              <a:rPr kumimoji="0" lang="tr-TR" altLang="tr-TR" sz="1600" b="1" i="0" u="none" strike="noStrike" cap="none" normalizeH="0" baseline="0" dirty="0">
                <a:ln>
                  <a:noFill/>
                </a:ln>
                <a:solidFill>
                  <a:schemeClr val="tx1"/>
                </a:solidFill>
                <a:effectLst/>
                <a:latin typeface="Arial" panose="020B0604020202020204" pitchFamily="34" charset="0"/>
              </a:rPr>
              <a:t>matematiksel formüllerle</a:t>
            </a:r>
            <a:r>
              <a:rPr kumimoji="0" lang="tr-TR" altLang="tr-TR" sz="1600" b="0" i="0" u="none" strike="noStrike" cap="none" normalizeH="0" baseline="0" dirty="0">
                <a:ln>
                  <a:noFill/>
                </a:ln>
                <a:solidFill>
                  <a:schemeClr val="tx1"/>
                </a:solidFill>
                <a:effectLst/>
                <a:latin typeface="Arial" panose="020B0604020202020204" pitchFamily="34" charset="0"/>
              </a:rPr>
              <a:t> hesaplanır. Bu sayede, yatırımcılar daha doğru kararlar verebilir.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0" i="0" u="none" strike="noStrike" cap="none" normalizeH="0" baseline="0" dirty="0">
              <a:ln>
                <a:noFill/>
              </a:ln>
              <a:solidFill>
                <a:schemeClr val="tx1"/>
              </a:solidFill>
              <a:effectLst/>
              <a:latin typeface="Arial" panose="020B0604020202020204" pitchFamily="34" charset="0"/>
            </a:endParaRPr>
          </a:p>
        </p:txBody>
      </p:sp>
      <p:pic>
        <p:nvPicPr>
          <p:cNvPr id="15" name="Picture 14" descr="A screenshot of a phone&#10;&#10;AI-generated content may be incorrect.">
            <a:extLst>
              <a:ext uri="{FF2B5EF4-FFF2-40B4-BE49-F238E27FC236}">
                <a16:creationId xmlns:a16="http://schemas.microsoft.com/office/drawing/2014/main" id="{C5F93D83-AC80-17B2-F125-DFF3366714D2}"/>
              </a:ext>
            </a:extLst>
          </p:cNvPr>
          <p:cNvPicPr>
            <a:picLocks noChangeAspect="1"/>
          </p:cNvPicPr>
          <p:nvPr/>
        </p:nvPicPr>
        <p:blipFill>
          <a:blip r:embed="rId3"/>
          <a:stretch>
            <a:fillRect/>
          </a:stretch>
        </p:blipFill>
        <p:spPr>
          <a:xfrm>
            <a:off x="1677851" y="283271"/>
            <a:ext cx="2315030" cy="6438204"/>
          </a:xfrm>
          <a:prstGeom prst="rect">
            <a:avLst/>
          </a:prstGeom>
        </p:spPr>
      </p:pic>
    </p:spTree>
    <p:extLst>
      <p:ext uri="{BB962C8B-B14F-4D97-AF65-F5344CB8AC3E}">
        <p14:creationId xmlns:p14="http://schemas.microsoft.com/office/powerpoint/2010/main" val="3561473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F287FE-1EFA-4C15-BFDD-1EE3F2D37BF1}"/>
              </a:ext>
            </a:extLst>
          </p:cNvPr>
          <p:cNvSpPr>
            <a:spLocks noGrp="1"/>
          </p:cNvSpPr>
          <p:nvPr>
            <p:ph type="title"/>
          </p:nvPr>
        </p:nvSpPr>
        <p:spPr>
          <a:xfrm>
            <a:off x="576072" y="365125"/>
            <a:ext cx="10901553" cy="644525"/>
          </a:xfrm>
        </p:spPr>
        <p:txBody>
          <a:bodyPr rtlCol="0">
            <a:normAutofit fontScale="90000"/>
          </a:bodyPr>
          <a:lstStyle/>
          <a:p>
            <a:r>
              <a:rPr lang="tr-TR" dirty="0"/>
              <a:t>Model Performans Değerlendirmesi (</a:t>
            </a:r>
            <a:r>
              <a:rPr lang="tr-TR" dirty="0" err="1"/>
              <a:t>Metrics</a:t>
            </a:r>
            <a:r>
              <a:rPr lang="tr-TR" dirty="0"/>
              <a:t>)</a:t>
            </a:r>
          </a:p>
        </p:txBody>
      </p:sp>
      <p:sp>
        <p:nvSpPr>
          <p:cNvPr id="6" name="Slayt Numarası Yer Tutucusu 5">
            <a:extLst>
              <a:ext uri="{FF2B5EF4-FFF2-40B4-BE49-F238E27FC236}">
                <a16:creationId xmlns:a16="http://schemas.microsoft.com/office/drawing/2014/main" id="{8DE31DF2-0419-4016-924C-21929AC1EBFC}"/>
              </a:ext>
            </a:extLst>
          </p:cNvPr>
          <p:cNvSpPr>
            <a:spLocks noGrp="1"/>
          </p:cNvSpPr>
          <p:nvPr>
            <p:ph type="sldNum" sz="quarter" idx="12"/>
          </p:nvPr>
        </p:nvSpPr>
        <p:spPr/>
        <p:txBody>
          <a:bodyPr rtlCol="0"/>
          <a:lstStyle/>
          <a:p>
            <a:pPr rtl="0"/>
            <a:fld id="{D8DA9DAA-006C-4F4B-980E-E3DF019B24E2}" type="slidenum">
              <a:rPr lang="tr-TR" smtClean="0"/>
              <a:pPr/>
              <a:t>8</a:t>
            </a:fld>
            <a:endParaRPr lang="tr-TR" dirty="0"/>
          </a:p>
        </p:txBody>
      </p:sp>
      <p:sp>
        <p:nvSpPr>
          <p:cNvPr id="9" name="Rectangle 1">
            <a:extLst>
              <a:ext uri="{FF2B5EF4-FFF2-40B4-BE49-F238E27FC236}">
                <a16:creationId xmlns:a16="http://schemas.microsoft.com/office/drawing/2014/main" id="{EA3C4190-6ABC-6FC3-B150-5BFDBA20A189}"/>
              </a:ext>
            </a:extLst>
          </p:cNvPr>
          <p:cNvSpPr>
            <a:spLocks noChangeArrowheads="1"/>
          </p:cNvSpPr>
          <p:nvPr/>
        </p:nvSpPr>
        <p:spPr bwMode="auto">
          <a:xfrm>
            <a:off x="240411" y="1564834"/>
            <a:ext cx="11572874"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effectLst/>
                <a:latin typeface="Arial" panose="020B0604020202020204" pitchFamily="34" charset="0"/>
              </a:rPr>
              <a:t>Anahtar Performans Göstergeleri (</a:t>
            </a:r>
            <a:r>
              <a:rPr kumimoji="0" lang="tr-TR" altLang="tr-TR" sz="1600" b="1" i="0" u="none" strike="noStrike" cap="none" normalizeH="0" baseline="0" dirty="0" err="1">
                <a:ln>
                  <a:noFill/>
                </a:ln>
                <a:effectLst/>
                <a:latin typeface="Arial" panose="020B0604020202020204" pitchFamily="34" charset="0"/>
              </a:rPr>
              <a:t>KPIs</a:t>
            </a:r>
            <a:r>
              <a:rPr kumimoji="0" lang="tr-TR" altLang="tr-TR" sz="1600" b="1" i="0" u="none" strike="noStrike" cap="none" normalizeH="0" baseline="0" dirty="0">
                <a:ln>
                  <a:noFill/>
                </a:ln>
                <a:effectLst/>
                <a:latin typeface="Arial" panose="020B0604020202020204" pitchFamily="34" charset="0"/>
              </a:rPr>
              <a:t>):</a:t>
            </a:r>
            <a:endParaRPr kumimoji="0" lang="tr-TR" altLang="tr-TR"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effectLst/>
                <a:latin typeface="Arial" panose="020B0604020202020204" pitchFamily="34" charset="0"/>
              </a:rPr>
              <a:t>RMSE (</a:t>
            </a:r>
            <a:r>
              <a:rPr kumimoji="0" lang="tr-TR" altLang="tr-TR" sz="1600" b="1" i="0" u="none" strike="noStrike" cap="none" normalizeH="0" baseline="0" dirty="0" err="1">
                <a:ln>
                  <a:noFill/>
                </a:ln>
                <a:effectLst/>
                <a:latin typeface="Arial" panose="020B0604020202020204" pitchFamily="34" charset="0"/>
              </a:rPr>
              <a:t>Root</a:t>
            </a:r>
            <a:r>
              <a:rPr kumimoji="0" lang="tr-TR" altLang="tr-TR" sz="1600" b="1" i="0" u="none" strike="noStrike" cap="none" normalizeH="0" baseline="0" dirty="0">
                <a:ln>
                  <a:noFill/>
                </a:ln>
                <a:effectLst/>
                <a:latin typeface="Arial" panose="020B0604020202020204" pitchFamily="34" charset="0"/>
              </a:rPr>
              <a:t> </a:t>
            </a:r>
            <a:r>
              <a:rPr kumimoji="0" lang="tr-TR" altLang="tr-TR" sz="1600" b="1" i="0" u="none" strike="noStrike" cap="none" normalizeH="0" baseline="0" dirty="0" err="1">
                <a:ln>
                  <a:noFill/>
                </a:ln>
                <a:effectLst/>
                <a:latin typeface="Arial" panose="020B0604020202020204" pitchFamily="34" charset="0"/>
              </a:rPr>
              <a:t>Mean</a:t>
            </a:r>
            <a:r>
              <a:rPr kumimoji="0" lang="tr-TR" altLang="tr-TR" sz="1600" b="1" i="0" u="none" strike="noStrike" cap="none" normalizeH="0" baseline="0" dirty="0">
                <a:ln>
                  <a:noFill/>
                </a:ln>
                <a:effectLst/>
                <a:latin typeface="Arial" panose="020B0604020202020204" pitchFamily="34" charset="0"/>
              </a:rPr>
              <a:t> </a:t>
            </a:r>
            <a:r>
              <a:rPr kumimoji="0" lang="tr-TR" altLang="tr-TR" sz="1600" b="1" i="0" u="none" strike="noStrike" cap="none" normalizeH="0" baseline="0" dirty="0" err="1">
                <a:ln>
                  <a:noFill/>
                </a:ln>
                <a:effectLst/>
                <a:latin typeface="Arial" panose="020B0604020202020204" pitchFamily="34" charset="0"/>
              </a:rPr>
              <a:t>Squared</a:t>
            </a:r>
            <a:r>
              <a:rPr kumimoji="0" lang="tr-TR" altLang="tr-TR" sz="1600" b="1" i="0" u="none" strike="noStrike" cap="none" normalizeH="0" baseline="0" dirty="0">
                <a:ln>
                  <a:noFill/>
                </a:ln>
                <a:effectLst/>
                <a:latin typeface="Arial" panose="020B0604020202020204" pitchFamily="34" charset="0"/>
              </a:rPr>
              <a:t> </a:t>
            </a:r>
            <a:r>
              <a:rPr kumimoji="0" lang="tr-TR" altLang="tr-TR" sz="1600" b="1" i="0" u="none" strike="noStrike" cap="none" normalizeH="0" baseline="0" dirty="0" err="1">
                <a:ln>
                  <a:noFill/>
                </a:ln>
                <a:effectLst/>
                <a:latin typeface="Arial" panose="020B0604020202020204" pitchFamily="34" charset="0"/>
              </a:rPr>
              <a:t>Error</a:t>
            </a:r>
            <a:r>
              <a:rPr kumimoji="0" lang="tr-TR" altLang="tr-TR" sz="1600" b="1" i="0" u="none" strike="noStrike" cap="none" normalizeH="0" baseline="0" dirty="0">
                <a:ln>
                  <a:noFill/>
                </a:ln>
                <a:effectLst/>
                <a:latin typeface="Arial" panose="020B0604020202020204" pitchFamily="34" charset="0"/>
              </a:rPr>
              <a:t>):</a:t>
            </a:r>
            <a:endParaRPr kumimoji="0" lang="tr-TR" altLang="tr-TR" sz="1600"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bg1"/>
                </a:solidFill>
                <a:effectLst/>
                <a:latin typeface="Arial" panose="020B0604020202020204" pitchFamily="34" charset="0"/>
              </a:rPr>
              <a:t>Modelin </a:t>
            </a:r>
            <a:r>
              <a:rPr kumimoji="0" lang="tr-TR" altLang="tr-TR" sz="1600" b="1" i="0" u="none" strike="noStrike" cap="none" normalizeH="0" baseline="0" dirty="0">
                <a:ln>
                  <a:noFill/>
                </a:ln>
                <a:solidFill>
                  <a:schemeClr val="bg1"/>
                </a:solidFill>
                <a:effectLst/>
                <a:latin typeface="Arial" panose="020B0604020202020204" pitchFamily="34" charset="0"/>
              </a:rPr>
              <a:t>ortalama hata</a:t>
            </a:r>
            <a:r>
              <a:rPr kumimoji="0" lang="tr-TR" altLang="tr-TR" sz="1600" b="0" i="0" u="none" strike="noStrike" cap="none" normalizeH="0" baseline="0" dirty="0">
                <a:ln>
                  <a:noFill/>
                </a:ln>
                <a:solidFill>
                  <a:schemeClr val="bg1"/>
                </a:solidFill>
                <a:effectLst/>
                <a:latin typeface="Arial" panose="020B0604020202020204" pitchFamily="34" charset="0"/>
              </a:rPr>
              <a:t> miktarını ölçen bir metriktir.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bg1"/>
                </a:solidFill>
                <a:effectLst/>
                <a:latin typeface="Arial" panose="020B0604020202020204" pitchFamily="34" charset="0"/>
              </a:rPr>
              <a:t> Düşük bir RMSE değeri, modelin daha doğru tahminler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bg1"/>
                </a:solidFill>
                <a:effectLst/>
                <a:latin typeface="Arial" panose="020B0604020202020204" pitchFamily="34" charset="0"/>
              </a:rPr>
              <a:t>yaptığını gösterir.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effectLst/>
                <a:latin typeface="Arial" panose="020B0604020202020204" pitchFamily="34" charset="0"/>
              </a:rPr>
              <a:t>R² (R-kare):</a:t>
            </a:r>
            <a:endParaRPr kumimoji="0" lang="tr-TR" altLang="tr-TR" sz="1600" b="0" i="0" u="none" strike="noStrike" cap="none" normalizeH="0" baseline="0" dirty="0">
              <a:ln>
                <a:noFill/>
              </a:ln>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bg1"/>
                </a:solidFill>
                <a:effectLst/>
                <a:latin typeface="Arial" panose="020B0604020202020204" pitchFamily="34" charset="0"/>
              </a:rPr>
              <a:t>Modelin ne kadar doğrulukla tahmin yaptığını gösteren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0" i="0" u="none" strike="noStrike" cap="none" normalizeH="0" baseline="0" dirty="0">
                <a:ln>
                  <a:noFill/>
                </a:ln>
                <a:solidFill>
                  <a:schemeClr val="bg1"/>
                </a:solidFill>
                <a:effectLst/>
                <a:latin typeface="Arial" panose="020B0604020202020204" pitchFamily="34" charset="0"/>
              </a:rPr>
              <a:t> bir metriktir. Yüksek bir R² değeri, modelin </a:t>
            </a:r>
            <a:r>
              <a:rPr kumimoji="0" lang="tr-TR" altLang="tr-TR" sz="1600" b="1" i="0" u="none" strike="noStrike" cap="none" normalizeH="0" baseline="0" dirty="0">
                <a:ln>
                  <a:noFill/>
                </a:ln>
                <a:solidFill>
                  <a:schemeClr val="bg1"/>
                </a:solidFill>
                <a:effectLst/>
                <a:latin typeface="Arial" panose="020B0604020202020204" pitchFamily="34" charset="0"/>
              </a:rPr>
              <a:t>fiyat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bg1"/>
                </a:solidFill>
                <a:effectLst/>
                <a:latin typeface="Arial" panose="020B0604020202020204" pitchFamily="34" charset="0"/>
              </a:rPr>
              <a:t> tahminlerini</a:t>
            </a:r>
            <a:r>
              <a:rPr kumimoji="0" lang="tr-TR" altLang="tr-TR" sz="1600" b="0" i="0" u="none" strike="noStrike" cap="none" normalizeH="0" baseline="0" dirty="0">
                <a:ln>
                  <a:noFill/>
                </a:ln>
                <a:solidFill>
                  <a:schemeClr val="bg1"/>
                </a:solidFill>
                <a:effectLst/>
                <a:latin typeface="Arial" panose="020B0604020202020204" pitchFamily="34" charset="0"/>
              </a:rPr>
              <a:t> doğru şekilde yapabildiğini gösterir.</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effectLst/>
                <a:latin typeface="Arial" panose="020B0604020202020204" pitchFamily="34" charset="0"/>
              </a:rPr>
              <a:t>Eğitim ve Doğrulama Performansı:</a:t>
            </a:r>
            <a:endParaRPr kumimoji="0" lang="tr-TR" altLang="tr-TR" sz="16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effectLst/>
                <a:latin typeface="Arial" panose="020B0604020202020204" pitchFamily="34" charset="0"/>
              </a:rPr>
              <a:t>Eğitim Seti Performansı:</a:t>
            </a:r>
            <a:r>
              <a:rPr kumimoji="0" lang="tr-TR" altLang="tr-TR" sz="1600" b="0" i="0" u="none" strike="noStrike" cap="none" normalizeH="0" baseline="0" dirty="0">
                <a:ln>
                  <a:noFill/>
                </a:ln>
                <a:effectLst/>
                <a:latin typeface="Arial" panose="020B0604020202020204" pitchFamily="34" charset="0"/>
              </a:rPr>
              <a:t> </a:t>
            </a:r>
            <a:r>
              <a:rPr kumimoji="0" lang="tr-TR" altLang="tr-TR" sz="1600" b="0" i="0" u="none" strike="noStrike" cap="none" normalizeH="0" baseline="0" dirty="0">
                <a:ln>
                  <a:noFill/>
                </a:ln>
                <a:solidFill>
                  <a:schemeClr val="bg1"/>
                </a:solidFill>
                <a:effectLst/>
                <a:latin typeface="Arial" panose="020B0604020202020204" pitchFamily="34" charset="0"/>
              </a:rPr>
              <a:t>Model, eğitim seti üzerinde iyi performans gösterse de, doğrulama seti üzerinde de aynı doğruluğa ulaşmalıdır. Bu, modelin </a:t>
            </a:r>
            <a:r>
              <a:rPr kumimoji="0" lang="tr-TR" altLang="tr-TR" sz="1600" b="1" i="0" u="none" strike="noStrike" cap="none" normalizeH="0" baseline="0" dirty="0">
                <a:ln>
                  <a:noFill/>
                </a:ln>
                <a:solidFill>
                  <a:schemeClr val="bg1"/>
                </a:solidFill>
                <a:effectLst/>
                <a:latin typeface="Arial" panose="020B0604020202020204" pitchFamily="34" charset="0"/>
              </a:rPr>
              <a:t>genelleme</a:t>
            </a:r>
            <a:r>
              <a:rPr kumimoji="0" lang="tr-TR" altLang="tr-TR" sz="1600" b="0" i="0" u="none" strike="noStrike" cap="none" normalizeH="0" baseline="0" dirty="0">
                <a:ln>
                  <a:noFill/>
                </a:ln>
                <a:solidFill>
                  <a:schemeClr val="bg1"/>
                </a:solidFill>
                <a:effectLst/>
                <a:latin typeface="Arial" panose="020B0604020202020204" pitchFamily="34" charset="0"/>
              </a:rPr>
              <a:t> yeteneğini gösterir.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effectLst/>
                <a:latin typeface="Arial" panose="020B0604020202020204" pitchFamily="34" charset="0"/>
              </a:rPr>
              <a:t>Doğrulama Seti Performansı:</a:t>
            </a:r>
            <a:r>
              <a:rPr kumimoji="0" lang="tr-TR" altLang="tr-TR" sz="1600" b="0" i="0" u="none" strike="noStrike" cap="none" normalizeH="0" baseline="0" dirty="0">
                <a:ln>
                  <a:noFill/>
                </a:ln>
                <a:effectLst/>
                <a:latin typeface="Arial" panose="020B0604020202020204" pitchFamily="34" charset="0"/>
              </a:rPr>
              <a:t> </a:t>
            </a:r>
            <a:r>
              <a:rPr kumimoji="0" lang="tr-TR" altLang="tr-TR" sz="1600" b="0" i="0" u="none" strike="noStrike" cap="none" normalizeH="0" baseline="0" dirty="0">
                <a:ln>
                  <a:noFill/>
                </a:ln>
                <a:solidFill>
                  <a:schemeClr val="bg1"/>
                </a:solidFill>
                <a:effectLst/>
                <a:latin typeface="Arial" panose="020B0604020202020204" pitchFamily="34" charset="0"/>
              </a:rPr>
              <a:t>Modelin doğrulama seti üzerinde elde ettiği sonuçlar, modelin </a:t>
            </a:r>
            <a:r>
              <a:rPr kumimoji="0" lang="tr-TR" altLang="tr-TR" sz="1600" b="1" i="0" u="none" strike="noStrike" cap="none" normalizeH="0" baseline="0" dirty="0" err="1">
                <a:ln>
                  <a:noFill/>
                </a:ln>
                <a:solidFill>
                  <a:schemeClr val="bg1"/>
                </a:solidFill>
                <a:effectLst/>
                <a:latin typeface="Arial" panose="020B0604020202020204" pitchFamily="34" charset="0"/>
              </a:rPr>
              <a:t>overfitting</a:t>
            </a:r>
            <a:r>
              <a:rPr kumimoji="0" lang="tr-TR" altLang="tr-TR" sz="1600" b="0" i="0" u="none" strike="noStrike" cap="none" normalizeH="0" baseline="0" dirty="0">
                <a:ln>
                  <a:noFill/>
                </a:ln>
                <a:solidFill>
                  <a:schemeClr val="bg1"/>
                </a:solidFill>
                <a:effectLst/>
                <a:latin typeface="Arial" panose="020B0604020202020204" pitchFamily="34" charset="0"/>
              </a:rPr>
              <a:t> yapıp yapmadığını kontrol etmek için önemlidir.</a:t>
            </a:r>
          </a:p>
          <a:p>
            <a:pPr eaLnBrk="0" fontAlgn="base" hangingPunct="0">
              <a:spcBef>
                <a:spcPct val="0"/>
              </a:spcBef>
              <a:spcAft>
                <a:spcPct val="0"/>
              </a:spcAft>
              <a:buFontTx/>
              <a:buChar char="•"/>
            </a:pPr>
            <a:r>
              <a:rPr kumimoji="0" lang="tr-TR" altLang="tr-TR" sz="1600" b="1" i="0" u="none" strike="noStrike" cap="none" normalizeH="0" baseline="0" dirty="0">
                <a:ln>
                  <a:noFill/>
                </a:ln>
                <a:solidFill>
                  <a:schemeClr val="bg1"/>
                </a:solidFill>
                <a:effectLst/>
                <a:latin typeface="Arial" panose="020B0604020202020204" pitchFamily="34" charset="0"/>
              </a:rPr>
              <a:t>Modelin </a:t>
            </a:r>
            <a:r>
              <a:rPr kumimoji="0" lang="tr-TR" altLang="tr-TR" sz="1600" b="1" i="0" u="none" strike="noStrike" cap="none" normalizeH="0" baseline="0" dirty="0" err="1">
                <a:ln>
                  <a:noFill/>
                </a:ln>
                <a:solidFill>
                  <a:schemeClr val="bg1"/>
                </a:solidFill>
                <a:effectLst/>
                <a:latin typeface="Arial" panose="020B0604020202020204" pitchFamily="34" charset="0"/>
              </a:rPr>
              <a:t>İyileştirilmesi:</a:t>
            </a:r>
            <a:r>
              <a:rPr lang="tr-TR" altLang="tr-TR" sz="1600" dirty="0" err="1">
                <a:solidFill>
                  <a:schemeClr val="bg1"/>
                </a:solidFill>
                <a:latin typeface="Arial" panose="020B0604020202020204" pitchFamily="34" charset="0"/>
              </a:rPr>
              <a:t>Eğitim</a:t>
            </a:r>
            <a:r>
              <a:rPr lang="tr-TR" altLang="tr-TR" sz="1600" dirty="0">
                <a:solidFill>
                  <a:schemeClr val="bg1"/>
                </a:solidFill>
                <a:latin typeface="Arial" panose="020B0604020202020204" pitchFamily="34" charset="0"/>
              </a:rPr>
              <a:t> ve doğrulama setleri arasındaki farklar izlenerek </a:t>
            </a:r>
            <a:r>
              <a:rPr lang="tr-TR" altLang="tr-TR" sz="1600" b="1" dirty="0">
                <a:solidFill>
                  <a:schemeClr val="bg1"/>
                </a:solidFill>
                <a:latin typeface="Arial" panose="020B0604020202020204" pitchFamily="34" charset="0"/>
              </a:rPr>
              <a:t>model iyileştirmeleri</a:t>
            </a:r>
            <a:r>
              <a:rPr lang="tr-TR" altLang="tr-TR" sz="1600" dirty="0">
                <a:solidFill>
                  <a:schemeClr val="bg1"/>
                </a:solidFill>
                <a:latin typeface="Arial" panose="020B0604020202020204" pitchFamily="34" charset="0"/>
              </a:rPr>
              <a:t> yapılmış ve </a:t>
            </a:r>
            <a:r>
              <a:rPr lang="tr-TR" altLang="tr-TR" sz="1600" dirty="0" err="1">
                <a:solidFill>
                  <a:schemeClr val="bg1"/>
                </a:solidFill>
                <a:latin typeface="Arial" panose="020B0604020202020204" pitchFamily="34" charset="0"/>
              </a:rPr>
              <a:t>overfitting</a:t>
            </a:r>
            <a:r>
              <a:rPr lang="tr-TR" altLang="tr-TR" sz="1600" dirty="0">
                <a:solidFill>
                  <a:schemeClr val="bg1"/>
                </a:solidFill>
                <a:latin typeface="Arial" panose="020B0604020202020204" pitchFamily="34" charset="0"/>
              </a:rPr>
              <a:t> riski minimize edilmiştir.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0" i="0" u="none" strike="noStrike" cap="none" normalizeH="0" baseline="0" dirty="0">
              <a:ln>
                <a:noFill/>
              </a:ln>
              <a:solidFill>
                <a:schemeClr val="bg1"/>
              </a:solidFill>
              <a:effectLst/>
              <a:latin typeface="Arial" panose="020B0604020202020204" pitchFamily="34" charset="0"/>
            </a:endParaRPr>
          </a:p>
        </p:txBody>
      </p:sp>
      <p:pic>
        <p:nvPicPr>
          <p:cNvPr id="11" name="Picture 10" descr="A screenshot of a computer&#10;&#10;AI-generated content may be incorrect.">
            <a:extLst>
              <a:ext uri="{FF2B5EF4-FFF2-40B4-BE49-F238E27FC236}">
                <a16:creationId xmlns:a16="http://schemas.microsoft.com/office/drawing/2014/main" id="{92DC2FBE-8B12-675C-2BBA-2630C216627E}"/>
              </a:ext>
            </a:extLst>
          </p:cNvPr>
          <p:cNvPicPr>
            <a:picLocks noChangeAspect="1"/>
          </p:cNvPicPr>
          <p:nvPr/>
        </p:nvPicPr>
        <p:blipFill>
          <a:blip r:embed="rId3"/>
          <a:stretch>
            <a:fillRect/>
          </a:stretch>
        </p:blipFill>
        <p:spPr>
          <a:xfrm>
            <a:off x="6114192" y="1680062"/>
            <a:ext cx="5837397" cy="2139463"/>
          </a:xfrm>
          <a:prstGeom prst="rect">
            <a:avLst/>
          </a:prstGeom>
        </p:spPr>
      </p:pic>
    </p:spTree>
    <p:extLst>
      <p:ext uri="{BB962C8B-B14F-4D97-AF65-F5344CB8AC3E}">
        <p14:creationId xmlns:p14="http://schemas.microsoft.com/office/powerpoint/2010/main" val="227002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485278-3D07-466F-8351-667A2EBEABB8}"/>
              </a:ext>
            </a:extLst>
          </p:cNvPr>
          <p:cNvSpPr>
            <a:spLocks noGrp="1"/>
          </p:cNvSpPr>
          <p:nvPr>
            <p:ph type="title"/>
          </p:nvPr>
        </p:nvSpPr>
        <p:spPr>
          <a:xfrm>
            <a:off x="838200" y="365125"/>
            <a:ext cx="10648950" cy="703673"/>
          </a:xfrm>
        </p:spPr>
        <p:txBody>
          <a:bodyPr rtlCol="0">
            <a:normAutofit fontScale="90000"/>
          </a:bodyPr>
          <a:lstStyle/>
          <a:p>
            <a:r>
              <a:rPr lang="tr-TR" dirty="0"/>
              <a:t>Canlı Demo ve Kullanıcı Arayüzü</a:t>
            </a:r>
          </a:p>
        </p:txBody>
      </p:sp>
      <p:sp>
        <p:nvSpPr>
          <p:cNvPr id="6" name="Slayt Numarası Yer Tutucusu 5">
            <a:extLst>
              <a:ext uri="{FF2B5EF4-FFF2-40B4-BE49-F238E27FC236}">
                <a16:creationId xmlns:a16="http://schemas.microsoft.com/office/drawing/2014/main" id="{AB55FF1C-3CBD-419A-9DE4-7A8AA6371B6A}"/>
              </a:ext>
            </a:extLst>
          </p:cNvPr>
          <p:cNvSpPr>
            <a:spLocks noGrp="1"/>
          </p:cNvSpPr>
          <p:nvPr>
            <p:ph type="sldNum" sz="quarter" idx="12"/>
          </p:nvPr>
        </p:nvSpPr>
        <p:spPr/>
        <p:txBody>
          <a:bodyPr rtlCol="0">
            <a:normAutofit/>
          </a:bodyPr>
          <a:lstStyle/>
          <a:p>
            <a:pPr rtl="0">
              <a:spcAft>
                <a:spcPts val="600"/>
              </a:spcAft>
            </a:pPr>
            <a:fld id="{D8DA9DAA-006C-4F4B-980E-E3DF019B24E2}" type="slidenum">
              <a:rPr lang="tr-TR" b="1" cap="all" spc="100" smtClean="0">
                <a:solidFill>
                  <a:schemeClr val="accent2"/>
                </a:solidFill>
              </a:rPr>
              <a:pPr>
                <a:spcAft>
                  <a:spcPts val="600"/>
                </a:spcAft>
              </a:pPr>
              <a:t>9</a:t>
            </a:fld>
            <a:endParaRPr lang="tr-TR" b="1" cap="all" spc="100" dirty="0">
              <a:solidFill>
                <a:schemeClr val="accent2"/>
              </a:solidFill>
            </a:endParaRPr>
          </a:p>
        </p:txBody>
      </p:sp>
      <p:sp>
        <p:nvSpPr>
          <p:cNvPr id="4" name="Content Placeholder 3">
            <a:extLst>
              <a:ext uri="{FF2B5EF4-FFF2-40B4-BE49-F238E27FC236}">
                <a16:creationId xmlns:a16="http://schemas.microsoft.com/office/drawing/2014/main" id="{D03C95A8-8AD4-51FD-EB79-E36BBB56AE1A}"/>
              </a:ext>
            </a:extLst>
          </p:cNvPr>
          <p:cNvSpPr>
            <a:spLocks noGrp="1"/>
          </p:cNvSpPr>
          <p:nvPr>
            <p:ph idx="1"/>
          </p:nvPr>
        </p:nvSpPr>
        <p:spPr>
          <a:xfrm>
            <a:off x="838200" y="1825625"/>
            <a:ext cx="6562725" cy="4351338"/>
          </a:xfrm>
        </p:spPr>
        <p:txBody>
          <a:bodyPr>
            <a:normAutofit fontScale="85000" lnSpcReduction="20000"/>
          </a:bodyPr>
          <a:lstStyle/>
          <a:p>
            <a:r>
              <a:rPr lang="tr-TR" b="1" dirty="0" err="1"/>
              <a:t>Streamlit</a:t>
            </a:r>
            <a:r>
              <a:rPr lang="tr-TR" b="1" dirty="0"/>
              <a:t> Kullanıcı Arayüzü:</a:t>
            </a:r>
            <a:endParaRPr lang="tr-TR" dirty="0"/>
          </a:p>
          <a:p>
            <a:pPr lvl="1"/>
            <a:r>
              <a:rPr lang="tr-TR" dirty="0"/>
              <a:t>Projede kullanılan </a:t>
            </a:r>
            <a:r>
              <a:rPr lang="tr-TR" b="1" dirty="0" err="1"/>
              <a:t>Streamlit</a:t>
            </a:r>
            <a:r>
              <a:rPr lang="tr-TR" dirty="0"/>
              <a:t> arayüzü sayesinde, kullanıcılar, sadece birkaç tıklama ile </a:t>
            </a:r>
            <a:r>
              <a:rPr lang="tr-TR" b="1" dirty="0"/>
              <a:t>Adil </a:t>
            </a:r>
            <a:r>
              <a:rPr lang="tr-TR" b="1" dirty="0" err="1"/>
              <a:t>Değer</a:t>
            </a:r>
            <a:r>
              <a:rPr lang="tr-TR" dirty="0" err="1"/>
              <a:t>yi</a:t>
            </a:r>
            <a:r>
              <a:rPr lang="tr-TR" dirty="0"/>
              <a:t> ve karar etiketlerini anında görüntüleyebilirler.</a:t>
            </a:r>
          </a:p>
          <a:p>
            <a:pPr lvl="1"/>
            <a:r>
              <a:rPr lang="tr-TR" b="1" dirty="0"/>
              <a:t>Canlı Analiz:</a:t>
            </a:r>
            <a:r>
              <a:rPr lang="tr-TR" dirty="0"/>
              <a:t> Kullanıcı, emlak bilgilerini girerek anında </a:t>
            </a:r>
            <a:r>
              <a:rPr lang="tr-TR" b="1" dirty="0"/>
              <a:t>Adil Değer</a:t>
            </a:r>
            <a:r>
              <a:rPr lang="tr-TR" dirty="0"/>
              <a:t> tahmini alabilir ve bununla birlikte ilan fiyatı ile karşılaştırma yaparak karar etiketi (Fırsat/Normal/Pahalı) alabilir.</a:t>
            </a:r>
          </a:p>
          <a:p>
            <a:pPr lvl="1"/>
            <a:r>
              <a:rPr lang="tr-TR" b="1" dirty="0"/>
              <a:t>CSV </a:t>
            </a:r>
            <a:r>
              <a:rPr lang="tr-TR" b="1" dirty="0" err="1"/>
              <a:t>Batch</a:t>
            </a:r>
            <a:r>
              <a:rPr lang="tr-TR" b="1" dirty="0"/>
              <a:t> Analizi:</a:t>
            </a:r>
            <a:r>
              <a:rPr lang="tr-TR" dirty="0"/>
              <a:t> Kullanıcılar, birden fazla ilan için toplu analiz yapabilir ve sonuçları </a:t>
            </a:r>
            <a:r>
              <a:rPr lang="tr-TR" b="1" dirty="0"/>
              <a:t>CSV dosyası</a:t>
            </a:r>
            <a:r>
              <a:rPr lang="tr-TR" dirty="0"/>
              <a:t> olarak indirebilirler.</a:t>
            </a:r>
          </a:p>
          <a:p>
            <a:r>
              <a:rPr lang="tr-TR" b="1" dirty="0"/>
              <a:t>Kullanıcı Etkileşimi:</a:t>
            </a:r>
            <a:endParaRPr lang="tr-TR" dirty="0"/>
          </a:p>
          <a:p>
            <a:pPr lvl="1"/>
            <a:r>
              <a:rPr lang="tr-TR" dirty="0"/>
              <a:t>Kullanıcılar, web uygulamasına girdikleri emlak bilgileriyle anında sonuç alabilirler. Ayrıca, verileri </a:t>
            </a:r>
            <a:r>
              <a:rPr lang="tr-TR" b="1" dirty="0"/>
              <a:t>dinamik olarak</a:t>
            </a:r>
            <a:r>
              <a:rPr lang="tr-TR" dirty="0"/>
              <a:t> değiştirebilir ve modelin nasıl tepki verdiğini gözlemleyebilirler.</a:t>
            </a:r>
          </a:p>
          <a:p>
            <a:endParaRPr lang="tr-TR" dirty="0"/>
          </a:p>
        </p:txBody>
      </p:sp>
      <p:pic>
        <p:nvPicPr>
          <p:cNvPr id="7" name="Picture 6" descr="A screenshot of a computer&#10;&#10;AI-generated content may be incorrect.">
            <a:extLst>
              <a:ext uri="{FF2B5EF4-FFF2-40B4-BE49-F238E27FC236}">
                <a16:creationId xmlns:a16="http://schemas.microsoft.com/office/drawing/2014/main" id="{9A06A889-B226-3ECD-4040-CB9F39089689}"/>
              </a:ext>
            </a:extLst>
          </p:cNvPr>
          <p:cNvPicPr>
            <a:picLocks noChangeAspect="1"/>
          </p:cNvPicPr>
          <p:nvPr/>
        </p:nvPicPr>
        <p:blipFill>
          <a:blip r:embed="rId3"/>
          <a:stretch>
            <a:fillRect/>
          </a:stretch>
        </p:blipFill>
        <p:spPr>
          <a:xfrm>
            <a:off x="7615204" y="1646238"/>
            <a:ext cx="4395821" cy="3533775"/>
          </a:xfrm>
          <a:prstGeom prst="rect">
            <a:avLst/>
          </a:prstGeom>
        </p:spPr>
      </p:pic>
    </p:spTree>
    <p:extLst>
      <p:ext uri="{BB962C8B-B14F-4D97-AF65-F5344CB8AC3E}">
        <p14:creationId xmlns:p14="http://schemas.microsoft.com/office/powerpoint/2010/main" val="3159288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ACDA59-55A0-4EA5-B3E4-646D1D3B4CEB}"/>
              </a:ext>
            </a:extLst>
          </p:cNvPr>
          <p:cNvSpPr>
            <a:spLocks noGrp="1"/>
          </p:cNvSpPr>
          <p:nvPr>
            <p:ph type="title"/>
          </p:nvPr>
        </p:nvSpPr>
        <p:spPr>
          <a:xfrm>
            <a:off x="839787" y="365125"/>
            <a:ext cx="10980737" cy="1325563"/>
          </a:xfrm>
        </p:spPr>
        <p:txBody>
          <a:bodyPr rtlCol="0">
            <a:normAutofit fontScale="90000"/>
          </a:bodyPr>
          <a:lstStyle/>
          <a:p>
            <a:r>
              <a:rPr lang="tr-TR" sz="5400" dirty="0"/>
              <a:t>Modelin Özellik Seçimi ve Ağırlıkları (</a:t>
            </a:r>
            <a:r>
              <a:rPr lang="tr-TR" sz="5400" dirty="0" err="1"/>
              <a:t>Feature</a:t>
            </a:r>
            <a:r>
              <a:rPr lang="tr-TR" sz="5400" dirty="0"/>
              <a:t> </a:t>
            </a:r>
            <a:r>
              <a:rPr lang="tr-TR" sz="5400" dirty="0" err="1"/>
              <a:t>Engineering</a:t>
            </a:r>
            <a:r>
              <a:rPr lang="tr-TR" sz="5400" dirty="0"/>
              <a:t>)</a:t>
            </a:r>
          </a:p>
        </p:txBody>
      </p:sp>
      <p:sp>
        <p:nvSpPr>
          <p:cNvPr id="17" name="TextBox 16">
            <a:extLst>
              <a:ext uri="{FF2B5EF4-FFF2-40B4-BE49-F238E27FC236}">
                <a16:creationId xmlns:a16="http://schemas.microsoft.com/office/drawing/2014/main" id="{9E777895-D9DF-EA4F-230B-AC1E2684D0A9}"/>
              </a:ext>
            </a:extLst>
          </p:cNvPr>
          <p:cNvSpPr txBox="1"/>
          <p:nvPr/>
        </p:nvSpPr>
        <p:spPr>
          <a:xfrm>
            <a:off x="1905000" y="2409824"/>
            <a:ext cx="8574086"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Özellik Mühendisliği (</a:t>
            </a:r>
            <a:r>
              <a:rPr kumimoji="0" lang="tr-TR" altLang="tr-TR" sz="1800" b="1" i="0" u="none" strike="noStrike" cap="none" normalizeH="0" baseline="0" dirty="0" err="1">
                <a:ln>
                  <a:noFill/>
                </a:ln>
                <a:solidFill>
                  <a:schemeClr val="tx1"/>
                </a:solidFill>
                <a:effectLst/>
                <a:latin typeface="Arial" panose="020B0604020202020204" pitchFamily="34" charset="0"/>
              </a:rPr>
              <a:t>Feature</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Engineering</a:t>
            </a:r>
            <a:r>
              <a:rPr kumimoji="0" lang="tr-TR" altLang="tr-TR" sz="1800" b="1" i="0" u="none" strike="noStrike" cap="none" normalizeH="0" baseline="0" dirty="0">
                <a:ln>
                  <a:noFill/>
                </a:ln>
                <a:solidFill>
                  <a:schemeClr val="tx1"/>
                </a:solidFill>
                <a:effectLst/>
                <a:latin typeface="Arial" panose="020B0604020202020204" pitchFamily="34" charset="0"/>
              </a:rPr>
              <a:t>):</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Bina Yaşı:</a:t>
            </a:r>
            <a:r>
              <a:rPr kumimoji="0" lang="tr-TR" altLang="tr-TR" sz="1800" b="0" i="0" u="none" strike="noStrike" cap="none" normalizeH="0" baseline="0" dirty="0">
                <a:ln>
                  <a:noFill/>
                </a:ln>
                <a:solidFill>
                  <a:schemeClr val="tx1"/>
                </a:solidFill>
                <a:effectLst/>
                <a:latin typeface="Arial" panose="020B0604020202020204" pitchFamily="34" charset="0"/>
              </a:rPr>
              <a:t> Bina yaşı, gayrimenkul fiyatları üzerinde önemli bir etkiye sahip olan bir faktördür. Bu nedenle, </a:t>
            </a:r>
            <a:r>
              <a:rPr kumimoji="0" lang="tr-TR" altLang="tr-TR" sz="1800" b="1" i="0" u="none" strike="noStrike" cap="none" normalizeH="0" baseline="0" dirty="0">
                <a:ln>
                  <a:noFill/>
                </a:ln>
                <a:solidFill>
                  <a:schemeClr val="tx1"/>
                </a:solidFill>
                <a:effectLst/>
                <a:latin typeface="Arial" panose="020B0604020202020204" pitchFamily="34" charset="0"/>
              </a:rPr>
              <a:t>Bina Yaşı</a:t>
            </a:r>
            <a:r>
              <a:rPr kumimoji="0" lang="tr-TR" altLang="tr-TR" sz="1800" b="0" i="0" u="none" strike="noStrike" cap="none" normalizeH="0" baseline="0" dirty="0">
                <a:ln>
                  <a:noFill/>
                </a:ln>
                <a:solidFill>
                  <a:schemeClr val="tx1"/>
                </a:solidFill>
                <a:effectLst/>
                <a:latin typeface="Arial" panose="020B0604020202020204" pitchFamily="34" charset="0"/>
              </a:rPr>
              <a:t> özelliği hesaplanarak modele dahil edilmiştir.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Net ve Brüt m²:</a:t>
            </a:r>
            <a:r>
              <a:rPr kumimoji="0" lang="tr-TR" altLang="tr-TR" sz="1800" b="0" i="0" u="none" strike="noStrike" cap="none" normalizeH="0" baseline="0" dirty="0">
                <a:ln>
                  <a:noFill/>
                </a:ln>
                <a:solidFill>
                  <a:schemeClr val="tx1"/>
                </a:solidFill>
                <a:effectLst/>
                <a:latin typeface="Arial" panose="020B0604020202020204" pitchFamily="34" charset="0"/>
              </a:rPr>
              <a:t> Gayrimenkulün </a:t>
            </a:r>
            <a:r>
              <a:rPr kumimoji="0" lang="tr-TR" altLang="tr-TR" sz="1800" b="1" i="0" u="none" strike="noStrike" cap="none" normalizeH="0" baseline="0" dirty="0">
                <a:ln>
                  <a:noFill/>
                </a:ln>
                <a:solidFill>
                  <a:schemeClr val="tx1"/>
                </a:solidFill>
                <a:effectLst/>
                <a:latin typeface="Arial" panose="020B0604020202020204" pitchFamily="34" charset="0"/>
              </a:rPr>
              <a:t>net</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a:ln>
                  <a:noFill/>
                </a:ln>
                <a:solidFill>
                  <a:schemeClr val="tx1"/>
                </a:solidFill>
                <a:effectLst/>
                <a:latin typeface="Arial" panose="020B0604020202020204" pitchFamily="34" charset="0"/>
              </a:rPr>
              <a:t>brüt</a:t>
            </a:r>
            <a:r>
              <a:rPr kumimoji="0" lang="tr-TR" altLang="tr-TR" sz="1800" b="0" i="0" u="none" strike="noStrike" cap="none" normalizeH="0" baseline="0" dirty="0">
                <a:ln>
                  <a:noFill/>
                </a:ln>
                <a:solidFill>
                  <a:schemeClr val="tx1"/>
                </a:solidFill>
                <a:effectLst/>
                <a:latin typeface="Arial" panose="020B0604020202020204" pitchFamily="34" charset="0"/>
              </a:rPr>
              <a:t> m²’si arasındaki farklar, gayrimenkulün </a:t>
            </a:r>
            <a:r>
              <a:rPr kumimoji="0" lang="tr-TR" altLang="tr-TR" sz="1800" b="1" i="0" u="none" strike="noStrike" cap="none" normalizeH="0" baseline="0" dirty="0">
                <a:ln>
                  <a:noFill/>
                </a:ln>
                <a:solidFill>
                  <a:schemeClr val="tx1"/>
                </a:solidFill>
                <a:effectLst/>
                <a:latin typeface="Arial" panose="020B0604020202020204" pitchFamily="34" charset="0"/>
              </a:rPr>
              <a:t>verimliliğini</a:t>
            </a:r>
            <a:r>
              <a:rPr kumimoji="0" lang="tr-TR" altLang="tr-TR" sz="1800" b="0" i="0" u="none" strike="noStrike" cap="none" normalizeH="0" baseline="0" dirty="0">
                <a:ln>
                  <a:noFill/>
                </a:ln>
                <a:solidFill>
                  <a:schemeClr val="tx1"/>
                </a:solidFill>
                <a:effectLst/>
                <a:latin typeface="Arial" panose="020B0604020202020204" pitchFamily="34" charset="0"/>
              </a:rPr>
              <a:t> yansıttığı için modele dahil edilmiştir.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Oda ve Salon Sayısı:</a:t>
            </a:r>
            <a:r>
              <a:rPr kumimoji="0" lang="tr-TR" altLang="tr-TR" sz="1800" b="0" i="0" u="none" strike="noStrike" cap="none" normalizeH="0" baseline="0" dirty="0">
                <a:ln>
                  <a:noFill/>
                </a:ln>
                <a:solidFill>
                  <a:schemeClr val="tx1"/>
                </a:solidFill>
                <a:effectLst/>
                <a:latin typeface="Arial" panose="020B0604020202020204" pitchFamily="34" charset="0"/>
              </a:rPr>
              <a:t> Oda planları, özellikle </a:t>
            </a:r>
            <a:r>
              <a:rPr kumimoji="0" lang="tr-TR" altLang="tr-TR" sz="1800" b="1" i="0" u="none" strike="noStrike" cap="none" normalizeH="0" baseline="0" dirty="0">
                <a:ln>
                  <a:noFill/>
                </a:ln>
                <a:solidFill>
                  <a:schemeClr val="tx1"/>
                </a:solidFill>
                <a:effectLst/>
                <a:latin typeface="Arial" panose="020B0604020202020204" pitchFamily="34" charset="0"/>
              </a:rPr>
              <a:t>"2+1"</a:t>
            </a:r>
            <a:r>
              <a:rPr kumimoji="0" lang="tr-TR" altLang="tr-TR" sz="1800" b="0" i="0" u="none" strike="noStrike" cap="none" normalizeH="0" baseline="0" dirty="0">
                <a:ln>
                  <a:noFill/>
                </a:ln>
                <a:solidFill>
                  <a:schemeClr val="tx1"/>
                </a:solidFill>
                <a:effectLst/>
                <a:latin typeface="Arial" panose="020B0604020202020204" pitchFamily="34" charset="0"/>
              </a:rPr>
              <a:t> gibi etiketler üzerinden çıkarılmış ve bu özellikler modelde yer almıştır.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Konum:</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a:ln>
                  <a:noFill/>
                </a:ln>
                <a:solidFill>
                  <a:schemeClr val="tx1"/>
                </a:solidFill>
                <a:effectLst/>
                <a:latin typeface="Arial" panose="020B0604020202020204" pitchFamily="34" charset="0"/>
              </a:rPr>
              <a:t>Lokasyon</a:t>
            </a:r>
            <a:r>
              <a:rPr kumimoji="0" lang="tr-TR" altLang="tr-TR" sz="1800" b="0" i="0" u="none" strike="noStrike" cap="none" normalizeH="0" baseline="0" dirty="0">
                <a:ln>
                  <a:noFill/>
                </a:ln>
                <a:solidFill>
                  <a:schemeClr val="tx1"/>
                </a:solidFill>
                <a:effectLst/>
                <a:latin typeface="Arial" panose="020B0604020202020204" pitchFamily="34" charset="0"/>
              </a:rPr>
              <a:t> bilgisi, gayrimenkulün değerini etkileyen temel faktörlerden biridir. Bu nedenle, ilçe ve mahalle bilgileri normalize edilmiştir.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Özellik Seçimi: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Ağaç Tabanlı Modellerin Özellik Analizi:</a:t>
            </a:r>
            <a:r>
              <a:rPr kumimoji="0" lang="tr-TR" altLang="tr-TR" sz="1800" b="0" i="0" u="none" strike="noStrike" cap="none" normalizeH="0" baseline="0" dirty="0">
                <a:ln>
                  <a:noFill/>
                </a:ln>
                <a:solidFill>
                  <a:schemeClr val="tx1"/>
                </a:solidFill>
                <a:effectLst/>
                <a:latin typeface="Arial" panose="020B0604020202020204" pitchFamily="34" charset="0"/>
              </a:rPr>
              <a:t> Model, </a:t>
            </a:r>
            <a:r>
              <a:rPr kumimoji="0" lang="tr-TR" altLang="tr-TR" sz="1800" b="0" i="0" u="none" strike="noStrike" cap="none" normalizeH="0" baseline="0" dirty="0" err="1">
                <a:ln>
                  <a:noFill/>
                </a:ln>
                <a:solidFill>
                  <a:schemeClr val="tx1"/>
                </a:solidFill>
                <a:effectLst/>
                <a:latin typeface="Arial" panose="020B0604020202020204" pitchFamily="34" charset="0"/>
              </a:rPr>
              <a:t>LightGBM</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0" i="0" u="none" strike="noStrike" cap="none" normalizeH="0" baseline="0" dirty="0" err="1">
                <a:ln>
                  <a:noFill/>
                </a:ln>
                <a:solidFill>
                  <a:schemeClr val="tx1"/>
                </a:solidFill>
                <a:effectLst/>
                <a:latin typeface="Arial" panose="020B0604020202020204" pitchFamily="34" charset="0"/>
              </a:rPr>
              <a:t>XGBoost</a:t>
            </a:r>
            <a:r>
              <a:rPr kumimoji="0" lang="tr-TR" altLang="tr-TR" sz="1800" b="0" i="0" u="none" strike="noStrike" cap="none" normalizeH="0" baseline="0" dirty="0">
                <a:ln>
                  <a:noFill/>
                </a:ln>
                <a:solidFill>
                  <a:schemeClr val="tx1"/>
                </a:solidFill>
                <a:effectLst/>
                <a:latin typeface="Arial" panose="020B0604020202020204" pitchFamily="34" charset="0"/>
              </a:rPr>
              <a:t> gibi ağaç tabanlı modeller kullanarak en önemli özellikleri seçmiştir. Bu sayede, model sadece en etkili özellikleri kullanarak daha doğru sonuçlar elde etmiştir.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4766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ACDA59-55A0-4EA5-B3E4-646D1D3B4CEB}"/>
              </a:ext>
            </a:extLst>
          </p:cNvPr>
          <p:cNvSpPr>
            <a:spLocks noGrp="1"/>
          </p:cNvSpPr>
          <p:nvPr>
            <p:ph type="title"/>
          </p:nvPr>
        </p:nvSpPr>
        <p:spPr>
          <a:xfrm>
            <a:off x="839787" y="365125"/>
            <a:ext cx="11133137" cy="1325563"/>
          </a:xfrm>
        </p:spPr>
        <p:txBody>
          <a:bodyPr rtlCol="0">
            <a:normAutofit fontScale="90000"/>
          </a:bodyPr>
          <a:lstStyle/>
          <a:p>
            <a:r>
              <a:rPr lang="tr-TR" sz="5400" dirty="0"/>
              <a:t>Modelin Güvenilirliği ve </a:t>
            </a:r>
            <a:r>
              <a:rPr lang="tr-TR" sz="5400" dirty="0" err="1"/>
              <a:t>Reproducibility</a:t>
            </a:r>
            <a:r>
              <a:rPr lang="tr-TR" sz="5400" dirty="0"/>
              <a:t> (Tekrar Üretilebilirlik) </a:t>
            </a:r>
          </a:p>
        </p:txBody>
      </p:sp>
      <p:sp>
        <p:nvSpPr>
          <p:cNvPr id="19" name="TextBox 18">
            <a:extLst>
              <a:ext uri="{FF2B5EF4-FFF2-40B4-BE49-F238E27FC236}">
                <a16:creationId xmlns:a16="http://schemas.microsoft.com/office/drawing/2014/main" id="{20AEEAF4-3648-C649-33D9-1A70C8ADEAD0}"/>
              </a:ext>
            </a:extLst>
          </p:cNvPr>
          <p:cNvSpPr txBox="1"/>
          <p:nvPr/>
        </p:nvSpPr>
        <p:spPr>
          <a:xfrm>
            <a:off x="2286000" y="2105025"/>
            <a:ext cx="7981950"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Tekrar Üretilebilirlik (</a:t>
            </a:r>
            <a:r>
              <a:rPr kumimoji="0" lang="tr-TR" altLang="tr-TR" sz="1800" b="1" i="0" u="none" strike="noStrike" cap="none" normalizeH="0" baseline="0" dirty="0" err="1">
                <a:ln>
                  <a:noFill/>
                </a:ln>
                <a:solidFill>
                  <a:schemeClr val="tx1"/>
                </a:solidFill>
                <a:effectLst/>
                <a:latin typeface="Arial" panose="020B0604020202020204" pitchFamily="34" charset="0"/>
              </a:rPr>
              <a:t>Reproducibility</a:t>
            </a:r>
            <a:r>
              <a:rPr kumimoji="0" lang="tr-TR" altLang="tr-TR" sz="1800" b="1" i="0" u="none" strike="noStrike" cap="none" normalizeH="0" baseline="0" dirty="0">
                <a:ln>
                  <a:noFill/>
                </a:ln>
                <a:solidFill>
                  <a:schemeClr val="tx1"/>
                </a:solidFill>
                <a:effectLst/>
                <a:latin typeface="Arial" panose="020B0604020202020204" pitchFamily="34" charset="0"/>
              </a:rPr>
              <a:t>):</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 her bir adımda kullanılan veriler ve parametreler hakkında </a:t>
            </a:r>
            <a:r>
              <a:rPr kumimoji="0" lang="tr-TR" altLang="tr-TR" sz="1800" b="1" i="0" u="none" strike="noStrike" cap="none" normalizeH="0" baseline="0" dirty="0">
                <a:ln>
                  <a:noFill/>
                </a:ln>
                <a:solidFill>
                  <a:schemeClr val="tx1"/>
                </a:solidFill>
                <a:effectLst/>
                <a:latin typeface="Arial" panose="020B0604020202020204" pitchFamily="34" charset="0"/>
              </a:rPr>
              <a:t>açıkça döküm</a:t>
            </a:r>
            <a:r>
              <a:rPr kumimoji="0" lang="tr-TR" altLang="tr-TR" sz="1800" b="0" i="0" u="none" strike="noStrike" cap="none" normalizeH="0" baseline="0" dirty="0">
                <a:ln>
                  <a:noFill/>
                </a:ln>
                <a:solidFill>
                  <a:schemeClr val="tx1"/>
                </a:solidFill>
                <a:effectLst/>
                <a:latin typeface="Arial" panose="020B0604020202020204" pitchFamily="34" charset="0"/>
              </a:rPr>
              <a:t> sağlamaktadır. Böylece, modelin başka ortamlarda da </a:t>
            </a:r>
            <a:r>
              <a:rPr kumimoji="0" lang="tr-TR" altLang="tr-TR" sz="1800" b="1" i="0" u="none" strike="noStrike" cap="none" normalizeH="0" baseline="0" dirty="0">
                <a:ln>
                  <a:noFill/>
                </a:ln>
                <a:solidFill>
                  <a:schemeClr val="tx1"/>
                </a:solidFill>
                <a:effectLst/>
                <a:latin typeface="Arial" panose="020B0604020202020204" pitchFamily="34" charset="0"/>
              </a:rPr>
              <a:t>aynı sonuçları üretmesi</a:t>
            </a:r>
            <a:r>
              <a:rPr kumimoji="0" lang="tr-TR" altLang="tr-TR" sz="1800" b="0" i="0" u="none" strike="noStrike" cap="none" normalizeH="0" baseline="0" dirty="0">
                <a:ln>
                  <a:noFill/>
                </a:ln>
                <a:solidFill>
                  <a:schemeClr val="tx1"/>
                </a:solidFill>
                <a:effectLst/>
                <a:latin typeface="Arial" panose="020B0604020202020204" pitchFamily="34" charset="0"/>
              </a:rPr>
              <a:t> sağlanır.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Eğitim ve doğrulama verileri, model </a:t>
            </a:r>
            <a:r>
              <a:rPr kumimoji="0" lang="tr-TR" altLang="tr-TR" sz="1800" b="0" i="0" u="none" strike="noStrike" cap="none" normalizeH="0" baseline="0" dirty="0" err="1">
                <a:ln>
                  <a:noFill/>
                </a:ln>
                <a:solidFill>
                  <a:schemeClr val="tx1"/>
                </a:solidFill>
                <a:effectLst/>
                <a:latin typeface="Arial" panose="020B0604020202020204" pitchFamily="34" charset="0"/>
              </a:rPr>
              <a:t>bundle'ında</a:t>
            </a:r>
            <a:r>
              <a:rPr kumimoji="0" lang="tr-TR" altLang="tr-TR" sz="1800" b="0" i="0" u="none" strike="noStrike" cap="none" normalizeH="0" baseline="0" dirty="0">
                <a:ln>
                  <a:noFill/>
                </a:ln>
                <a:solidFill>
                  <a:schemeClr val="tx1"/>
                </a:solidFill>
                <a:effectLst/>
                <a:latin typeface="Arial" panose="020B0604020202020204" pitchFamily="34" charset="0"/>
              </a:rPr>
              <a:t> kaydedilmiştir. Bu, başka bir araştırmacı veya kullanıcı için modelin </a:t>
            </a:r>
            <a:r>
              <a:rPr kumimoji="0" lang="tr-TR" altLang="tr-TR" sz="1800" b="1" i="0" u="none" strike="noStrike" cap="none" normalizeH="0" baseline="0" dirty="0">
                <a:ln>
                  <a:noFill/>
                </a:ln>
                <a:solidFill>
                  <a:schemeClr val="tx1"/>
                </a:solidFill>
                <a:effectLst/>
                <a:latin typeface="Arial" panose="020B0604020202020204" pitchFamily="34" charset="0"/>
              </a:rPr>
              <a:t>yeniden eğitilmesi</a:t>
            </a:r>
            <a:r>
              <a:rPr kumimoji="0" lang="tr-TR" altLang="tr-TR" sz="1800" b="0" i="0" u="none" strike="noStrike" cap="none" normalizeH="0" baseline="0" dirty="0">
                <a:ln>
                  <a:noFill/>
                </a:ln>
                <a:solidFill>
                  <a:schemeClr val="tx1"/>
                </a:solidFill>
                <a:effectLst/>
                <a:latin typeface="Arial" panose="020B0604020202020204" pitchFamily="34" charset="0"/>
              </a:rPr>
              <a:t> ve doğrulanması konusunda kolaylık sağlar.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Modelin eğitim verileri, doğrulama sonuçları ve diğer parametreleri, projenin </a:t>
            </a:r>
            <a:r>
              <a:rPr kumimoji="0" lang="tr-TR" altLang="tr-TR" sz="1800" b="1" i="0" u="none" strike="noStrike" cap="none" normalizeH="0" baseline="0" dirty="0">
                <a:ln>
                  <a:noFill/>
                </a:ln>
                <a:solidFill>
                  <a:schemeClr val="tx1"/>
                </a:solidFill>
                <a:effectLst/>
                <a:latin typeface="Arial" panose="020B0604020202020204" pitchFamily="34" charset="0"/>
              </a:rPr>
              <a:t>kesin ve güvenilir</a:t>
            </a:r>
            <a:r>
              <a:rPr kumimoji="0" lang="tr-TR" altLang="tr-TR" sz="1800" b="0" i="0" u="none" strike="noStrike" cap="none" normalizeH="0" baseline="0" dirty="0">
                <a:ln>
                  <a:noFill/>
                </a:ln>
                <a:solidFill>
                  <a:schemeClr val="tx1"/>
                </a:solidFill>
                <a:effectLst/>
                <a:latin typeface="Arial" panose="020B0604020202020204" pitchFamily="34" charset="0"/>
              </a:rPr>
              <a:t> şekilde tekrarlanmasını mümkün kılar.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Test Seti ve Eğitim Seti Farkları:</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 eğitim ve doğrulama setlerinin farklılıklarını izleyerek </a:t>
            </a:r>
            <a:r>
              <a:rPr kumimoji="0" lang="tr-TR" altLang="tr-TR" sz="1800" b="1" i="0" u="none" strike="noStrike" cap="none" normalizeH="0" baseline="0" dirty="0">
                <a:ln>
                  <a:noFill/>
                </a:ln>
                <a:solidFill>
                  <a:schemeClr val="tx1"/>
                </a:solidFill>
                <a:effectLst/>
                <a:latin typeface="Arial" panose="020B0604020202020204" pitchFamily="34" charset="0"/>
              </a:rPr>
              <a:t>aşırı öğrenmeyi</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overfitting</a:t>
            </a:r>
            <a:r>
              <a:rPr kumimoji="0" lang="tr-TR" altLang="tr-TR" sz="1800" b="0" i="0" u="none" strike="noStrike" cap="none" normalizeH="0" baseline="0" dirty="0">
                <a:ln>
                  <a:noFill/>
                </a:ln>
                <a:solidFill>
                  <a:schemeClr val="tx1"/>
                </a:solidFill>
                <a:effectLst/>
                <a:latin typeface="Arial" panose="020B0604020202020204" pitchFamily="34" charset="0"/>
              </a:rPr>
              <a:t>) engellemiştir. Bu, modelin </a:t>
            </a:r>
            <a:r>
              <a:rPr kumimoji="0" lang="tr-TR" altLang="tr-TR" sz="1800" b="1" i="0" u="none" strike="noStrike" cap="none" normalizeH="0" baseline="0" dirty="0">
                <a:ln>
                  <a:noFill/>
                </a:ln>
                <a:solidFill>
                  <a:schemeClr val="tx1"/>
                </a:solidFill>
                <a:effectLst/>
                <a:latin typeface="Arial" panose="020B0604020202020204" pitchFamily="34" charset="0"/>
              </a:rPr>
              <a:t>genelleme</a:t>
            </a:r>
            <a:r>
              <a:rPr kumimoji="0" lang="tr-TR" altLang="tr-TR" sz="1800" b="0" i="0" u="none" strike="noStrike" cap="none" normalizeH="0" baseline="0" dirty="0">
                <a:ln>
                  <a:noFill/>
                </a:ln>
                <a:solidFill>
                  <a:schemeClr val="tx1"/>
                </a:solidFill>
                <a:effectLst/>
                <a:latin typeface="Arial" panose="020B0604020202020204" pitchFamily="34" charset="0"/>
              </a:rPr>
              <a:t> kapasitesini artırmıştır.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Eğitim seti ve doğrulama seti arasındaki farkların sürekli izlenmesi</a:t>
            </a:r>
            <a:r>
              <a:rPr kumimoji="0" lang="tr-TR" altLang="tr-TR" sz="1800" b="0" i="0" u="none" strike="noStrike" cap="none" normalizeH="0" baseline="0" dirty="0">
                <a:ln>
                  <a:noFill/>
                </a:ln>
                <a:solidFill>
                  <a:schemeClr val="tx1"/>
                </a:solidFill>
                <a:effectLst/>
                <a:latin typeface="Arial" panose="020B0604020202020204" pitchFamily="34" charset="0"/>
              </a:rPr>
              <a:t>, modelin stabilitesini artıran önemli bir adımdır.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3455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09FB28F-C9D7-439B-B863-44B4E851A0B0}"/>
              </a:ext>
            </a:extLst>
          </p:cNvPr>
          <p:cNvSpPr>
            <a:spLocks noGrp="1"/>
          </p:cNvSpPr>
          <p:nvPr>
            <p:ph type="ctrTitle"/>
          </p:nvPr>
        </p:nvSpPr>
        <p:spPr>
          <a:xfrm>
            <a:off x="6929628" y="749173"/>
            <a:ext cx="4434840" cy="886968"/>
          </a:xfrm>
        </p:spPr>
        <p:txBody>
          <a:bodyPr rtlCol="0">
            <a:noAutofit/>
          </a:bodyPr>
          <a:lstStyle/>
          <a:p>
            <a:r>
              <a:rPr lang="it-IT" sz="3600" dirty="0"/>
              <a:t>Hata Analizi ve Model Performansı</a:t>
            </a:r>
            <a:endParaRPr lang="tr-TR" sz="3600" dirty="0"/>
          </a:p>
        </p:txBody>
      </p:sp>
      <p:sp>
        <p:nvSpPr>
          <p:cNvPr id="24" name="Slayt Numarası Yer Tutucusu 23">
            <a:extLst>
              <a:ext uri="{FF2B5EF4-FFF2-40B4-BE49-F238E27FC236}">
                <a16:creationId xmlns:a16="http://schemas.microsoft.com/office/drawing/2014/main" id="{9A686A52-7630-4675-B383-8C2AD252EC1F}"/>
              </a:ext>
            </a:extLst>
          </p:cNvPr>
          <p:cNvSpPr>
            <a:spLocks noGrp="1"/>
          </p:cNvSpPr>
          <p:nvPr>
            <p:ph type="sldNum" sz="quarter" idx="12"/>
          </p:nvPr>
        </p:nvSpPr>
        <p:spPr/>
        <p:txBody>
          <a:bodyPr rtlCol="0"/>
          <a:lstStyle/>
          <a:p>
            <a:pPr rtl="0"/>
            <a:fld id="{D8DA9DAA-006C-4F4B-980E-E3DF019B24E2}" type="slidenum">
              <a:rPr lang="tr-TR" smtClean="0"/>
              <a:pPr/>
              <a:t>12</a:t>
            </a:fld>
            <a:endParaRPr lang="tr-TR"/>
          </a:p>
        </p:txBody>
      </p:sp>
      <p:sp>
        <p:nvSpPr>
          <p:cNvPr id="3" name="Rectangle 1">
            <a:extLst>
              <a:ext uri="{FF2B5EF4-FFF2-40B4-BE49-F238E27FC236}">
                <a16:creationId xmlns:a16="http://schemas.microsoft.com/office/drawing/2014/main" id="{6B31BF23-B5F7-3582-1A42-93710CB5A534}"/>
              </a:ext>
            </a:extLst>
          </p:cNvPr>
          <p:cNvSpPr>
            <a:spLocks noGrp="1" noChangeArrowheads="1"/>
          </p:cNvSpPr>
          <p:nvPr>
            <p:ph type="subTitle" idx="1"/>
          </p:nvPr>
        </p:nvSpPr>
        <p:spPr bwMode="auto">
          <a:xfrm>
            <a:off x="6344415" y="1922264"/>
            <a:ext cx="5020053"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latin typeface="Arial" panose="020B0604020202020204" pitchFamily="34" charset="0"/>
              </a:rPr>
              <a:t>Hata Analizi:</a:t>
            </a: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latin typeface="Arial" panose="020B0604020202020204" pitchFamily="34" charset="0"/>
              </a:rPr>
              <a:t>Modelin tahminlerinde karşılaşılan hatalar, </a:t>
            </a:r>
            <a:r>
              <a:rPr kumimoji="0" lang="tr-TR" altLang="tr-TR" sz="1400" b="1" i="0" u="none" strike="noStrike" cap="none" normalizeH="0" baseline="0" dirty="0" err="1">
                <a:ln>
                  <a:noFill/>
                </a:ln>
                <a:solidFill>
                  <a:schemeClr val="tx1"/>
                </a:solidFill>
                <a:effectLst/>
                <a:latin typeface="Arial" panose="020B0604020202020204" pitchFamily="34" charset="0"/>
              </a:rPr>
              <a:t>Feature</a:t>
            </a:r>
            <a:r>
              <a:rPr kumimoji="0" lang="tr-TR" altLang="tr-TR" sz="1400" b="1" i="0" u="none" strike="noStrike" cap="none" normalizeH="0" baseline="0" dirty="0">
                <a:ln>
                  <a:noFill/>
                </a:ln>
                <a:solidFill>
                  <a:schemeClr val="tx1"/>
                </a:solidFill>
                <a:effectLst/>
                <a:latin typeface="Arial" panose="020B0604020202020204" pitchFamily="34" charset="0"/>
              </a:rPr>
              <a:t> </a:t>
            </a:r>
            <a:r>
              <a:rPr kumimoji="0" lang="tr-TR" altLang="tr-TR" sz="1400" b="1" i="0" u="none" strike="noStrike" cap="none" normalizeH="0" baseline="0" dirty="0" err="1">
                <a:ln>
                  <a:noFill/>
                </a:ln>
                <a:solidFill>
                  <a:schemeClr val="tx1"/>
                </a:solidFill>
                <a:effectLst/>
                <a:latin typeface="Arial" panose="020B0604020202020204" pitchFamily="34" charset="0"/>
              </a:rPr>
              <a:t>Importance</a:t>
            </a:r>
            <a:r>
              <a:rPr kumimoji="0" lang="tr-TR" altLang="tr-TR" sz="1400" b="0" i="0" u="none" strike="noStrike" cap="none" normalizeH="0" baseline="0" dirty="0">
                <a:ln>
                  <a:noFill/>
                </a:ln>
                <a:solidFill>
                  <a:schemeClr val="tx1"/>
                </a:solidFill>
                <a:effectLst/>
                <a:latin typeface="Arial" panose="020B0604020202020204" pitchFamily="34" charset="0"/>
              </a:rPr>
              <a:t> ve </a:t>
            </a:r>
            <a:r>
              <a:rPr kumimoji="0" lang="tr-TR" altLang="tr-TR" sz="1400" b="1" i="0" u="none" strike="noStrike" cap="none" normalizeH="0" baseline="0" dirty="0" err="1">
                <a:ln>
                  <a:noFill/>
                </a:ln>
                <a:solidFill>
                  <a:schemeClr val="tx1"/>
                </a:solidFill>
                <a:effectLst/>
                <a:latin typeface="Arial" panose="020B0604020202020204" pitchFamily="34" charset="0"/>
              </a:rPr>
              <a:t>val_predictions</a:t>
            </a:r>
            <a:r>
              <a:rPr kumimoji="0" lang="tr-TR" altLang="tr-TR" sz="1400" b="0" i="0" u="none" strike="noStrike" cap="none" normalizeH="0" baseline="0" dirty="0">
                <a:ln>
                  <a:noFill/>
                </a:ln>
                <a:solidFill>
                  <a:schemeClr val="tx1"/>
                </a:solidFill>
                <a:effectLst/>
                <a:latin typeface="Arial" panose="020B0604020202020204" pitchFamily="34" charset="0"/>
              </a:rPr>
              <a:t> gibi dosyalarla detaylı şekilde analiz edilmiştir. Bu, hangi özelliklerin model üzerinde ne kadar etkili olduğunu ve tahminlerin </a:t>
            </a:r>
            <a:r>
              <a:rPr kumimoji="0" lang="tr-TR" altLang="tr-TR" sz="1400" b="1" i="0" u="none" strike="noStrike" cap="none" normalizeH="0" baseline="0" dirty="0">
                <a:ln>
                  <a:noFill/>
                </a:ln>
                <a:solidFill>
                  <a:schemeClr val="tx1"/>
                </a:solidFill>
                <a:effectLst/>
                <a:latin typeface="Arial" panose="020B0604020202020204" pitchFamily="34" charset="0"/>
              </a:rPr>
              <a:t>hangi alanlarda yanlış yapıldığını</a:t>
            </a:r>
            <a:r>
              <a:rPr kumimoji="0" lang="tr-TR" altLang="tr-TR" sz="1400" b="0" i="0" u="none" strike="noStrike" cap="none" normalizeH="0" baseline="0" dirty="0">
                <a:ln>
                  <a:noFill/>
                </a:ln>
                <a:solidFill>
                  <a:schemeClr val="tx1"/>
                </a:solidFill>
                <a:effectLst/>
                <a:latin typeface="Arial" panose="020B0604020202020204" pitchFamily="34" charset="0"/>
              </a:rPr>
              <a:t> görselleştirir.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latin typeface="Arial" panose="020B0604020202020204" pitchFamily="34" charset="0"/>
              </a:rPr>
              <a:t>Özellik Önemlilik (</a:t>
            </a:r>
            <a:r>
              <a:rPr kumimoji="0" lang="tr-TR" altLang="tr-TR" sz="1400" b="1" i="0" u="none" strike="noStrike" cap="none" normalizeH="0" baseline="0" dirty="0" err="1">
                <a:ln>
                  <a:noFill/>
                </a:ln>
                <a:solidFill>
                  <a:schemeClr val="tx1"/>
                </a:solidFill>
                <a:effectLst/>
                <a:latin typeface="Arial" panose="020B0604020202020204" pitchFamily="34" charset="0"/>
              </a:rPr>
              <a:t>Feature</a:t>
            </a:r>
            <a:r>
              <a:rPr kumimoji="0" lang="tr-TR" altLang="tr-TR" sz="1400" b="1" i="0" u="none" strike="noStrike" cap="none" normalizeH="0" baseline="0" dirty="0">
                <a:ln>
                  <a:noFill/>
                </a:ln>
                <a:solidFill>
                  <a:schemeClr val="tx1"/>
                </a:solidFill>
                <a:effectLst/>
                <a:latin typeface="Arial" panose="020B0604020202020204" pitchFamily="34" charset="0"/>
              </a:rPr>
              <a:t> </a:t>
            </a:r>
            <a:r>
              <a:rPr kumimoji="0" lang="tr-TR" altLang="tr-TR" sz="1400" b="1" i="0" u="none" strike="noStrike" cap="none" normalizeH="0" baseline="0" dirty="0" err="1">
                <a:ln>
                  <a:noFill/>
                </a:ln>
                <a:solidFill>
                  <a:schemeClr val="tx1"/>
                </a:solidFill>
                <a:effectLst/>
                <a:latin typeface="Arial" panose="020B0604020202020204" pitchFamily="34" charset="0"/>
              </a:rPr>
              <a:t>Importance</a:t>
            </a:r>
            <a:r>
              <a:rPr kumimoji="0" lang="tr-TR" altLang="tr-TR" sz="1400" b="1" i="0" u="none" strike="noStrike" cap="none" normalizeH="0" baseline="0" dirty="0">
                <a:ln>
                  <a:noFill/>
                </a:ln>
                <a:solidFill>
                  <a:schemeClr val="tx1"/>
                </a:solidFill>
                <a:effectLst/>
                <a:latin typeface="Arial" panose="020B0604020202020204" pitchFamily="34" charset="0"/>
              </a:rPr>
              <a:t>):</a:t>
            </a:r>
            <a:r>
              <a:rPr kumimoji="0" lang="tr-TR" altLang="tr-TR" sz="1400" b="0" i="0" u="none" strike="noStrike" cap="none" normalizeH="0" baseline="0" dirty="0">
                <a:ln>
                  <a:noFill/>
                </a:ln>
                <a:solidFill>
                  <a:schemeClr val="tx1"/>
                </a:solidFill>
                <a:effectLst/>
                <a:latin typeface="Arial" panose="020B0604020202020204" pitchFamily="34" charset="0"/>
              </a:rPr>
              <a:t> Modelin hangi özellikleri daha çok dikkate aldığını gösteren </a:t>
            </a:r>
            <a:r>
              <a:rPr kumimoji="0" lang="tr-TR" altLang="tr-TR" sz="1400" b="1" i="0" u="none" strike="noStrike" cap="none" normalizeH="0" baseline="0" dirty="0">
                <a:ln>
                  <a:noFill/>
                </a:ln>
                <a:solidFill>
                  <a:schemeClr val="tx1"/>
                </a:solidFill>
                <a:effectLst/>
                <a:latin typeface="Arial" panose="020B0604020202020204" pitchFamily="34" charset="0"/>
              </a:rPr>
              <a:t>SHAP ve diğer görselleştirme araçları</a:t>
            </a:r>
            <a:r>
              <a:rPr kumimoji="0" lang="tr-TR" altLang="tr-TR" sz="1400" b="0" i="0" u="none" strike="noStrike" cap="none" normalizeH="0" baseline="0" dirty="0">
                <a:ln>
                  <a:noFill/>
                </a:ln>
                <a:solidFill>
                  <a:schemeClr val="tx1"/>
                </a:solidFill>
                <a:effectLst/>
                <a:latin typeface="Arial" panose="020B0604020202020204" pitchFamily="34" charset="0"/>
              </a:rPr>
              <a:t> kullanılarak analiz edilmiştir.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latin typeface="Arial" panose="020B0604020202020204" pitchFamily="34" charset="0"/>
              </a:rPr>
              <a:t>Validasyon Sonuçları (</a:t>
            </a:r>
            <a:r>
              <a:rPr kumimoji="0" lang="tr-TR" altLang="tr-TR" sz="1400" b="1" i="0" u="none" strike="noStrike" cap="none" normalizeH="0" baseline="0" dirty="0" err="1">
                <a:ln>
                  <a:noFill/>
                </a:ln>
                <a:solidFill>
                  <a:schemeClr val="tx1"/>
                </a:solidFill>
                <a:effectLst/>
                <a:latin typeface="Arial" panose="020B0604020202020204" pitchFamily="34" charset="0"/>
              </a:rPr>
              <a:t>Validation</a:t>
            </a:r>
            <a:r>
              <a:rPr kumimoji="0" lang="tr-TR" altLang="tr-TR" sz="1400" b="1" i="0" u="none" strike="noStrike" cap="none" normalizeH="0" baseline="0" dirty="0">
                <a:ln>
                  <a:noFill/>
                </a:ln>
                <a:solidFill>
                  <a:schemeClr val="tx1"/>
                </a:solidFill>
                <a:effectLst/>
                <a:latin typeface="Arial" panose="020B0604020202020204" pitchFamily="34" charset="0"/>
              </a:rPr>
              <a:t> </a:t>
            </a:r>
            <a:r>
              <a:rPr kumimoji="0" lang="tr-TR" altLang="tr-TR" sz="1400" b="1" i="0" u="none" strike="noStrike" cap="none" normalizeH="0" baseline="0" dirty="0" err="1">
                <a:ln>
                  <a:noFill/>
                </a:ln>
                <a:solidFill>
                  <a:schemeClr val="tx1"/>
                </a:solidFill>
                <a:effectLst/>
                <a:latin typeface="Arial" panose="020B0604020202020204" pitchFamily="34" charset="0"/>
              </a:rPr>
              <a:t>Predictions</a:t>
            </a:r>
            <a:r>
              <a:rPr kumimoji="0" lang="tr-TR" altLang="tr-TR" sz="1400" b="1" i="0" u="none" strike="noStrike" cap="none" normalizeH="0" baseline="0" dirty="0">
                <a:ln>
                  <a:noFill/>
                </a:ln>
                <a:solidFill>
                  <a:schemeClr val="tx1"/>
                </a:solidFill>
                <a:effectLst/>
                <a:latin typeface="Arial" panose="020B0604020202020204" pitchFamily="34" charset="0"/>
              </a:rPr>
              <a:t>):</a:t>
            </a:r>
            <a:r>
              <a:rPr kumimoji="0" lang="tr-TR" altLang="tr-TR" sz="1400" b="0" i="0" u="none" strike="noStrike" cap="none" normalizeH="0" baseline="0" dirty="0">
                <a:ln>
                  <a:noFill/>
                </a:ln>
                <a:solidFill>
                  <a:schemeClr val="tx1"/>
                </a:solidFill>
                <a:effectLst/>
                <a:latin typeface="Arial" panose="020B0604020202020204" pitchFamily="34" charset="0"/>
              </a:rPr>
              <a:t> Modelin doğrulama setindeki başarısız olduğu bölgeler tespit edilerek, bu hataların </a:t>
            </a:r>
            <a:r>
              <a:rPr kumimoji="0" lang="tr-TR" altLang="tr-TR" sz="1400" b="1" i="0" u="none" strike="noStrike" cap="none" normalizeH="0" baseline="0" dirty="0">
                <a:ln>
                  <a:noFill/>
                </a:ln>
                <a:solidFill>
                  <a:schemeClr val="tx1"/>
                </a:solidFill>
                <a:effectLst/>
                <a:latin typeface="Arial" panose="020B0604020202020204" pitchFamily="34" charset="0"/>
              </a:rPr>
              <a:t>giderilmesi</a:t>
            </a:r>
            <a:r>
              <a:rPr kumimoji="0" lang="tr-TR" altLang="tr-TR" sz="1400" b="0" i="0" u="none" strike="noStrike" cap="none" normalizeH="0" baseline="0" dirty="0">
                <a:ln>
                  <a:noFill/>
                </a:ln>
                <a:solidFill>
                  <a:schemeClr val="tx1"/>
                </a:solidFill>
                <a:effectLst/>
                <a:latin typeface="Arial" panose="020B0604020202020204" pitchFamily="34" charset="0"/>
              </a:rPr>
              <a:t> ve </a:t>
            </a:r>
            <a:r>
              <a:rPr kumimoji="0" lang="tr-TR" altLang="tr-TR" sz="1400" b="1" i="0" u="none" strike="noStrike" cap="none" normalizeH="0" baseline="0" dirty="0">
                <a:ln>
                  <a:noFill/>
                </a:ln>
                <a:solidFill>
                  <a:schemeClr val="tx1"/>
                </a:solidFill>
                <a:effectLst/>
                <a:latin typeface="Arial" panose="020B0604020202020204" pitchFamily="34" charset="0"/>
              </a:rPr>
              <a:t>modelin iyileştirilmesi</a:t>
            </a:r>
            <a:r>
              <a:rPr kumimoji="0" lang="tr-TR" altLang="tr-TR" sz="1400" b="0" i="0" u="none" strike="noStrike" cap="none" normalizeH="0" baseline="0" dirty="0">
                <a:ln>
                  <a:noFill/>
                </a:ln>
                <a:solidFill>
                  <a:schemeClr val="tx1"/>
                </a:solidFill>
                <a:effectLst/>
                <a:latin typeface="Arial" panose="020B0604020202020204" pitchFamily="34" charset="0"/>
              </a:rPr>
              <a:t> sağlanmıştır.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latin typeface="Arial" panose="020B0604020202020204" pitchFamily="34" charset="0"/>
              </a:rPr>
              <a:t>Model Performansı İzleme:</a:t>
            </a: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0" i="0" u="none" strike="noStrike" cap="none" normalizeH="0" baseline="0" dirty="0">
                <a:ln>
                  <a:noFill/>
                </a:ln>
                <a:solidFill>
                  <a:schemeClr val="tx1"/>
                </a:solidFill>
                <a:effectLst/>
                <a:latin typeface="Arial" panose="020B0604020202020204" pitchFamily="34" charset="0"/>
              </a:rPr>
              <a:t>Modelin </a:t>
            </a:r>
            <a:r>
              <a:rPr kumimoji="0" lang="tr-TR" altLang="tr-TR" sz="1400" b="1" i="0" u="none" strike="noStrike" cap="none" normalizeH="0" baseline="0" dirty="0">
                <a:ln>
                  <a:noFill/>
                </a:ln>
                <a:solidFill>
                  <a:schemeClr val="tx1"/>
                </a:solidFill>
                <a:effectLst/>
                <a:latin typeface="Arial" panose="020B0604020202020204" pitchFamily="34" charset="0"/>
              </a:rPr>
              <a:t>aşırı öğrenme</a:t>
            </a:r>
            <a:r>
              <a:rPr kumimoji="0" lang="tr-TR" altLang="tr-TR" sz="1400" b="0" i="0" u="none" strike="noStrike" cap="none" normalizeH="0" baseline="0" dirty="0">
                <a:ln>
                  <a:noFill/>
                </a:ln>
                <a:solidFill>
                  <a:schemeClr val="tx1"/>
                </a:solidFill>
                <a:effectLst/>
                <a:latin typeface="Arial" panose="020B0604020202020204" pitchFamily="34" charset="0"/>
              </a:rPr>
              <a:t> (</a:t>
            </a:r>
            <a:r>
              <a:rPr kumimoji="0" lang="tr-TR" altLang="tr-TR" sz="1400" b="0" i="0" u="none" strike="noStrike" cap="none" normalizeH="0" baseline="0" dirty="0" err="1">
                <a:ln>
                  <a:noFill/>
                </a:ln>
                <a:solidFill>
                  <a:schemeClr val="tx1"/>
                </a:solidFill>
                <a:effectLst/>
                <a:latin typeface="Arial" panose="020B0604020202020204" pitchFamily="34" charset="0"/>
              </a:rPr>
              <a:t>overfitting</a:t>
            </a:r>
            <a:r>
              <a:rPr kumimoji="0" lang="tr-TR" altLang="tr-TR" sz="1400" b="0" i="0" u="none" strike="noStrike" cap="none" normalizeH="0" baseline="0" dirty="0">
                <a:ln>
                  <a:noFill/>
                </a:ln>
                <a:solidFill>
                  <a:schemeClr val="tx1"/>
                </a:solidFill>
                <a:effectLst/>
                <a:latin typeface="Arial" panose="020B0604020202020204" pitchFamily="34" charset="0"/>
              </a:rPr>
              <a:t>) riskini azaltmak amacıyla eğitim ve doğrulama metrikleri arasındaki farklar izlenmiştir.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none" strike="noStrike" cap="none" normalizeH="0" baseline="0" dirty="0">
                <a:ln>
                  <a:noFill/>
                </a:ln>
                <a:solidFill>
                  <a:schemeClr val="tx1"/>
                </a:solidFill>
                <a:effectLst/>
                <a:latin typeface="Arial" panose="020B0604020202020204" pitchFamily="34" charset="0"/>
              </a:rPr>
              <a:t>RMSE (</a:t>
            </a:r>
            <a:r>
              <a:rPr kumimoji="0" lang="tr-TR" altLang="tr-TR" sz="1400" b="1" i="0" u="none" strike="noStrike" cap="none" normalizeH="0" baseline="0" dirty="0" err="1">
                <a:ln>
                  <a:noFill/>
                </a:ln>
                <a:solidFill>
                  <a:schemeClr val="tx1"/>
                </a:solidFill>
                <a:effectLst/>
                <a:latin typeface="Arial" panose="020B0604020202020204" pitchFamily="34" charset="0"/>
              </a:rPr>
              <a:t>Root</a:t>
            </a:r>
            <a:r>
              <a:rPr kumimoji="0" lang="tr-TR" altLang="tr-TR" sz="1400" b="1" i="0" u="none" strike="noStrike" cap="none" normalizeH="0" baseline="0" dirty="0">
                <a:ln>
                  <a:noFill/>
                </a:ln>
                <a:solidFill>
                  <a:schemeClr val="tx1"/>
                </a:solidFill>
                <a:effectLst/>
                <a:latin typeface="Arial" panose="020B0604020202020204" pitchFamily="34" charset="0"/>
              </a:rPr>
              <a:t> </a:t>
            </a:r>
            <a:r>
              <a:rPr kumimoji="0" lang="tr-TR" altLang="tr-TR" sz="1400" b="1" i="0" u="none" strike="noStrike" cap="none" normalizeH="0" baseline="0" dirty="0" err="1">
                <a:ln>
                  <a:noFill/>
                </a:ln>
                <a:solidFill>
                  <a:schemeClr val="tx1"/>
                </a:solidFill>
                <a:effectLst/>
                <a:latin typeface="Arial" panose="020B0604020202020204" pitchFamily="34" charset="0"/>
              </a:rPr>
              <a:t>Mean</a:t>
            </a:r>
            <a:r>
              <a:rPr kumimoji="0" lang="tr-TR" altLang="tr-TR" sz="1400" b="1" i="0" u="none" strike="noStrike" cap="none" normalizeH="0" baseline="0" dirty="0">
                <a:ln>
                  <a:noFill/>
                </a:ln>
                <a:solidFill>
                  <a:schemeClr val="tx1"/>
                </a:solidFill>
                <a:effectLst/>
                <a:latin typeface="Arial" panose="020B0604020202020204" pitchFamily="34" charset="0"/>
              </a:rPr>
              <a:t> </a:t>
            </a:r>
            <a:r>
              <a:rPr kumimoji="0" lang="tr-TR" altLang="tr-TR" sz="1400" b="1" i="0" u="none" strike="noStrike" cap="none" normalizeH="0" baseline="0" dirty="0" err="1">
                <a:ln>
                  <a:noFill/>
                </a:ln>
                <a:solidFill>
                  <a:schemeClr val="tx1"/>
                </a:solidFill>
                <a:effectLst/>
                <a:latin typeface="Arial" panose="020B0604020202020204" pitchFamily="34" charset="0"/>
              </a:rPr>
              <a:t>Squared</a:t>
            </a:r>
            <a:r>
              <a:rPr kumimoji="0" lang="tr-TR" altLang="tr-TR" sz="1400" b="1" i="0" u="none" strike="noStrike" cap="none" normalizeH="0" baseline="0" dirty="0">
                <a:ln>
                  <a:noFill/>
                </a:ln>
                <a:solidFill>
                  <a:schemeClr val="tx1"/>
                </a:solidFill>
                <a:effectLst/>
                <a:latin typeface="Arial" panose="020B0604020202020204" pitchFamily="34" charset="0"/>
              </a:rPr>
              <a:t> </a:t>
            </a:r>
            <a:r>
              <a:rPr kumimoji="0" lang="tr-TR" altLang="tr-TR" sz="1400" b="1" i="0" u="none" strike="noStrike" cap="none" normalizeH="0" baseline="0" dirty="0" err="1">
                <a:ln>
                  <a:noFill/>
                </a:ln>
                <a:solidFill>
                  <a:schemeClr val="tx1"/>
                </a:solidFill>
                <a:effectLst/>
                <a:latin typeface="Arial" panose="020B0604020202020204" pitchFamily="34" charset="0"/>
              </a:rPr>
              <a:t>Error</a:t>
            </a:r>
            <a:r>
              <a:rPr kumimoji="0" lang="tr-TR" altLang="tr-TR" sz="1400" b="1" i="0" u="none" strike="noStrike" cap="none" normalizeH="0" baseline="0" dirty="0">
                <a:ln>
                  <a:noFill/>
                </a:ln>
                <a:solidFill>
                  <a:schemeClr val="tx1"/>
                </a:solidFill>
                <a:effectLst/>
                <a:latin typeface="Arial" panose="020B0604020202020204" pitchFamily="34" charset="0"/>
              </a:rPr>
              <a:t>)</a:t>
            </a:r>
            <a:r>
              <a:rPr kumimoji="0" lang="tr-TR" altLang="tr-TR" sz="1400" b="0" i="0" u="none" strike="noStrike" cap="none" normalizeH="0" baseline="0" dirty="0">
                <a:ln>
                  <a:noFill/>
                </a:ln>
                <a:solidFill>
                  <a:schemeClr val="tx1"/>
                </a:solidFill>
                <a:effectLst/>
                <a:latin typeface="Arial" panose="020B0604020202020204" pitchFamily="34" charset="0"/>
              </a:rPr>
              <a:t> ve </a:t>
            </a:r>
            <a:r>
              <a:rPr kumimoji="0" lang="tr-TR" altLang="tr-TR" sz="1400" b="1" i="0" u="none" strike="noStrike" cap="none" normalizeH="0" baseline="0" dirty="0">
                <a:ln>
                  <a:noFill/>
                </a:ln>
                <a:solidFill>
                  <a:schemeClr val="tx1"/>
                </a:solidFill>
                <a:effectLst/>
                <a:latin typeface="Arial" panose="020B0604020202020204" pitchFamily="34" charset="0"/>
              </a:rPr>
              <a:t>R²</a:t>
            </a:r>
            <a:r>
              <a:rPr kumimoji="0" lang="tr-TR" altLang="tr-TR" sz="1400" b="0" i="0" u="none" strike="noStrike" cap="none" normalizeH="0" baseline="0" dirty="0">
                <a:ln>
                  <a:noFill/>
                </a:ln>
                <a:solidFill>
                  <a:schemeClr val="tx1"/>
                </a:solidFill>
                <a:effectLst/>
                <a:latin typeface="Arial" panose="020B0604020202020204" pitchFamily="34" charset="0"/>
              </a:rPr>
              <a:t> gibi metrikler kullanılarak, modelin </a:t>
            </a:r>
            <a:r>
              <a:rPr kumimoji="0" lang="tr-TR" altLang="tr-TR" sz="1400" b="1" i="0" u="none" strike="noStrike" cap="none" normalizeH="0" baseline="0" dirty="0">
                <a:ln>
                  <a:noFill/>
                </a:ln>
                <a:solidFill>
                  <a:schemeClr val="tx1"/>
                </a:solidFill>
                <a:effectLst/>
                <a:latin typeface="Arial" panose="020B0604020202020204" pitchFamily="34" charset="0"/>
              </a:rPr>
              <a:t>tahmin doğruluğu</a:t>
            </a:r>
            <a:r>
              <a:rPr kumimoji="0" lang="tr-TR" altLang="tr-TR" sz="1400" b="0" i="0" u="none" strike="noStrike" cap="none" normalizeH="0" baseline="0" dirty="0">
                <a:ln>
                  <a:noFill/>
                </a:ln>
                <a:solidFill>
                  <a:schemeClr val="tx1"/>
                </a:solidFill>
                <a:effectLst/>
                <a:latin typeface="Arial" panose="020B0604020202020204" pitchFamily="34" charset="0"/>
              </a:rPr>
              <a:t> sürekli olarak izlenmiştir.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7747BF3B-B974-6E1F-4E17-39476F17E85B}"/>
              </a:ext>
            </a:extLst>
          </p:cNvPr>
          <p:cNvPicPr>
            <a:picLocks noChangeAspect="1"/>
          </p:cNvPicPr>
          <p:nvPr/>
        </p:nvPicPr>
        <p:blipFill>
          <a:blip r:embed="rId3"/>
          <a:stretch>
            <a:fillRect/>
          </a:stretch>
        </p:blipFill>
        <p:spPr>
          <a:xfrm>
            <a:off x="827532" y="356207"/>
            <a:ext cx="4133652" cy="2877859"/>
          </a:xfrm>
          <a:prstGeom prst="rect">
            <a:avLst/>
          </a:prstGeom>
        </p:spPr>
      </p:pic>
      <p:pic>
        <p:nvPicPr>
          <p:cNvPr id="17" name="Picture 16" descr="A graph on a screen&#10;&#10;AI-generated content may be incorrect.">
            <a:extLst>
              <a:ext uri="{FF2B5EF4-FFF2-40B4-BE49-F238E27FC236}">
                <a16:creationId xmlns:a16="http://schemas.microsoft.com/office/drawing/2014/main" id="{DD0ED19E-59C7-FC4D-DBFA-654389A59D18}"/>
              </a:ext>
            </a:extLst>
          </p:cNvPr>
          <p:cNvPicPr>
            <a:picLocks noChangeAspect="1"/>
          </p:cNvPicPr>
          <p:nvPr/>
        </p:nvPicPr>
        <p:blipFill>
          <a:blip r:embed="rId4"/>
          <a:stretch>
            <a:fillRect/>
          </a:stretch>
        </p:blipFill>
        <p:spPr>
          <a:xfrm>
            <a:off x="827532" y="3623935"/>
            <a:ext cx="4112099" cy="2805769"/>
          </a:xfrm>
          <a:prstGeom prst="rect">
            <a:avLst/>
          </a:prstGeom>
        </p:spPr>
      </p:pic>
    </p:spTree>
    <p:extLst>
      <p:ext uri="{BB962C8B-B14F-4D97-AF65-F5344CB8AC3E}">
        <p14:creationId xmlns:p14="http://schemas.microsoft.com/office/powerpoint/2010/main" val="3584772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ayt Numarası Yer Tutucusu 23">
            <a:extLst>
              <a:ext uri="{FF2B5EF4-FFF2-40B4-BE49-F238E27FC236}">
                <a16:creationId xmlns:a16="http://schemas.microsoft.com/office/drawing/2014/main" id="{5D838446-B95D-4AB7-B8CA-D5804BB79A11}"/>
              </a:ext>
            </a:extLst>
          </p:cNvPr>
          <p:cNvSpPr>
            <a:spLocks noGrp="1"/>
          </p:cNvSpPr>
          <p:nvPr>
            <p:ph type="sldNum" sz="quarter" idx="12"/>
          </p:nvPr>
        </p:nvSpPr>
        <p:spPr/>
        <p:txBody>
          <a:bodyPr rtlCol="0"/>
          <a:lstStyle/>
          <a:p>
            <a:pPr rtl="0"/>
            <a:fld id="{D8DA9DAA-006C-4F4B-980E-E3DF019B24E2}" type="slidenum">
              <a:rPr lang="tr-TR" smtClean="0"/>
              <a:pPr/>
              <a:t>13</a:t>
            </a:fld>
            <a:endParaRPr lang="tr-TR"/>
          </a:p>
        </p:txBody>
      </p:sp>
      <p:sp>
        <p:nvSpPr>
          <p:cNvPr id="6" name="Başlık 5">
            <a:extLst>
              <a:ext uri="{FF2B5EF4-FFF2-40B4-BE49-F238E27FC236}">
                <a16:creationId xmlns:a16="http://schemas.microsoft.com/office/drawing/2014/main" id="{FF777B66-94CB-491C-AC6B-BDAC98E21D57}"/>
              </a:ext>
            </a:extLst>
          </p:cNvPr>
          <p:cNvSpPr>
            <a:spLocks noGrp="1"/>
          </p:cNvSpPr>
          <p:nvPr>
            <p:ph type="title"/>
          </p:nvPr>
        </p:nvSpPr>
        <p:spPr>
          <a:xfrm>
            <a:off x="-133350" y="566293"/>
            <a:ext cx="11170158" cy="2295779"/>
          </a:xfrm>
        </p:spPr>
        <p:txBody>
          <a:bodyPr rtlCol="0">
            <a:normAutofit/>
          </a:bodyPr>
          <a:lstStyle/>
          <a:p>
            <a:r>
              <a:rPr lang="tr-TR" sz="4000" dirty="0"/>
              <a:t>Modelin Kendi Kendine Değerlendirme ve İyileştirme Süreci</a:t>
            </a:r>
          </a:p>
        </p:txBody>
      </p:sp>
      <p:sp>
        <p:nvSpPr>
          <p:cNvPr id="18" name="TextBox 17">
            <a:extLst>
              <a:ext uri="{FF2B5EF4-FFF2-40B4-BE49-F238E27FC236}">
                <a16:creationId xmlns:a16="http://schemas.microsoft.com/office/drawing/2014/main" id="{DE29D51E-94D2-DE5B-4217-6D3400F18991}"/>
              </a:ext>
            </a:extLst>
          </p:cNvPr>
          <p:cNvSpPr txBox="1"/>
          <p:nvPr/>
        </p:nvSpPr>
        <p:spPr>
          <a:xfrm>
            <a:off x="2070973" y="2409515"/>
            <a:ext cx="7379493"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Modelin Kendini Değerlendirmesi: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 </a:t>
            </a:r>
            <a:r>
              <a:rPr kumimoji="0" lang="tr-TR" altLang="tr-TR" sz="1800" b="1" i="0" u="none" strike="noStrike" cap="none" normalizeH="0" baseline="0" dirty="0" err="1">
                <a:ln>
                  <a:noFill/>
                </a:ln>
                <a:solidFill>
                  <a:schemeClr val="tx1"/>
                </a:solidFill>
                <a:effectLst/>
                <a:latin typeface="Arial" panose="020B0604020202020204" pitchFamily="34" charset="0"/>
              </a:rPr>
              <a:t>early</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stopping</a:t>
            </a:r>
            <a:r>
              <a:rPr kumimoji="0" lang="tr-TR" altLang="tr-TR" sz="1800" b="0" i="0" u="none" strike="noStrike" cap="none" normalizeH="0" baseline="0" dirty="0">
                <a:ln>
                  <a:noFill/>
                </a:ln>
                <a:solidFill>
                  <a:schemeClr val="tx1"/>
                </a:solidFill>
                <a:effectLst/>
                <a:latin typeface="Arial" panose="020B0604020202020204" pitchFamily="34" charset="0"/>
              </a:rPr>
              <a:t> (erken durdurma) gibi teknikler ile </a:t>
            </a:r>
            <a:r>
              <a:rPr kumimoji="0" lang="tr-TR" altLang="tr-TR" sz="1800" b="1" i="0" u="none" strike="noStrike" cap="none" normalizeH="0" baseline="0" dirty="0">
                <a:ln>
                  <a:noFill/>
                </a:ln>
                <a:solidFill>
                  <a:schemeClr val="tx1"/>
                </a:solidFill>
                <a:effectLst/>
                <a:latin typeface="Arial" panose="020B0604020202020204" pitchFamily="34" charset="0"/>
              </a:rPr>
              <a:t>en iyi iterasyonu</a:t>
            </a:r>
            <a:r>
              <a:rPr kumimoji="0" lang="tr-TR" altLang="tr-TR" sz="1800" b="0" i="0" u="none" strike="noStrike" cap="none" normalizeH="0" baseline="0" dirty="0">
                <a:ln>
                  <a:noFill/>
                </a:ln>
                <a:solidFill>
                  <a:schemeClr val="tx1"/>
                </a:solidFill>
                <a:effectLst/>
                <a:latin typeface="Arial" panose="020B0604020202020204" pitchFamily="34" charset="0"/>
              </a:rPr>
              <a:t> seçmiştir. Bu teknik, modelin aşırı öğrenmesini engellemek ve eğitim süresini </a:t>
            </a:r>
            <a:r>
              <a:rPr kumimoji="0" lang="tr-TR" altLang="tr-TR" sz="1800" b="1" i="0" u="none" strike="noStrike" cap="none" normalizeH="0" baseline="0" dirty="0">
                <a:ln>
                  <a:noFill/>
                </a:ln>
                <a:solidFill>
                  <a:schemeClr val="tx1"/>
                </a:solidFill>
                <a:effectLst/>
                <a:latin typeface="Arial" panose="020B0604020202020204" pitchFamily="34" charset="0"/>
              </a:rPr>
              <a:t>optimize etmek</a:t>
            </a:r>
            <a:r>
              <a:rPr kumimoji="0" lang="tr-TR" altLang="tr-TR" sz="1800" b="0" i="0" u="none" strike="noStrike" cap="none" normalizeH="0" baseline="0" dirty="0">
                <a:ln>
                  <a:noFill/>
                </a:ln>
                <a:solidFill>
                  <a:schemeClr val="tx1"/>
                </a:solidFill>
                <a:effectLst/>
                <a:latin typeface="Arial" panose="020B0604020202020204" pitchFamily="34" charset="0"/>
              </a:rPr>
              <a:t> için kullanılır.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Eğitim sırasında </a:t>
            </a:r>
            <a:r>
              <a:rPr kumimoji="0" lang="tr-TR" altLang="tr-TR" sz="1800" b="1" i="0" u="none" strike="noStrike" cap="none" normalizeH="0" baseline="0" dirty="0">
                <a:ln>
                  <a:noFill/>
                </a:ln>
                <a:solidFill>
                  <a:schemeClr val="tx1"/>
                </a:solidFill>
                <a:effectLst/>
                <a:latin typeface="Arial" panose="020B0604020202020204" pitchFamily="34" charset="0"/>
              </a:rPr>
              <a:t>her iterasyonda doğrulama seti üzerindeki performans</a:t>
            </a:r>
            <a:r>
              <a:rPr kumimoji="0" lang="tr-TR" altLang="tr-TR" sz="1800" b="0" i="0" u="none" strike="noStrike" cap="none" normalizeH="0" baseline="0" dirty="0">
                <a:ln>
                  <a:noFill/>
                </a:ln>
                <a:solidFill>
                  <a:schemeClr val="tx1"/>
                </a:solidFill>
                <a:effectLst/>
                <a:latin typeface="Arial" panose="020B0604020202020204" pitchFamily="34" charset="0"/>
              </a:rPr>
              <a:t> kontrol edilmiştir. Bu sayede modelin </a:t>
            </a:r>
            <a:r>
              <a:rPr kumimoji="0" lang="tr-TR" altLang="tr-TR" sz="1800" b="1" i="0" u="none" strike="noStrike" cap="none" normalizeH="0" baseline="0" dirty="0">
                <a:ln>
                  <a:noFill/>
                </a:ln>
                <a:solidFill>
                  <a:schemeClr val="tx1"/>
                </a:solidFill>
                <a:effectLst/>
                <a:latin typeface="Arial" panose="020B0604020202020204" pitchFamily="34" charset="0"/>
              </a:rPr>
              <a:t>en iyi sonuç verdiği iterasyon</a:t>
            </a:r>
            <a:r>
              <a:rPr kumimoji="0" lang="tr-TR" altLang="tr-TR" sz="1800" b="0" i="0" u="none" strike="noStrike" cap="none" normalizeH="0" baseline="0" dirty="0">
                <a:ln>
                  <a:noFill/>
                </a:ln>
                <a:solidFill>
                  <a:schemeClr val="tx1"/>
                </a:solidFill>
                <a:effectLst/>
                <a:latin typeface="Arial" panose="020B0604020202020204" pitchFamily="34" charset="0"/>
              </a:rPr>
              <a:t> kaydedilmiş ve </a:t>
            </a:r>
            <a:r>
              <a:rPr kumimoji="0" lang="tr-TR" altLang="tr-TR" sz="1800" b="1" i="0" u="none" strike="noStrike" cap="none" normalizeH="0" baseline="0" dirty="0">
                <a:ln>
                  <a:noFill/>
                </a:ln>
                <a:solidFill>
                  <a:schemeClr val="tx1"/>
                </a:solidFill>
                <a:effectLst/>
                <a:latin typeface="Arial" panose="020B0604020202020204" pitchFamily="34" charset="0"/>
              </a:rPr>
              <a:t>başka iterasyonlarda </a:t>
            </a:r>
            <a:r>
              <a:rPr kumimoji="0" lang="tr-TR" altLang="tr-TR" sz="1800" b="1" i="0" u="none" strike="noStrike" cap="none" normalizeH="0" baseline="0" dirty="0" err="1">
                <a:ln>
                  <a:noFill/>
                </a:ln>
                <a:solidFill>
                  <a:schemeClr val="tx1"/>
                </a:solidFill>
                <a:effectLst/>
                <a:latin typeface="Arial" panose="020B0604020202020204" pitchFamily="34" charset="0"/>
              </a:rPr>
              <a:t>overfitting</a:t>
            </a:r>
            <a:r>
              <a:rPr kumimoji="0" lang="tr-TR" altLang="tr-TR" sz="1800" b="1" i="0" u="none" strike="noStrike" cap="none" normalizeH="0" baseline="0" dirty="0">
                <a:ln>
                  <a:noFill/>
                </a:ln>
                <a:solidFill>
                  <a:schemeClr val="tx1"/>
                </a:solidFill>
                <a:effectLst/>
                <a:latin typeface="Arial" panose="020B0604020202020204" pitchFamily="34" charset="0"/>
              </a:rPr>
              <a:t> riski</a:t>
            </a:r>
            <a:r>
              <a:rPr kumimoji="0" lang="tr-TR" altLang="tr-TR" sz="1800" b="0" i="0" u="none" strike="noStrike" cap="none" normalizeH="0" baseline="0" dirty="0">
                <a:ln>
                  <a:noFill/>
                </a:ln>
                <a:solidFill>
                  <a:schemeClr val="tx1"/>
                </a:solidFill>
                <a:effectLst/>
                <a:latin typeface="Arial" panose="020B0604020202020204" pitchFamily="34" charset="0"/>
              </a:rPr>
              <a:t> engellenmiştir.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İyileştirme Süreci: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Modelin performansı izlenirken, doğrulama seti üzerindeki performans sürekli olarak </a:t>
            </a:r>
            <a:r>
              <a:rPr kumimoji="0" lang="tr-TR" altLang="tr-TR" sz="1800" b="1" i="0" u="none" strike="noStrike" cap="none" normalizeH="0" baseline="0" dirty="0">
                <a:ln>
                  <a:noFill/>
                </a:ln>
                <a:solidFill>
                  <a:schemeClr val="tx1"/>
                </a:solidFill>
                <a:effectLst/>
                <a:latin typeface="Arial" panose="020B0604020202020204" pitchFamily="34" charset="0"/>
              </a:rPr>
              <a:t>arttırılmaya çalışılmıştır</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Kapsayıcı model parametreleri</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err="1">
                <a:ln>
                  <a:noFill/>
                </a:ln>
                <a:solidFill>
                  <a:schemeClr val="tx1"/>
                </a:solidFill>
                <a:effectLst/>
                <a:latin typeface="Arial" panose="020B0604020202020204" pitchFamily="34" charset="0"/>
              </a:rPr>
              <a:t>regülerleşme</a:t>
            </a:r>
            <a:r>
              <a:rPr kumimoji="0" lang="tr-TR" altLang="tr-TR" sz="1800" b="1" i="0" u="none" strike="noStrike" cap="none" normalizeH="0" baseline="0" dirty="0">
                <a:ln>
                  <a:noFill/>
                </a:ln>
                <a:solidFill>
                  <a:schemeClr val="tx1"/>
                </a:solidFill>
                <a:effectLst/>
                <a:latin typeface="Arial" panose="020B0604020202020204" pitchFamily="34" charset="0"/>
              </a:rPr>
              <a:t> stratejileri</a:t>
            </a:r>
            <a:r>
              <a:rPr kumimoji="0" lang="tr-TR" altLang="tr-TR" sz="1800" b="0" i="0" u="none" strike="noStrike" cap="none" normalizeH="0" baseline="0" dirty="0">
                <a:ln>
                  <a:noFill/>
                </a:ln>
                <a:solidFill>
                  <a:schemeClr val="tx1"/>
                </a:solidFill>
                <a:effectLst/>
                <a:latin typeface="Arial" panose="020B0604020202020204" pitchFamily="34" charset="0"/>
              </a:rPr>
              <a:t> kullanılarak, modelin </a:t>
            </a:r>
            <a:r>
              <a:rPr kumimoji="0" lang="tr-TR" altLang="tr-TR" sz="1800" b="1" i="0" u="none" strike="noStrike" cap="none" normalizeH="0" baseline="0" dirty="0">
                <a:ln>
                  <a:noFill/>
                </a:ln>
                <a:solidFill>
                  <a:schemeClr val="tx1"/>
                </a:solidFill>
                <a:effectLst/>
                <a:latin typeface="Arial" panose="020B0604020202020204" pitchFamily="34" charset="0"/>
              </a:rPr>
              <a:t>stabilitesini</a:t>
            </a:r>
            <a:r>
              <a:rPr kumimoji="0" lang="tr-TR" altLang="tr-TR" sz="1800" b="0" i="0" u="none" strike="noStrike" cap="none" normalizeH="0" baseline="0" dirty="0">
                <a:ln>
                  <a:noFill/>
                </a:ln>
                <a:solidFill>
                  <a:schemeClr val="tx1"/>
                </a:solidFill>
                <a:effectLst/>
                <a:latin typeface="Arial" panose="020B0604020202020204" pitchFamily="34" charset="0"/>
              </a:rPr>
              <a:t> sağlamak için </a:t>
            </a:r>
            <a:r>
              <a:rPr kumimoji="0" lang="tr-TR" altLang="tr-TR" sz="1800" b="0" i="0" u="none" strike="noStrike" cap="none" normalizeH="0" baseline="0" dirty="0" err="1">
                <a:ln>
                  <a:noFill/>
                </a:ln>
                <a:solidFill>
                  <a:schemeClr val="tx1"/>
                </a:solidFill>
                <a:effectLst/>
                <a:latin typeface="Arial" panose="020B0604020202020204" pitchFamily="34" charset="0"/>
              </a:rPr>
              <a:t>hiperparametre</a:t>
            </a:r>
            <a:r>
              <a:rPr kumimoji="0" lang="tr-TR" altLang="tr-TR" sz="1800" b="0" i="0" u="none" strike="noStrike" cap="none" normalizeH="0" baseline="0" dirty="0">
                <a:ln>
                  <a:noFill/>
                </a:ln>
                <a:solidFill>
                  <a:schemeClr val="tx1"/>
                </a:solidFill>
                <a:effectLst/>
                <a:latin typeface="Arial" panose="020B0604020202020204" pitchFamily="34" charset="0"/>
              </a:rPr>
              <a:t> optimizasyonu yapılmıştır.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7313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1D37BF-7E24-0094-3AC5-477FAD4134E1}"/>
              </a:ext>
            </a:extLst>
          </p:cNvPr>
          <p:cNvSpPr>
            <a:spLocks noGrp="1"/>
          </p:cNvSpPr>
          <p:nvPr>
            <p:ph type="title"/>
          </p:nvPr>
        </p:nvSpPr>
        <p:spPr>
          <a:xfrm>
            <a:off x="762000" y="-572135"/>
            <a:ext cx="11068050" cy="2276856"/>
          </a:xfrm>
        </p:spPr>
        <p:txBody>
          <a:bodyPr/>
          <a:lstStyle/>
          <a:p>
            <a:pPr algn="ctr"/>
            <a:r>
              <a:rPr lang="tr-TR" dirty="0"/>
              <a:t>SHAP ve Model </a:t>
            </a:r>
            <a:r>
              <a:rPr lang="tr-TR" dirty="0" err="1"/>
              <a:t>Açıklanabilirliği</a:t>
            </a:r>
            <a:endParaRPr lang="tr-TR" dirty="0"/>
          </a:p>
        </p:txBody>
      </p:sp>
      <p:sp>
        <p:nvSpPr>
          <p:cNvPr id="9" name="Slide Number Placeholder 8">
            <a:extLst>
              <a:ext uri="{FF2B5EF4-FFF2-40B4-BE49-F238E27FC236}">
                <a16:creationId xmlns:a16="http://schemas.microsoft.com/office/drawing/2014/main" id="{54BB8870-61E8-E179-BC59-FF1D452A39B0}"/>
              </a:ext>
            </a:extLst>
          </p:cNvPr>
          <p:cNvSpPr>
            <a:spLocks noGrp="1"/>
          </p:cNvSpPr>
          <p:nvPr>
            <p:ph type="sldNum" sz="quarter" idx="12"/>
          </p:nvPr>
        </p:nvSpPr>
        <p:spPr/>
        <p:txBody>
          <a:bodyPr/>
          <a:lstStyle/>
          <a:p>
            <a:pPr rtl="0"/>
            <a:fld id="{D8DA9DAA-006C-4F4B-980E-E3DF019B24E2}" type="slidenum">
              <a:rPr lang="tr-TR" noProof="0" smtClean="0"/>
              <a:pPr rtl="0"/>
              <a:t>14</a:t>
            </a:fld>
            <a:endParaRPr lang="tr-TR" noProof="0"/>
          </a:p>
        </p:txBody>
      </p:sp>
      <p:sp>
        <p:nvSpPr>
          <p:cNvPr id="15" name="TextBox 14">
            <a:extLst>
              <a:ext uri="{FF2B5EF4-FFF2-40B4-BE49-F238E27FC236}">
                <a16:creationId xmlns:a16="http://schemas.microsoft.com/office/drawing/2014/main" id="{E5124C9E-F819-92EA-E0EC-C73FB71ABF9E}"/>
              </a:ext>
            </a:extLst>
          </p:cNvPr>
          <p:cNvSpPr txBox="1"/>
          <p:nvPr/>
        </p:nvSpPr>
        <p:spPr>
          <a:xfrm>
            <a:off x="6172200" y="1779687"/>
            <a:ext cx="5657850"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Model </a:t>
            </a:r>
            <a:r>
              <a:rPr kumimoji="0" lang="tr-TR" altLang="tr-TR" sz="1800" b="1" i="0" u="none" strike="noStrike" cap="none" normalizeH="0" baseline="0" dirty="0" err="1">
                <a:ln>
                  <a:noFill/>
                </a:ln>
                <a:solidFill>
                  <a:schemeClr val="tx1"/>
                </a:solidFill>
                <a:effectLst/>
                <a:latin typeface="Arial" panose="020B0604020202020204" pitchFamily="34" charset="0"/>
              </a:rPr>
              <a:t>Açıklanabilirliği</a:t>
            </a:r>
            <a:r>
              <a:rPr kumimoji="0" lang="tr-TR" altLang="tr-TR" sz="1800" b="1" i="0" u="none" strike="noStrike" cap="none" normalizeH="0" baseline="0" dirty="0">
                <a:ln>
                  <a:noFill/>
                </a:ln>
                <a:solidFill>
                  <a:schemeClr val="tx1"/>
                </a:solidFill>
                <a:effectLst/>
                <a:latin typeface="Arial" panose="020B0604020202020204" pitchFamily="34" charset="0"/>
              </a:rPr>
              <a:t>:</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SHAP Değerleri:</a:t>
            </a:r>
            <a:r>
              <a:rPr kumimoji="0" lang="tr-TR" altLang="tr-TR" sz="1800" b="0" i="0" u="none" strike="noStrike" cap="none" normalizeH="0" baseline="0" dirty="0">
                <a:ln>
                  <a:noFill/>
                </a:ln>
                <a:solidFill>
                  <a:schemeClr val="tx1"/>
                </a:solidFill>
                <a:effectLst/>
                <a:latin typeface="Arial" panose="020B0604020202020204" pitchFamily="34" charset="0"/>
              </a:rPr>
              <a:t> Modelin </a:t>
            </a:r>
            <a:r>
              <a:rPr kumimoji="0" lang="tr-TR" altLang="tr-TR" sz="1800" b="1" i="0" u="none" strike="noStrike" cap="none" normalizeH="0" baseline="0" dirty="0">
                <a:ln>
                  <a:noFill/>
                </a:ln>
                <a:solidFill>
                  <a:schemeClr val="tx1"/>
                </a:solidFill>
                <a:effectLst/>
                <a:latin typeface="Arial" panose="020B0604020202020204" pitchFamily="34" charset="0"/>
              </a:rPr>
              <a:t>karar verme süreçlerini</a:t>
            </a:r>
            <a:r>
              <a:rPr kumimoji="0" lang="tr-TR" altLang="tr-TR" sz="1800" b="0" i="0" u="none" strike="noStrike" cap="none" normalizeH="0" baseline="0" dirty="0">
                <a:ln>
                  <a:noFill/>
                </a:ln>
                <a:solidFill>
                  <a:schemeClr val="tx1"/>
                </a:solidFill>
                <a:effectLst/>
                <a:latin typeface="Arial" panose="020B0604020202020204" pitchFamily="34" charset="0"/>
              </a:rPr>
              <a:t> daha şeffaf hale getirmek için </a:t>
            </a:r>
            <a:r>
              <a:rPr kumimoji="0" lang="tr-TR" altLang="tr-TR" sz="1800" b="1" i="0" u="none" strike="noStrike" cap="none" normalizeH="0" baseline="0" dirty="0">
                <a:ln>
                  <a:noFill/>
                </a:ln>
                <a:solidFill>
                  <a:schemeClr val="tx1"/>
                </a:solidFill>
                <a:effectLst/>
                <a:latin typeface="Arial" panose="020B0604020202020204" pitchFamily="34" charset="0"/>
              </a:rPr>
              <a:t>SHAP değerleri</a:t>
            </a:r>
            <a:r>
              <a:rPr kumimoji="0" lang="tr-TR" altLang="tr-TR" sz="1800" b="0" i="0" u="none" strike="noStrike" cap="none" normalizeH="0" baseline="0" dirty="0">
                <a:ln>
                  <a:noFill/>
                </a:ln>
                <a:solidFill>
                  <a:schemeClr val="tx1"/>
                </a:solidFill>
                <a:effectLst/>
                <a:latin typeface="Arial" panose="020B0604020202020204" pitchFamily="34" charset="0"/>
              </a:rPr>
              <a:t> kullanılmıştır. Bu değerler, hangi özelliklerin modelin tahminlerine ne kadar katkı sağladığını gösterir.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Feature</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Importance</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Modelin kullandığı </a:t>
            </a:r>
            <a:r>
              <a:rPr kumimoji="0" lang="tr-TR" altLang="tr-TR" sz="1800" b="1" i="0" u="none" strike="noStrike" cap="none" normalizeH="0" baseline="0" dirty="0">
                <a:ln>
                  <a:noFill/>
                </a:ln>
                <a:solidFill>
                  <a:schemeClr val="tx1"/>
                </a:solidFill>
                <a:effectLst/>
                <a:latin typeface="Arial" panose="020B0604020202020204" pitchFamily="34" charset="0"/>
              </a:rPr>
              <a:t>en önemli özellikler</a:t>
            </a:r>
            <a:r>
              <a:rPr kumimoji="0" lang="tr-TR" altLang="tr-TR" sz="1800" b="0" i="0" u="none" strike="noStrike" cap="none" normalizeH="0" baseline="0" dirty="0">
                <a:ln>
                  <a:noFill/>
                </a:ln>
                <a:solidFill>
                  <a:schemeClr val="tx1"/>
                </a:solidFill>
                <a:effectLst/>
                <a:latin typeface="Arial" panose="020B0604020202020204" pitchFamily="34" charset="0"/>
              </a:rPr>
              <a:t> SHAP değerleriyle görselleştirilmiştir. Böylece, kullanıcılar hangi özelliklerin daha etkili olduğunu net bir şekilde görebilir.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Açıklanabilirlik</a:t>
            </a:r>
            <a:r>
              <a:rPr kumimoji="0" lang="tr-TR" altLang="tr-TR" sz="1800" b="1" i="0" u="none" strike="noStrike" cap="none" normalizeH="0" baseline="0" dirty="0">
                <a:ln>
                  <a:noFill/>
                </a:ln>
                <a:solidFill>
                  <a:schemeClr val="tx1"/>
                </a:solidFill>
                <a:effectLst/>
                <a:latin typeface="Arial" panose="020B0604020202020204" pitchFamily="34" charset="0"/>
              </a:rPr>
              <a:t> ve Güven:</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Modelin </a:t>
            </a:r>
            <a:r>
              <a:rPr kumimoji="0" lang="tr-TR" altLang="tr-TR" sz="1800" b="0" i="0" u="none" strike="noStrike" cap="none" normalizeH="0" baseline="0" dirty="0" err="1">
                <a:ln>
                  <a:noFill/>
                </a:ln>
                <a:solidFill>
                  <a:schemeClr val="tx1"/>
                </a:solidFill>
                <a:effectLst/>
                <a:latin typeface="Arial" panose="020B0604020202020204" pitchFamily="34" charset="0"/>
              </a:rPr>
              <a:t>açıklanabilirliği</a:t>
            </a:r>
            <a:r>
              <a:rPr kumimoji="0" lang="tr-TR" altLang="tr-TR" sz="1800" b="0" i="0" u="none" strike="noStrike" cap="none" normalizeH="0" baseline="0" dirty="0">
                <a:ln>
                  <a:noFill/>
                </a:ln>
                <a:solidFill>
                  <a:schemeClr val="tx1"/>
                </a:solidFill>
                <a:effectLst/>
                <a:latin typeface="Arial" panose="020B0604020202020204" pitchFamily="34" charset="0"/>
              </a:rPr>
              <a:t>, kullanıcıların </a:t>
            </a:r>
            <a:r>
              <a:rPr kumimoji="0" lang="tr-TR" altLang="tr-TR" sz="1800" b="1" i="0" u="none" strike="noStrike" cap="none" normalizeH="0" baseline="0" dirty="0">
                <a:ln>
                  <a:noFill/>
                </a:ln>
                <a:solidFill>
                  <a:schemeClr val="tx1"/>
                </a:solidFill>
                <a:effectLst/>
                <a:latin typeface="Arial" panose="020B0604020202020204" pitchFamily="34" charset="0"/>
              </a:rPr>
              <a:t>modelin sonuçlarına güvenmesini</a:t>
            </a:r>
            <a:r>
              <a:rPr kumimoji="0" lang="tr-TR" altLang="tr-TR" sz="1800" b="0" i="0" u="none" strike="noStrike" cap="none" normalizeH="0" baseline="0" dirty="0">
                <a:ln>
                  <a:noFill/>
                </a:ln>
                <a:solidFill>
                  <a:schemeClr val="tx1"/>
                </a:solidFill>
                <a:effectLst/>
                <a:latin typeface="Arial" panose="020B0604020202020204" pitchFamily="34" charset="0"/>
              </a:rPr>
              <a:t> sağlar. Kullanıcılar, </a:t>
            </a:r>
            <a:r>
              <a:rPr kumimoji="0" lang="tr-TR" altLang="tr-TR" sz="1800" b="1" i="0" u="none" strike="noStrike" cap="none" normalizeH="0" baseline="0" dirty="0">
                <a:ln>
                  <a:noFill/>
                </a:ln>
                <a:solidFill>
                  <a:schemeClr val="tx1"/>
                </a:solidFill>
                <a:effectLst/>
                <a:latin typeface="Arial" panose="020B0604020202020204" pitchFamily="34" charset="0"/>
              </a:rPr>
              <a:t>fiyat tahminlerinin ve karar etiketlerinin</a:t>
            </a:r>
            <a:r>
              <a:rPr kumimoji="0" lang="tr-TR" altLang="tr-TR" sz="1800" b="0" i="0" u="none" strike="noStrike" cap="none" normalizeH="0" baseline="0" dirty="0">
                <a:ln>
                  <a:noFill/>
                </a:ln>
                <a:solidFill>
                  <a:schemeClr val="tx1"/>
                </a:solidFill>
                <a:effectLst/>
                <a:latin typeface="Arial" panose="020B0604020202020204" pitchFamily="34" charset="0"/>
              </a:rPr>
              <a:t> nasıl oluşturulduğunu anlamak isteyecektir.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Ayrıca, </a:t>
            </a:r>
            <a:r>
              <a:rPr kumimoji="0" lang="tr-TR" altLang="tr-TR" sz="1800" b="1" i="0" u="none" strike="noStrike" cap="none" normalizeH="0" baseline="0" dirty="0">
                <a:ln>
                  <a:noFill/>
                </a:ln>
                <a:solidFill>
                  <a:schemeClr val="tx1"/>
                </a:solidFill>
                <a:effectLst/>
                <a:latin typeface="Arial" panose="020B0604020202020204" pitchFamily="34" charset="0"/>
              </a:rPr>
              <a:t>yatırımcılar</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a:ln>
                  <a:noFill/>
                </a:ln>
                <a:solidFill>
                  <a:schemeClr val="tx1"/>
                </a:solidFill>
                <a:effectLst/>
                <a:latin typeface="Arial" panose="020B0604020202020204" pitchFamily="34" charset="0"/>
              </a:rPr>
              <a:t>gayrimenkul uzmanları</a:t>
            </a:r>
            <a:r>
              <a:rPr kumimoji="0" lang="tr-TR" altLang="tr-TR" sz="1800" b="0" i="0" u="none" strike="noStrike" cap="none" normalizeH="0" baseline="0" dirty="0">
                <a:ln>
                  <a:noFill/>
                </a:ln>
                <a:solidFill>
                  <a:schemeClr val="tx1"/>
                </a:solidFill>
                <a:effectLst/>
                <a:latin typeface="Arial" panose="020B0604020202020204" pitchFamily="34" charset="0"/>
              </a:rPr>
              <a:t>, modelin kararlarını net bir şekilde görebilecek ve </a:t>
            </a:r>
            <a:r>
              <a:rPr kumimoji="0" lang="tr-TR" altLang="tr-TR" sz="1800" b="1" i="0" u="none" strike="noStrike" cap="none" normalizeH="0" baseline="0" dirty="0">
                <a:ln>
                  <a:noFill/>
                </a:ln>
                <a:solidFill>
                  <a:schemeClr val="tx1"/>
                </a:solidFill>
                <a:effectLst/>
                <a:latin typeface="Arial" panose="020B0604020202020204" pitchFamily="34" charset="0"/>
              </a:rPr>
              <a:t>daha güvenilir</a:t>
            </a:r>
            <a:r>
              <a:rPr kumimoji="0" lang="tr-TR" altLang="tr-TR" sz="1800" b="0" i="0" u="none" strike="noStrike" cap="none" normalizeH="0" baseline="0" dirty="0">
                <a:ln>
                  <a:noFill/>
                </a:ln>
                <a:solidFill>
                  <a:schemeClr val="tx1"/>
                </a:solidFill>
                <a:effectLst/>
                <a:latin typeface="Arial" panose="020B0604020202020204" pitchFamily="34" charset="0"/>
              </a:rPr>
              <a:t> bir şekilde yatırım yapabileceklerdir.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17" name="Picture 16">
            <a:extLst>
              <a:ext uri="{FF2B5EF4-FFF2-40B4-BE49-F238E27FC236}">
                <a16:creationId xmlns:a16="http://schemas.microsoft.com/office/drawing/2014/main" id="{DB02528B-13BA-7796-AB6B-8C0A22850433}"/>
              </a:ext>
            </a:extLst>
          </p:cNvPr>
          <p:cNvPicPr>
            <a:picLocks noChangeAspect="1"/>
          </p:cNvPicPr>
          <p:nvPr/>
        </p:nvPicPr>
        <p:blipFill>
          <a:blip r:embed="rId2"/>
          <a:stretch>
            <a:fillRect/>
          </a:stretch>
        </p:blipFill>
        <p:spPr>
          <a:xfrm>
            <a:off x="1617782" y="1811799"/>
            <a:ext cx="3830518" cy="4918437"/>
          </a:xfrm>
          <a:prstGeom prst="rect">
            <a:avLst/>
          </a:prstGeom>
        </p:spPr>
      </p:pic>
    </p:spTree>
    <p:extLst>
      <p:ext uri="{BB962C8B-B14F-4D97-AF65-F5344CB8AC3E}">
        <p14:creationId xmlns:p14="http://schemas.microsoft.com/office/powerpoint/2010/main" val="1892037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A9BF-98FD-B5F8-7092-BE91140E1F9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B255D-9DA3-A554-AE03-B1BA8B1F5574}"/>
              </a:ext>
            </a:extLst>
          </p:cNvPr>
          <p:cNvSpPr>
            <a:spLocks noGrp="1"/>
          </p:cNvSpPr>
          <p:nvPr>
            <p:ph type="title"/>
          </p:nvPr>
        </p:nvSpPr>
        <p:spPr>
          <a:xfrm>
            <a:off x="762000" y="-572135"/>
            <a:ext cx="11068050" cy="2276856"/>
          </a:xfrm>
        </p:spPr>
        <p:txBody>
          <a:bodyPr/>
          <a:lstStyle/>
          <a:p>
            <a:pPr algn="ctr"/>
            <a:r>
              <a:rPr lang="tr-TR" dirty="0"/>
              <a:t>Eğitim ve </a:t>
            </a:r>
            <a:r>
              <a:rPr lang="tr-TR" dirty="0" err="1"/>
              <a:t>Hiperparametre</a:t>
            </a:r>
            <a:r>
              <a:rPr lang="tr-TR" dirty="0"/>
              <a:t> Optimizasyonu</a:t>
            </a:r>
          </a:p>
        </p:txBody>
      </p:sp>
      <p:sp>
        <p:nvSpPr>
          <p:cNvPr id="9" name="Slide Number Placeholder 8">
            <a:extLst>
              <a:ext uri="{FF2B5EF4-FFF2-40B4-BE49-F238E27FC236}">
                <a16:creationId xmlns:a16="http://schemas.microsoft.com/office/drawing/2014/main" id="{6E58CD21-A9C3-21D9-5C76-BEC99F408AD1}"/>
              </a:ext>
            </a:extLst>
          </p:cNvPr>
          <p:cNvSpPr>
            <a:spLocks noGrp="1"/>
          </p:cNvSpPr>
          <p:nvPr>
            <p:ph type="sldNum" sz="quarter" idx="12"/>
          </p:nvPr>
        </p:nvSpPr>
        <p:spPr/>
        <p:txBody>
          <a:bodyPr/>
          <a:lstStyle/>
          <a:p>
            <a:pPr rtl="0"/>
            <a:fld id="{D8DA9DAA-006C-4F4B-980E-E3DF019B24E2}" type="slidenum">
              <a:rPr lang="tr-TR" noProof="0" smtClean="0"/>
              <a:pPr rtl="0"/>
              <a:t>15</a:t>
            </a:fld>
            <a:endParaRPr lang="tr-TR" noProof="0"/>
          </a:p>
        </p:txBody>
      </p:sp>
      <p:sp>
        <p:nvSpPr>
          <p:cNvPr id="5" name="TextBox 4">
            <a:extLst>
              <a:ext uri="{FF2B5EF4-FFF2-40B4-BE49-F238E27FC236}">
                <a16:creationId xmlns:a16="http://schemas.microsoft.com/office/drawing/2014/main" id="{76CA14DE-810A-7EC0-DF4B-B1F8813D713D}"/>
              </a:ext>
            </a:extLst>
          </p:cNvPr>
          <p:cNvSpPr txBox="1"/>
          <p:nvPr/>
        </p:nvSpPr>
        <p:spPr>
          <a:xfrm>
            <a:off x="1866899" y="1858899"/>
            <a:ext cx="5905501" cy="48013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Eğitim Süreci: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 </a:t>
            </a:r>
            <a:r>
              <a:rPr kumimoji="0" lang="tr-TR" altLang="tr-TR" sz="1800" b="1" i="0" u="none" strike="noStrike" cap="none" normalizeH="0" baseline="0" dirty="0" err="1">
                <a:ln>
                  <a:noFill/>
                </a:ln>
                <a:solidFill>
                  <a:schemeClr val="tx1"/>
                </a:solidFill>
                <a:effectLst/>
                <a:latin typeface="Arial" panose="020B0604020202020204" pitchFamily="34" charset="0"/>
              </a:rPr>
              <a:t>LightGBM</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err="1">
                <a:ln>
                  <a:noFill/>
                </a:ln>
                <a:solidFill>
                  <a:schemeClr val="tx1"/>
                </a:solidFill>
                <a:effectLst/>
                <a:latin typeface="Arial" panose="020B0604020202020204" pitchFamily="34" charset="0"/>
              </a:rPr>
              <a:t>XGBoost</a:t>
            </a:r>
            <a:r>
              <a:rPr kumimoji="0" lang="tr-TR" altLang="tr-TR" sz="1800" b="0" i="0" u="none" strike="noStrike" cap="none" normalizeH="0" baseline="0" dirty="0">
                <a:ln>
                  <a:noFill/>
                </a:ln>
                <a:solidFill>
                  <a:schemeClr val="tx1"/>
                </a:solidFill>
                <a:effectLst/>
                <a:latin typeface="Arial" panose="020B0604020202020204" pitchFamily="34" charset="0"/>
              </a:rPr>
              <a:t> gibi güçlü ağaç tabanlı algoritmalar kullanılarak eğitilmiştir.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Eğitim süreci boyunca, modelin </a:t>
            </a:r>
            <a:r>
              <a:rPr kumimoji="0" lang="tr-TR" altLang="tr-TR" sz="1800" b="1" i="0" u="none" strike="noStrike" cap="none" normalizeH="0" baseline="0" dirty="0">
                <a:ln>
                  <a:noFill/>
                </a:ln>
                <a:solidFill>
                  <a:schemeClr val="tx1"/>
                </a:solidFill>
                <a:effectLst/>
                <a:latin typeface="Arial" panose="020B0604020202020204" pitchFamily="34" charset="0"/>
              </a:rPr>
              <a:t>performansını optimize etmek</a:t>
            </a:r>
            <a:r>
              <a:rPr kumimoji="0" lang="tr-TR" altLang="tr-TR" sz="1800" b="0" i="0" u="none" strike="noStrike" cap="none" normalizeH="0" baseline="0" dirty="0">
                <a:ln>
                  <a:noFill/>
                </a:ln>
                <a:solidFill>
                  <a:schemeClr val="tx1"/>
                </a:solidFill>
                <a:effectLst/>
                <a:latin typeface="Arial" panose="020B0604020202020204" pitchFamily="34" charset="0"/>
              </a:rPr>
              <a:t> için </a:t>
            </a:r>
            <a:r>
              <a:rPr kumimoji="0" lang="tr-TR" altLang="tr-TR" sz="1800" b="0" i="0" u="none" strike="noStrike" cap="none" normalizeH="0" baseline="0" dirty="0" err="1">
                <a:ln>
                  <a:noFill/>
                </a:ln>
                <a:solidFill>
                  <a:schemeClr val="tx1"/>
                </a:solidFill>
                <a:effectLst/>
                <a:latin typeface="Arial" panose="020B0604020202020204" pitchFamily="34" charset="0"/>
              </a:rPr>
              <a:t>hiperparametreler</a:t>
            </a:r>
            <a:r>
              <a:rPr kumimoji="0" lang="tr-TR" altLang="tr-TR" sz="1800" b="0" i="0" u="none" strike="noStrike" cap="none" normalizeH="0" baseline="0" dirty="0">
                <a:ln>
                  <a:noFill/>
                </a:ln>
                <a:solidFill>
                  <a:schemeClr val="tx1"/>
                </a:solidFill>
                <a:effectLst/>
                <a:latin typeface="Arial" panose="020B0604020202020204" pitchFamily="34" charset="0"/>
              </a:rPr>
              <a:t> sık sık ayarlanmıştır. Bu süreç, eğitim ve doğrulama arasındaki farkları izleyerek </a:t>
            </a:r>
            <a:r>
              <a:rPr kumimoji="0" lang="tr-TR" altLang="tr-TR" sz="1800" b="1" i="0" u="none" strike="noStrike" cap="none" normalizeH="0" baseline="0" dirty="0">
                <a:ln>
                  <a:noFill/>
                </a:ln>
                <a:solidFill>
                  <a:schemeClr val="tx1"/>
                </a:solidFill>
                <a:effectLst/>
                <a:latin typeface="Arial" panose="020B0604020202020204" pitchFamily="34" charset="0"/>
              </a:rPr>
              <a:t>aşırı öğrenmeyi</a:t>
            </a:r>
            <a:r>
              <a:rPr kumimoji="0" lang="tr-TR" altLang="tr-TR" sz="1800" b="0" i="0" u="none" strike="noStrike" cap="none" normalizeH="0" baseline="0" dirty="0">
                <a:ln>
                  <a:noFill/>
                </a:ln>
                <a:solidFill>
                  <a:schemeClr val="tx1"/>
                </a:solidFill>
                <a:effectLst/>
                <a:latin typeface="Arial" panose="020B0604020202020204" pitchFamily="34" charset="0"/>
              </a:rPr>
              <a:t> engellemeyi hedeflemiştir.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Hiperparametre</a:t>
            </a:r>
            <a:r>
              <a:rPr kumimoji="0" lang="tr-TR" altLang="tr-TR" sz="1800" b="1" i="0" u="none" strike="noStrike" cap="none" normalizeH="0" baseline="0" dirty="0">
                <a:ln>
                  <a:noFill/>
                </a:ln>
                <a:solidFill>
                  <a:schemeClr val="tx1"/>
                </a:solidFill>
                <a:effectLst/>
                <a:latin typeface="Arial" panose="020B0604020202020204" pitchFamily="34" charset="0"/>
              </a:rPr>
              <a:t> Optimizasyonu:</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Grid </a:t>
            </a:r>
            <a:r>
              <a:rPr kumimoji="0" lang="tr-TR" altLang="tr-TR" sz="1800" b="1" i="0" u="none" strike="noStrike" cap="none" normalizeH="0" baseline="0" dirty="0" err="1">
                <a:ln>
                  <a:noFill/>
                </a:ln>
                <a:solidFill>
                  <a:schemeClr val="tx1"/>
                </a:solidFill>
                <a:effectLst/>
                <a:latin typeface="Arial" panose="020B0604020202020204" pitchFamily="34" charset="0"/>
              </a:rPr>
              <a:t>Search</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err="1">
                <a:ln>
                  <a:noFill/>
                </a:ln>
                <a:solidFill>
                  <a:schemeClr val="tx1"/>
                </a:solidFill>
                <a:effectLst/>
                <a:latin typeface="Arial" panose="020B0604020202020204" pitchFamily="34" charset="0"/>
              </a:rPr>
              <a:t>Randomized</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Search</a:t>
            </a:r>
            <a:r>
              <a:rPr kumimoji="0" lang="tr-TR" altLang="tr-TR" sz="1800" b="0" i="0" u="none" strike="noStrike" cap="none" normalizeH="0" baseline="0" dirty="0">
                <a:ln>
                  <a:noFill/>
                </a:ln>
                <a:solidFill>
                  <a:schemeClr val="tx1"/>
                </a:solidFill>
                <a:effectLst/>
                <a:latin typeface="Arial" panose="020B0604020202020204" pitchFamily="34" charset="0"/>
              </a:rPr>
              <a:t> gibi teknikler kullanılarak, modelin en iyi performansını sağlayan </a:t>
            </a:r>
            <a:r>
              <a:rPr kumimoji="0" lang="tr-TR" altLang="tr-TR" sz="1800" b="0" i="0" u="none" strike="noStrike" cap="none" normalizeH="0" baseline="0" dirty="0" err="1">
                <a:ln>
                  <a:noFill/>
                </a:ln>
                <a:solidFill>
                  <a:schemeClr val="tx1"/>
                </a:solidFill>
                <a:effectLst/>
                <a:latin typeface="Arial" panose="020B0604020202020204" pitchFamily="34" charset="0"/>
              </a:rPr>
              <a:t>hiperparametreler</a:t>
            </a:r>
            <a:r>
              <a:rPr kumimoji="0" lang="tr-TR" altLang="tr-TR" sz="1800" b="0" i="0" u="none" strike="noStrike" cap="none" normalizeH="0" baseline="0" dirty="0">
                <a:ln>
                  <a:noFill/>
                </a:ln>
                <a:solidFill>
                  <a:schemeClr val="tx1"/>
                </a:solidFill>
                <a:effectLst/>
                <a:latin typeface="Arial" panose="020B0604020202020204" pitchFamily="34" charset="0"/>
              </a:rPr>
              <a:t> belirlenmiştir.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Learning Rate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num_leaves</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max_depth</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subsample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colsample_bytree</a:t>
            </a:r>
            <a:r>
              <a:rPr kumimoji="0" lang="tr-TR" altLang="tr-TR" sz="1800" b="0" i="0" u="none" strike="noStrike" cap="none" normalizeH="0" baseline="0" dirty="0">
                <a:ln>
                  <a:noFill/>
                </a:ln>
                <a:solidFill>
                  <a:schemeClr val="tx1"/>
                </a:solidFill>
                <a:effectLst/>
                <a:latin typeface="Arial" panose="020B0604020202020204" pitchFamily="34" charset="0"/>
              </a:rPr>
              <a:t> gibi parametreler, modelin doğruluğunu artırmak amacıyla titizlikle optimize edilmiştir.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8" name="Picture 7" descr="A screenshot of a computer&#10;&#10;AI-generated content may be incorrect.">
            <a:extLst>
              <a:ext uri="{FF2B5EF4-FFF2-40B4-BE49-F238E27FC236}">
                <a16:creationId xmlns:a16="http://schemas.microsoft.com/office/drawing/2014/main" id="{1B928D0D-DF6C-8BFE-6433-8A7A12344D8B}"/>
              </a:ext>
            </a:extLst>
          </p:cNvPr>
          <p:cNvPicPr>
            <a:picLocks noChangeAspect="1"/>
          </p:cNvPicPr>
          <p:nvPr/>
        </p:nvPicPr>
        <p:blipFill>
          <a:blip r:embed="rId2"/>
          <a:stretch>
            <a:fillRect/>
          </a:stretch>
        </p:blipFill>
        <p:spPr>
          <a:xfrm>
            <a:off x="8306280" y="1962149"/>
            <a:ext cx="3351840" cy="4219575"/>
          </a:xfrm>
          <a:prstGeom prst="rect">
            <a:avLst/>
          </a:prstGeom>
        </p:spPr>
      </p:pic>
    </p:spTree>
    <p:extLst>
      <p:ext uri="{BB962C8B-B14F-4D97-AF65-F5344CB8AC3E}">
        <p14:creationId xmlns:p14="http://schemas.microsoft.com/office/powerpoint/2010/main" val="4084753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69A02-E9B6-46A8-09B3-85739765E6F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986288C-06D8-7FD4-81EA-8159231311BA}"/>
              </a:ext>
            </a:extLst>
          </p:cNvPr>
          <p:cNvSpPr>
            <a:spLocks noGrp="1"/>
          </p:cNvSpPr>
          <p:nvPr>
            <p:ph type="title"/>
          </p:nvPr>
        </p:nvSpPr>
        <p:spPr>
          <a:xfrm>
            <a:off x="762000" y="-572135"/>
            <a:ext cx="11068050" cy="2276856"/>
          </a:xfrm>
        </p:spPr>
        <p:txBody>
          <a:bodyPr/>
          <a:lstStyle/>
          <a:p>
            <a:pPr algn="ctr"/>
            <a:r>
              <a:rPr lang="tr-TR" dirty="0"/>
              <a:t>Çeşitli İyileştirme ve Geliştirme Adımları</a:t>
            </a:r>
          </a:p>
        </p:txBody>
      </p:sp>
      <p:sp>
        <p:nvSpPr>
          <p:cNvPr id="9" name="Slide Number Placeholder 8">
            <a:extLst>
              <a:ext uri="{FF2B5EF4-FFF2-40B4-BE49-F238E27FC236}">
                <a16:creationId xmlns:a16="http://schemas.microsoft.com/office/drawing/2014/main" id="{54A8A669-B98A-66DB-C245-D85E473FF022}"/>
              </a:ext>
            </a:extLst>
          </p:cNvPr>
          <p:cNvSpPr>
            <a:spLocks noGrp="1"/>
          </p:cNvSpPr>
          <p:nvPr>
            <p:ph type="sldNum" sz="quarter" idx="12"/>
          </p:nvPr>
        </p:nvSpPr>
        <p:spPr/>
        <p:txBody>
          <a:bodyPr/>
          <a:lstStyle/>
          <a:p>
            <a:pPr rtl="0"/>
            <a:fld id="{D8DA9DAA-006C-4F4B-980E-E3DF019B24E2}" type="slidenum">
              <a:rPr lang="tr-TR" noProof="0" smtClean="0"/>
              <a:pPr rtl="0"/>
              <a:t>16</a:t>
            </a:fld>
            <a:endParaRPr lang="tr-TR" noProof="0"/>
          </a:p>
        </p:txBody>
      </p:sp>
      <p:sp>
        <p:nvSpPr>
          <p:cNvPr id="4" name="TextBox 3">
            <a:extLst>
              <a:ext uri="{FF2B5EF4-FFF2-40B4-BE49-F238E27FC236}">
                <a16:creationId xmlns:a16="http://schemas.microsoft.com/office/drawing/2014/main" id="{9BE73618-4C11-C5B5-4FA9-41D19B43C1C1}"/>
              </a:ext>
            </a:extLst>
          </p:cNvPr>
          <p:cNvSpPr txBox="1"/>
          <p:nvPr/>
        </p:nvSpPr>
        <p:spPr>
          <a:xfrm>
            <a:off x="2276475" y="2409515"/>
            <a:ext cx="8982075"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Model İyileştirmeleri: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Daha Fazla Veri:</a:t>
            </a:r>
            <a:r>
              <a:rPr kumimoji="0" lang="tr-TR" altLang="tr-TR" sz="1800" b="0" i="0" u="none" strike="noStrike" cap="none" normalizeH="0" baseline="0" dirty="0">
                <a:ln>
                  <a:noFill/>
                </a:ln>
                <a:solidFill>
                  <a:schemeClr val="tx1"/>
                </a:solidFill>
                <a:effectLst/>
                <a:latin typeface="Arial" panose="020B0604020202020204" pitchFamily="34" charset="0"/>
              </a:rPr>
              <a:t> Modelin doğruluğunu artırmak için daha fazla </a:t>
            </a:r>
            <a:r>
              <a:rPr kumimoji="0" lang="tr-TR" altLang="tr-TR" sz="1800" b="1" i="0" u="none" strike="noStrike" cap="none" normalizeH="0" baseline="0" dirty="0">
                <a:ln>
                  <a:noFill/>
                </a:ln>
                <a:solidFill>
                  <a:schemeClr val="tx1"/>
                </a:solidFill>
                <a:effectLst/>
                <a:latin typeface="Arial" panose="020B0604020202020204" pitchFamily="34" charset="0"/>
              </a:rPr>
              <a:t>şehir verisi</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a:ln>
                  <a:noFill/>
                </a:ln>
                <a:solidFill>
                  <a:schemeClr val="tx1"/>
                </a:solidFill>
                <a:effectLst/>
                <a:latin typeface="Arial" panose="020B0604020202020204" pitchFamily="34" charset="0"/>
              </a:rPr>
              <a:t>farklı bölgelerden</a:t>
            </a:r>
            <a:r>
              <a:rPr kumimoji="0" lang="tr-TR" altLang="tr-TR" sz="1800" b="0" i="0" u="none" strike="noStrike" cap="none" normalizeH="0" baseline="0" dirty="0">
                <a:ln>
                  <a:noFill/>
                </a:ln>
                <a:solidFill>
                  <a:schemeClr val="tx1"/>
                </a:solidFill>
                <a:effectLst/>
                <a:latin typeface="Arial" panose="020B0604020202020204" pitchFamily="34" charset="0"/>
              </a:rPr>
              <a:t> emlak verileri toplanacaktır.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Hiperparametre</a:t>
            </a:r>
            <a:r>
              <a:rPr kumimoji="0" lang="tr-TR" altLang="tr-TR" sz="1800" b="1" i="0" u="none" strike="noStrike" cap="none" normalizeH="0" baseline="0" dirty="0">
                <a:ln>
                  <a:noFill/>
                </a:ln>
                <a:solidFill>
                  <a:schemeClr val="tx1"/>
                </a:solidFill>
                <a:effectLst/>
                <a:latin typeface="Arial" panose="020B0604020202020204" pitchFamily="34" charset="0"/>
              </a:rPr>
              <a:t> Optimizasyonu:</a:t>
            </a:r>
            <a:r>
              <a:rPr kumimoji="0" lang="tr-TR" altLang="tr-TR" sz="1800" b="0" i="0" u="none" strike="noStrike" cap="none" normalizeH="0" baseline="0" dirty="0">
                <a:ln>
                  <a:noFill/>
                </a:ln>
                <a:solidFill>
                  <a:schemeClr val="tx1"/>
                </a:solidFill>
                <a:effectLst/>
                <a:latin typeface="Arial" panose="020B0604020202020204" pitchFamily="34" charset="0"/>
              </a:rPr>
              <a:t> Modelin </a:t>
            </a:r>
            <a:r>
              <a:rPr kumimoji="0" lang="tr-TR" altLang="tr-TR" sz="1800" b="1" i="0" u="none" strike="noStrike" cap="none" normalizeH="0" baseline="0" dirty="0" err="1">
                <a:ln>
                  <a:noFill/>
                </a:ln>
                <a:solidFill>
                  <a:schemeClr val="tx1"/>
                </a:solidFill>
                <a:effectLst/>
                <a:latin typeface="Arial" panose="020B0604020202020204" pitchFamily="34" charset="0"/>
              </a:rPr>
              <a:t>hiperparametre</a:t>
            </a:r>
            <a:r>
              <a:rPr kumimoji="0" lang="tr-TR" altLang="tr-TR" sz="1800" b="1" i="0" u="none" strike="noStrike" cap="none" normalizeH="0" baseline="0" dirty="0">
                <a:ln>
                  <a:noFill/>
                </a:ln>
                <a:solidFill>
                  <a:schemeClr val="tx1"/>
                </a:solidFill>
                <a:effectLst/>
                <a:latin typeface="Arial" panose="020B0604020202020204" pitchFamily="34" charset="0"/>
              </a:rPr>
              <a:t> optimizasyonu</a:t>
            </a:r>
            <a:r>
              <a:rPr kumimoji="0" lang="tr-TR" altLang="tr-TR" sz="1800" b="0" i="0" u="none" strike="noStrike" cap="none" normalizeH="0" baseline="0" dirty="0">
                <a:ln>
                  <a:noFill/>
                </a:ln>
                <a:solidFill>
                  <a:schemeClr val="tx1"/>
                </a:solidFill>
                <a:effectLst/>
                <a:latin typeface="Arial" panose="020B0604020202020204" pitchFamily="34" charset="0"/>
              </a:rPr>
              <a:t> yapılacak ve </a:t>
            </a:r>
            <a:r>
              <a:rPr kumimoji="0" lang="tr-TR" altLang="tr-TR" sz="1800" b="1" i="0" u="none" strike="noStrike" cap="none" normalizeH="0" baseline="0" dirty="0">
                <a:ln>
                  <a:noFill/>
                </a:ln>
                <a:solidFill>
                  <a:schemeClr val="tx1"/>
                </a:solidFill>
                <a:effectLst/>
                <a:latin typeface="Arial" panose="020B0604020202020204" pitchFamily="34" charset="0"/>
              </a:rPr>
              <a:t>modelin daha hızlı öğrenmesini sağlamak</a:t>
            </a:r>
            <a:r>
              <a:rPr kumimoji="0" lang="tr-TR" altLang="tr-TR" sz="1800" b="0" i="0" u="none" strike="noStrike" cap="none" normalizeH="0" baseline="0" dirty="0">
                <a:ln>
                  <a:noFill/>
                </a:ln>
                <a:solidFill>
                  <a:schemeClr val="tx1"/>
                </a:solidFill>
                <a:effectLst/>
                <a:latin typeface="Arial" panose="020B0604020202020204" pitchFamily="34" charset="0"/>
              </a:rPr>
              <a:t> için algoritmalar üzerinde iyileştirmeler yapılacaktır.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Yeni Modellerin Test Edilmesi: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Derin Öğrenme Modelleri:</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Neural</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networks</a:t>
            </a:r>
            <a:r>
              <a:rPr kumimoji="0" lang="tr-TR" altLang="tr-TR" sz="1800" b="0" i="0" u="none" strike="noStrike" cap="none" normalizeH="0" baseline="0" dirty="0">
                <a:ln>
                  <a:noFill/>
                </a:ln>
                <a:solidFill>
                  <a:schemeClr val="tx1"/>
                </a:solidFill>
                <a:effectLst/>
                <a:latin typeface="Arial" panose="020B0604020202020204" pitchFamily="34" charset="0"/>
              </a:rPr>
              <a:t> gibi daha kompleks algoritmalarla modelin doğruluğu artırılacaktır.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Ensemble</a:t>
            </a:r>
            <a:r>
              <a:rPr kumimoji="0" lang="tr-TR" altLang="tr-TR" sz="1800" b="1" i="0" u="none" strike="noStrike" cap="none" normalizeH="0" baseline="0" dirty="0">
                <a:ln>
                  <a:noFill/>
                </a:ln>
                <a:solidFill>
                  <a:schemeClr val="tx1"/>
                </a:solidFill>
                <a:effectLst/>
                <a:latin typeface="Arial" panose="020B0604020202020204" pitchFamily="34" charset="0"/>
              </a:rPr>
              <a:t> Modelleri:</a:t>
            </a:r>
            <a:r>
              <a:rPr kumimoji="0" lang="tr-TR" altLang="tr-TR" sz="1800" b="0" i="0" u="none" strike="noStrike" cap="none" normalizeH="0" baseline="0" dirty="0">
                <a:ln>
                  <a:noFill/>
                </a:ln>
                <a:solidFill>
                  <a:schemeClr val="tx1"/>
                </a:solidFill>
                <a:effectLst/>
                <a:latin typeface="Arial" panose="020B0604020202020204" pitchFamily="34" charset="0"/>
              </a:rPr>
              <a:t> Farklı </a:t>
            </a:r>
            <a:r>
              <a:rPr kumimoji="0" lang="tr-TR" altLang="tr-TR" sz="1800" b="1" i="0" u="none" strike="noStrike" cap="none" normalizeH="0" baseline="0" dirty="0">
                <a:ln>
                  <a:noFill/>
                </a:ln>
                <a:solidFill>
                  <a:schemeClr val="tx1"/>
                </a:solidFill>
                <a:effectLst/>
                <a:latin typeface="Arial" panose="020B0604020202020204" pitchFamily="34" charset="0"/>
              </a:rPr>
              <a:t>makine öğrenimi algoritmalarının birleşimi</a:t>
            </a:r>
            <a:r>
              <a:rPr kumimoji="0" lang="tr-TR" altLang="tr-TR" sz="1800" b="0" i="0" u="none" strike="noStrike" cap="none" normalizeH="0" baseline="0" dirty="0">
                <a:ln>
                  <a:noFill/>
                </a:ln>
                <a:solidFill>
                  <a:schemeClr val="tx1"/>
                </a:solidFill>
                <a:effectLst/>
                <a:latin typeface="Arial" panose="020B0604020202020204" pitchFamily="34" charset="0"/>
              </a:rPr>
              <a:t> ile daha stabil ve güvenilir sonuçlar elde edilmesi sağlanacaktır.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684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20D2C-8A49-8B51-9FB6-5AFFA850E94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0F8737B-F678-66E4-FAB7-E17FE4282C2C}"/>
              </a:ext>
            </a:extLst>
          </p:cNvPr>
          <p:cNvSpPr>
            <a:spLocks noGrp="1"/>
          </p:cNvSpPr>
          <p:nvPr>
            <p:ph type="title"/>
          </p:nvPr>
        </p:nvSpPr>
        <p:spPr>
          <a:xfrm>
            <a:off x="762000" y="-572135"/>
            <a:ext cx="11068050" cy="2276856"/>
          </a:xfrm>
        </p:spPr>
        <p:txBody>
          <a:bodyPr/>
          <a:lstStyle/>
          <a:p>
            <a:pPr algn="ctr"/>
            <a:r>
              <a:rPr lang="tr-TR" dirty="0"/>
              <a:t>Sonuçlar ve Model Değerlendirmesi</a:t>
            </a:r>
          </a:p>
        </p:txBody>
      </p:sp>
      <p:sp>
        <p:nvSpPr>
          <p:cNvPr id="9" name="Slide Number Placeholder 8">
            <a:extLst>
              <a:ext uri="{FF2B5EF4-FFF2-40B4-BE49-F238E27FC236}">
                <a16:creationId xmlns:a16="http://schemas.microsoft.com/office/drawing/2014/main" id="{E3F9BC43-8BE1-DE54-D344-29737A0944C9}"/>
              </a:ext>
            </a:extLst>
          </p:cNvPr>
          <p:cNvSpPr>
            <a:spLocks noGrp="1"/>
          </p:cNvSpPr>
          <p:nvPr>
            <p:ph type="sldNum" sz="quarter" idx="12"/>
          </p:nvPr>
        </p:nvSpPr>
        <p:spPr/>
        <p:txBody>
          <a:bodyPr/>
          <a:lstStyle/>
          <a:p>
            <a:pPr rtl="0"/>
            <a:fld id="{D8DA9DAA-006C-4F4B-980E-E3DF019B24E2}" type="slidenum">
              <a:rPr lang="tr-TR" noProof="0" smtClean="0"/>
              <a:pPr rtl="0"/>
              <a:t>17</a:t>
            </a:fld>
            <a:endParaRPr lang="tr-TR" noProof="0"/>
          </a:p>
        </p:txBody>
      </p:sp>
      <p:sp>
        <p:nvSpPr>
          <p:cNvPr id="5" name="TextBox 4">
            <a:extLst>
              <a:ext uri="{FF2B5EF4-FFF2-40B4-BE49-F238E27FC236}">
                <a16:creationId xmlns:a16="http://schemas.microsoft.com/office/drawing/2014/main" id="{0C7EC36A-58C1-FC9B-2E55-8403990B095D}"/>
              </a:ext>
            </a:extLst>
          </p:cNvPr>
          <p:cNvSpPr txBox="1"/>
          <p:nvPr/>
        </p:nvSpPr>
        <p:spPr>
          <a:xfrm>
            <a:off x="2628899" y="2056686"/>
            <a:ext cx="6600825" cy="48013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Sonuçların Özetlenmesi:</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Modelin genel </a:t>
            </a:r>
            <a:r>
              <a:rPr kumimoji="0" lang="tr-TR" altLang="tr-TR" sz="1800" b="1" i="0" u="none" strike="noStrike" cap="none" normalizeH="0" baseline="0" dirty="0">
                <a:ln>
                  <a:noFill/>
                </a:ln>
                <a:solidFill>
                  <a:schemeClr val="tx1"/>
                </a:solidFill>
                <a:effectLst/>
                <a:latin typeface="Arial" panose="020B0604020202020204" pitchFamily="34" charset="0"/>
              </a:rPr>
              <a:t>doğruluk</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a:ln>
                  <a:noFill/>
                </a:ln>
                <a:solidFill>
                  <a:schemeClr val="tx1"/>
                </a:solidFill>
                <a:effectLst/>
                <a:latin typeface="Arial" panose="020B0604020202020204" pitchFamily="34" charset="0"/>
              </a:rPr>
              <a:t>başarı oranları</a:t>
            </a:r>
            <a:r>
              <a:rPr kumimoji="0" lang="tr-TR" altLang="tr-TR" sz="1800" b="0" i="0" u="none" strike="noStrike" cap="none" normalizeH="0" baseline="0" dirty="0">
                <a:ln>
                  <a:noFill/>
                </a:ln>
                <a:solidFill>
                  <a:schemeClr val="tx1"/>
                </a:solidFill>
                <a:effectLst/>
                <a:latin typeface="Arial" panose="020B0604020202020204" pitchFamily="34" charset="0"/>
              </a:rPr>
              <a:t> özetlenecek. Hem eğitim hem de test verileri üzerinden elde edilen </a:t>
            </a:r>
            <a:r>
              <a:rPr kumimoji="0" lang="tr-TR" altLang="tr-TR" sz="1800" b="1" i="0" u="none" strike="noStrike" cap="none" normalizeH="0" baseline="0" dirty="0">
                <a:ln>
                  <a:noFill/>
                </a:ln>
                <a:solidFill>
                  <a:schemeClr val="tx1"/>
                </a:solidFill>
                <a:effectLst/>
                <a:latin typeface="Arial" panose="020B0604020202020204" pitchFamily="34" charset="0"/>
              </a:rPr>
              <a:t>performans metrikleri</a:t>
            </a:r>
            <a:r>
              <a:rPr kumimoji="0" lang="tr-TR" altLang="tr-TR" sz="1800" b="0" i="0" u="none" strike="noStrike" cap="none" normalizeH="0" baseline="0" dirty="0">
                <a:ln>
                  <a:noFill/>
                </a:ln>
                <a:solidFill>
                  <a:schemeClr val="tx1"/>
                </a:solidFill>
                <a:effectLst/>
                <a:latin typeface="Arial" panose="020B0604020202020204" pitchFamily="34" charset="0"/>
              </a:rPr>
              <a:t> (RMSE, R², vb.) sunulacaktır.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Elde edilen </a:t>
            </a:r>
            <a:r>
              <a:rPr kumimoji="0" lang="tr-TR" altLang="tr-TR" sz="1800" b="1" i="0" u="none" strike="noStrike" cap="none" normalizeH="0" baseline="0" dirty="0">
                <a:ln>
                  <a:noFill/>
                </a:ln>
                <a:solidFill>
                  <a:schemeClr val="tx1"/>
                </a:solidFill>
                <a:effectLst/>
                <a:latin typeface="Arial" panose="020B0604020202020204" pitchFamily="34" charset="0"/>
              </a:rPr>
              <a:t>fırsat/pahalı normal kararları</a:t>
            </a:r>
            <a:r>
              <a:rPr kumimoji="0" lang="tr-TR" altLang="tr-TR" sz="1800" b="0" i="0" u="none" strike="noStrike" cap="none" normalizeH="0" baseline="0" dirty="0">
                <a:ln>
                  <a:noFill/>
                </a:ln>
                <a:solidFill>
                  <a:schemeClr val="tx1"/>
                </a:solidFill>
                <a:effectLst/>
                <a:latin typeface="Arial" panose="020B0604020202020204" pitchFamily="34" charset="0"/>
              </a:rPr>
              <a:t> örneklerle gösterilecek, hangi bölgelerde yatırımcıların </a:t>
            </a:r>
            <a:r>
              <a:rPr kumimoji="0" lang="tr-TR" altLang="tr-TR" sz="1800" b="1" i="0" u="none" strike="noStrike" cap="none" normalizeH="0" baseline="0" dirty="0">
                <a:ln>
                  <a:noFill/>
                </a:ln>
                <a:solidFill>
                  <a:schemeClr val="tx1"/>
                </a:solidFill>
                <a:effectLst/>
                <a:latin typeface="Arial" panose="020B0604020202020204" pitchFamily="34" charset="0"/>
              </a:rPr>
              <a:t>fırsatları daha fazla bulduğu</a:t>
            </a:r>
            <a:r>
              <a:rPr kumimoji="0" lang="tr-TR" altLang="tr-TR" sz="1800" b="0" i="0" u="none" strike="noStrike" cap="none" normalizeH="0" baseline="0" dirty="0">
                <a:ln>
                  <a:noFill/>
                </a:ln>
                <a:solidFill>
                  <a:schemeClr val="tx1"/>
                </a:solidFill>
                <a:effectLst/>
                <a:latin typeface="Arial" panose="020B0604020202020204" pitchFamily="34" charset="0"/>
              </a:rPr>
              <a:t> tartışılacaktır.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Modelin Gücü:</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Modelin </a:t>
            </a:r>
            <a:r>
              <a:rPr kumimoji="0" lang="tr-TR" altLang="tr-TR" sz="1800" b="1" i="0" u="none" strike="noStrike" cap="none" normalizeH="0" baseline="0" dirty="0">
                <a:ln>
                  <a:noFill/>
                </a:ln>
                <a:solidFill>
                  <a:schemeClr val="tx1"/>
                </a:solidFill>
                <a:effectLst/>
                <a:latin typeface="Arial" panose="020B0604020202020204" pitchFamily="34" charset="0"/>
              </a:rPr>
              <a:t>özellik seçimi</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err="1">
                <a:ln>
                  <a:noFill/>
                </a:ln>
                <a:solidFill>
                  <a:schemeClr val="tx1"/>
                </a:solidFill>
                <a:effectLst/>
                <a:latin typeface="Arial" panose="020B0604020202020204" pitchFamily="34" charset="0"/>
              </a:rPr>
              <a:t>feature</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importance</a:t>
            </a:r>
            <a:r>
              <a:rPr kumimoji="0" lang="tr-TR" altLang="tr-TR" sz="1800" b="0" i="0" u="none" strike="noStrike" cap="none" normalizeH="0" baseline="0" dirty="0">
                <a:ln>
                  <a:noFill/>
                </a:ln>
                <a:solidFill>
                  <a:schemeClr val="tx1"/>
                </a:solidFill>
                <a:effectLst/>
                <a:latin typeface="Arial" panose="020B0604020202020204" pitchFamily="34" charset="0"/>
              </a:rPr>
              <a:t> analizleri ile yatırım kararlarına nasıl etki ettiği anlatılacaktır.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Özellikle </a:t>
            </a:r>
            <a:r>
              <a:rPr kumimoji="0" lang="tr-TR" altLang="tr-TR" sz="1800" b="1" i="0" u="none" strike="noStrike" cap="none" normalizeH="0" baseline="0" dirty="0">
                <a:ln>
                  <a:noFill/>
                </a:ln>
                <a:solidFill>
                  <a:schemeClr val="tx1"/>
                </a:solidFill>
                <a:effectLst/>
                <a:latin typeface="Arial" panose="020B0604020202020204" pitchFamily="34" charset="0"/>
              </a:rPr>
              <a:t>lokasyon</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a:ln>
                  <a:noFill/>
                </a:ln>
                <a:solidFill>
                  <a:schemeClr val="tx1"/>
                </a:solidFill>
                <a:effectLst/>
                <a:latin typeface="Arial" panose="020B0604020202020204" pitchFamily="34" charset="0"/>
              </a:rPr>
              <a:t>bina yaşı</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a:ln>
                  <a:noFill/>
                </a:ln>
                <a:solidFill>
                  <a:schemeClr val="tx1"/>
                </a:solidFill>
                <a:effectLst/>
                <a:latin typeface="Arial" panose="020B0604020202020204" pitchFamily="34" charset="0"/>
              </a:rPr>
              <a:t>odaların sayısı</a:t>
            </a:r>
            <a:r>
              <a:rPr kumimoji="0" lang="tr-TR" altLang="tr-TR" sz="1800" b="0" i="0" u="none" strike="noStrike" cap="none" normalizeH="0" baseline="0" dirty="0">
                <a:ln>
                  <a:noFill/>
                </a:ln>
                <a:solidFill>
                  <a:schemeClr val="tx1"/>
                </a:solidFill>
                <a:effectLst/>
                <a:latin typeface="Arial" panose="020B0604020202020204" pitchFamily="34" charset="0"/>
              </a:rPr>
              <a:t> gibi önemli faktörlerin modeldeki </a:t>
            </a:r>
            <a:r>
              <a:rPr kumimoji="0" lang="tr-TR" altLang="tr-TR" sz="1800" b="1" i="0" u="none" strike="noStrike" cap="none" normalizeH="0" baseline="0" dirty="0">
                <a:ln>
                  <a:noFill/>
                </a:ln>
                <a:solidFill>
                  <a:schemeClr val="tx1"/>
                </a:solidFill>
                <a:effectLst/>
                <a:latin typeface="Arial" panose="020B0604020202020204" pitchFamily="34" charset="0"/>
              </a:rPr>
              <a:t>katkı düzeyleri</a:t>
            </a:r>
            <a:r>
              <a:rPr kumimoji="0" lang="tr-TR" altLang="tr-TR" sz="1800" b="0" i="0" u="none" strike="noStrike" cap="none" normalizeH="0" baseline="0" dirty="0">
                <a:ln>
                  <a:noFill/>
                </a:ln>
                <a:solidFill>
                  <a:schemeClr val="tx1"/>
                </a:solidFill>
                <a:effectLst/>
                <a:latin typeface="Arial" panose="020B0604020202020204" pitchFamily="34" charset="0"/>
              </a:rPr>
              <a:t> üzerinde durulacaktır.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Limitasyonlar ve Zayıf Yönler:</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Modelin eksiklikleri ve sınırlamaları da açıkça belirtilecektir. Örneğin, </a:t>
            </a:r>
            <a:r>
              <a:rPr kumimoji="0" lang="tr-TR" altLang="tr-TR" sz="1800" b="1" i="0" u="none" strike="noStrike" cap="none" normalizeH="0" baseline="0" dirty="0">
                <a:ln>
                  <a:noFill/>
                </a:ln>
                <a:solidFill>
                  <a:schemeClr val="tx1"/>
                </a:solidFill>
                <a:effectLst/>
                <a:latin typeface="Arial" panose="020B0604020202020204" pitchFamily="34" charset="0"/>
              </a:rPr>
              <a:t>veri setindeki</a:t>
            </a:r>
            <a:r>
              <a:rPr kumimoji="0" lang="tr-TR" altLang="tr-TR" sz="1800" b="0" i="0" u="none" strike="noStrike" cap="none" normalizeH="0" baseline="0" dirty="0">
                <a:ln>
                  <a:noFill/>
                </a:ln>
                <a:solidFill>
                  <a:schemeClr val="tx1"/>
                </a:solidFill>
                <a:effectLst/>
                <a:latin typeface="Arial" panose="020B0604020202020204" pitchFamily="34" charset="0"/>
              </a:rPr>
              <a:t> eksiklikler veya </a:t>
            </a:r>
            <a:r>
              <a:rPr kumimoji="0" lang="tr-TR" altLang="tr-TR" sz="1800" b="1" i="0" u="none" strike="noStrike" cap="none" normalizeH="0" baseline="0" dirty="0">
                <a:ln>
                  <a:noFill/>
                </a:ln>
                <a:solidFill>
                  <a:schemeClr val="tx1"/>
                </a:solidFill>
                <a:effectLst/>
                <a:latin typeface="Arial" panose="020B0604020202020204" pitchFamily="34" charset="0"/>
              </a:rPr>
              <a:t>belirli mahalleler</a:t>
            </a:r>
            <a:r>
              <a:rPr kumimoji="0" lang="tr-TR" altLang="tr-TR" sz="1800" b="0" i="0" u="none" strike="noStrike" cap="none" normalizeH="0" baseline="0" dirty="0">
                <a:ln>
                  <a:noFill/>
                </a:ln>
                <a:solidFill>
                  <a:schemeClr val="tx1"/>
                </a:solidFill>
                <a:effectLst/>
                <a:latin typeface="Arial" panose="020B0604020202020204" pitchFamily="34" charset="0"/>
              </a:rPr>
              <a:t> ve </a:t>
            </a:r>
            <a:r>
              <a:rPr kumimoji="0" lang="tr-TR" altLang="tr-TR" sz="1800" b="1" i="0" u="none" strike="noStrike" cap="none" normalizeH="0" baseline="0" dirty="0">
                <a:ln>
                  <a:noFill/>
                </a:ln>
                <a:solidFill>
                  <a:schemeClr val="tx1"/>
                </a:solidFill>
                <a:effectLst/>
                <a:latin typeface="Arial" panose="020B0604020202020204" pitchFamily="34" charset="0"/>
              </a:rPr>
              <a:t>lokasyonlar</a:t>
            </a:r>
            <a:r>
              <a:rPr kumimoji="0" lang="tr-TR" altLang="tr-TR" sz="1800" b="0" i="0" u="none" strike="noStrike" cap="none" normalizeH="0" baseline="0" dirty="0">
                <a:ln>
                  <a:noFill/>
                </a:ln>
                <a:solidFill>
                  <a:schemeClr val="tx1"/>
                </a:solidFill>
                <a:effectLst/>
                <a:latin typeface="Arial" panose="020B0604020202020204" pitchFamily="34" charset="0"/>
              </a:rPr>
              <a:t> üzerindeki hatalar.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4396588"/>
      </p:ext>
    </p:extLst>
  </p:cSld>
  <p:clrMapOvr>
    <a:masterClrMapping/>
  </p:clrMapOvr>
</p:sld>
</file>

<file path=ppt/theme/theme1.xml><?xml version="1.0" encoding="utf-8"?>
<a:theme xmlns:a="http://schemas.openxmlformats.org/drawingml/2006/main" name="GradientUnivers">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8167185_TF89338750_Win32.potx" id="{7F167A53-1BFB-47B1-B18D-80965C855A21}" vid="{3E5DCE5D-3C45-4BA8-AE8E-27C7B8135B92}"/>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BC329F5-30EE-4BF7-AA2A-B837B51416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8E00D1-8EA3-4E42-801D-0253E1EAFC21}">
  <ds:schemaRefs>
    <ds:schemaRef ds:uri="http://schemas.microsoft.com/sharepoint/v3/contenttype/forms"/>
  </ds:schemaRefs>
</ds:datastoreItem>
</file>

<file path=customXml/itemProps3.xml><?xml version="1.0" encoding="utf-8"?>
<ds:datastoreItem xmlns:ds="http://schemas.openxmlformats.org/officeDocument/2006/customXml" ds:itemID="{99919F73-B6C2-4A43-95E2-833EC48925FE}">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{5B239E20-E195-4FB8-B95F-96A0F3CCB318}TF54b766f8-63ee-43b7-9d15-113a5f30502804f2464d_win32-5d87dbb79ad6</Template>
  <TotalTime>32</TotalTime>
  <Words>2044</Words>
  <Application>Microsoft Office PowerPoint</Application>
  <PresentationFormat>Widescreen</PresentationFormat>
  <Paragraphs>177</Paragraphs>
  <Slides>17</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 Unicode MS</vt:lpstr>
      <vt:lpstr>Arial</vt:lpstr>
      <vt:lpstr>Calibri</vt:lpstr>
      <vt:lpstr>Univers</vt:lpstr>
      <vt:lpstr>GradientUnivers</vt:lpstr>
      <vt:lpstr>İstanbul Emlak  Yatırım Danışmanı (HACKATHON)</vt:lpstr>
      <vt:lpstr>Gündem</vt:lpstr>
      <vt:lpstr>Kullanıcı Arayüzü ve Canlı Demo</vt:lpstr>
      <vt:lpstr>Kurulum ve Çalıştırma</vt:lpstr>
      <vt:lpstr>Veri Ön İşleme Yöntemleri</vt:lpstr>
      <vt:lpstr>Model Mimarisi ve Algoritmalar</vt:lpstr>
      <vt:lpstr>Yatırım Karar Mantığı</vt:lpstr>
      <vt:lpstr>Model Performans Değerlendirmesi (Metrics)</vt:lpstr>
      <vt:lpstr>Canlı Demo ve Kullanıcı Arayüzü</vt:lpstr>
      <vt:lpstr>Modelin Özellik Seçimi ve Ağırlıkları (Feature Engineering)</vt:lpstr>
      <vt:lpstr>Modelin Güvenilirliği ve Reproducibility (Tekrar Üretilebilirlik) </vt:lpstr>
      <vt:lpstr>Hata Analizi ve Model Performansı</vt:lpstr>
      <vt:lpstr>Modelin Kendi Kendine Değerlendirme ve İyileştirme Süreci</vt:lpstr>
      <vt:lpstr>SHAP ve Model Açıklanabilirliği</vt:lpstr>
      <vt:lpstr>Eğitim ve Hiperparametre Optimizasyonu</vt:lpstr>
      <vt:lpstr>Çeşitli İyileştirme ve Geliştirme Adımları</vt:lpstr>
      <vt:lpstr>Sonuçlar ve Model Değerlendirmesi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erkan</dc:creator>
  <cp:lastModifiedBy>mehmet erkan</cp:lastModifiedBy>
  <cp:revision>1</cp:revision>
  <dcterms:created xsi:type="dcterms:W3CDTF">2025-12-14T07:14:59Z</dcterms:created>
  <dcterms:modified xsi:type="dcterms:W3CDTF">2025-12-14T07:47:45Z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